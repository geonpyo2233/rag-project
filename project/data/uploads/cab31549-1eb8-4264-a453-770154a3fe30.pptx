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29" r:id="rId5"/>
    <p:sldId id="330" r:id="rId6"/>
    <p:sldId id="339" r:id="rId7"/>
    <p:sldId id="275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</p:sldIdLst>
  <p:sldSz cx="9144000" cy="6858000" type="screen4x3"/>
  <p:notesSz cx="6788150" cy="9917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00"/>
    <a:srgbClr val="FFFF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-86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2052" y="-102"/>
      </p:cViewPr>
      <p:guideLst>
        <p:guide orient="horz" pos="3125"/>
        <p:guide pos="2139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3D242011-AB3F-4860-BBD0-46C50B3228CD}" type="datetimeFigureOut">
              <a:rPr lang="ko-KR" altLang="en-US" smtClean="0"/>
              <a:pPr/>
              <a:t>2011-08-09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F8021D0A-0254-4728-98E1-160BE5C95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995037A9-217D-4EBD-9590-DADA42C585E8}" type="datetimeFigureOut">
              <a:rPr lang="ko-KR" altLang="en-US" smtClean="0"/>
              <a:pPr/>
              <a:t>2011-08-09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2950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4" tIns="47721" rIns="95444" bIns="477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6" y="4710630"/>
            <a:ext cx="5430520" cy="4462702"/>
          </a:xfrm>
          <a:prstGeom prst="rect">
            <a:avLst/>
          </a:prstGeom>
        </p:spPr>
        <p:txBody>
          <a:bodyPr vert="horz" lIns="95444" tIns="47721" rIns="95444" bIns="4772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C5240C13-67AB-475F-B267-02F62F990A5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 userDrawn="1"/>
        </p:nvGrpSpPr>
        <p:grpSpPr>
          <a:xfrm>
            <a:off x="71406" y="71414"/>
            <a:ext cx="9001156" cy="3857652"/>
            <a:chOff x="71406" y="71414"/>
            <a:chExt cx="8858315" cy="3997931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71406" y="71414"/>
              <a:ext cx="5715040" cy="3500462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 userDrawn="1"/>
          </p:nvSpPr>
          <p:spPr>
            <a:xfrm>
              <a:off x="5857884" y="71414"/>
              <a:ext cx="3071834" cy="3500462"/>
            </a:xfrm>
            <a:prstGeom prst="rect">
              <a:avLst/>
            </a:prstGeom>
            <a:gradFill flip="none" rotWithShape="1">
              <a:gsLst>
                <a:gs pos="42000">
                  <a:schemeClr val="bg1">
                    <a:lumMod val="75000"/>
                    <a:tint val="66000"/>
                    <a:satMod val="160000"/>
                    <a:alpha val="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44500"/>
                    <a:satMod val="160000"/>
                  </a:schemeClr>
                </a:gs>
                <a:gs pos="61000">
                  <a:schemeClr val="bg1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 userDrawn="1"/>
          </p:nvSpPr>
          <p:spPr>
            <a:xfrm>
              <a:off x="704145" y="3625130"/>
              <a:ext cx="8225576" cy="4442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b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컴퓨터 보안과 암호</a:t>
              </a:r>
              <a:endParaRPr lang="ko-KR" altLang="en-US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6" name="직사각형 25"/>
          <p:cNvSpPr/>
          <p:nvPr userDrawn="1"/>
        </p:nvSpPr>
        <p:spPr>
          <a:xfrm>
            <a:off x="71406" y="3500438"/>
            <a:ext cx="571504" cy="4286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/>
          <p:nvPr userDrawn="1"/>
        </p:nvCxnSpPr>
        <p:spPr>
          <a:xfrm>
            <a:off x="214282" y="3714752"/>
            <a:ext cx="285752" cy="1588"/>
          </a:xfrm>
          <a:prstGeom prst="straightConnector1">
            <a:avLst/>
          </a:prstGeom>
          <a:ln w="38100">
            <a:solidFill>
              <a:schemeClr val="bg1"/>
            </a:solidFill>
            <a:headEnd w="med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0" y="6572272"/>
            <a:ext cx="9144000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457200" y="775063"/>
            <a:ext cx="4898571" cy="203780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673350" y="4737100"/>
            <a:ext cx="4494213" cy="879475"/>
          </a:xfrm>
        </p:spPr>
        <p:txBody>
          <a:bodyPr>
            <a:normAutofit/>
          </a:bodyPr>
          <a:lstStyle>
            <a:lvl1pPr algn="ctr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부제목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32" y="6500810"/>
            <a:ext cx="8572560" cy="3571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00108"/>
            <a:ext cx="8229600" cy="512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-32" y="-24"/>
            <a:ext cx="9144032" cy="78581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  <a:shade val="30000"/>
                  <a:satMod val="115000"/>
                </a:schemeClr>
              </a:gs>
              <a:gs pos="50000">
                <a:schemeClr val="accent3">
                  <a:lumMod val="50000"/>
                  <a:shade val="67500"/>
                  <a:satMod val="115000"/>
                </a:schemeClr>
              </a:gs>
              <a:gs pos="100000">
                <a:schemeClr val="accent3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572496" y="6500834"/>
            <a:ext cx="571504" cy="35716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 txBox="1">
            <a:spLocks/>
          </p:cNvSpPr>
          <p:nvPr/>
        </p:nvSpPr>
        <p:spPr>
          <a:xfrm>
            <a:off x="8572528" y="6572272"/>
            <a:ext cx="571504" cy="29368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73BE6-7C45-4BD7-97F4-BFB0B357CDB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제목 1"/>
          <p:cNvSpPr txBox="1">
            <a:spLocks/>
          </p:cNvSpPr>
          <p:nvPr userDrawn="1"/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부록 </a:t>
            </a:r>
            <a:r>
              <a:rPr lang="en-US" altLang="ko-KR" dirty="0" smtClean="0"/>
              <a:t>A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암호학과</a:t>
            </a:r>
            <a:r>
              <a:rPr lang="en-US" altLang="ko-KR" dirty="0" smtClean="0"/>
              <a:t> </a:t>
            </a:r>
            <a:r>
              <a:rPr lang="ko-KR" altLang="en-US" dirty="0" smtClean="0"/>
              <a:t>네트워크 보안 교육을 위한 프로젝트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2011</a:t>
            </a:r>
            <a:r>
              <a:rPr lang="ko-KR" altLang="en-US" dirty="0" smtClean="0"/>
              <a:t>년  </a:t>
            </a:r>
            <a:r>
              <a:rPr lang="en-US" altLang="ko-KR" dirty="0" smtClean="0"/>
              <a:t>2</a:t>
            </a:r>
            <a:r>
              <a:rPr lang="ko-KR" altLang="en-US" dirty="0" smtClean="0"/>
              <a:t>학기</a:t>
            </a:r>
            <a:endParaRPr lang="en-US" altLang="ko-KR" dirty="0" smtClean="0"/>
          </a:p>
          <a:p>
            <a:r>
              <a:rPr lang="ko-KR" altLang="en-US" dirty="0" smtClean="0"/>
              <a:t>홍길동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pPr marL="914400" lvl="1" indent="-457200">
              <a:buNone/>
            </a:pPr>
            <a:r>
              <a:rPr lang="en-US" altLang="ko-KR" dirty="0" smtClean="0"/>
              <a:t>A.1 </a:t>
            </a:r>
            <a:r>
              <a:rPr lang="en-US" altLang="ko-KR" dirty="0" smtClean="0"/>
              <a:t>Sage </a:t>
            </a:r>
            <a:r>
              <a:rPr lang="ko-KR" altLang="en-US" dirty="0" smtClean="0"/>
              <a:t>컴퓨터 대수학 </a:t>
            </a:r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A.2 </a:t>
            </a:r>
            <a:r>
              <a:rPr lang="ko-KR" altLang="en-US" dirty="0" smtClean="0"/>
              <a:t>해킹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프로젝트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A.3 </a:t>
            </a:r>
            <a:r>
              <a:rPr lang="ko-KR" altLang="en-US" dirty="0" smtClean="0"/>
              <a:t>블록 암호 프로젝트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A.4 </a:t>
            </a:r>
            <a:r>
              <a:rPr lang="ko-KR" altLang="en-US" dirty="0" smtClean="0"/>
              <a:t>실험 과제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A.5 </a:t>
            </a:r>
            <a:r>
              <a:rPr lang="ko-KR" altLang="en-US" dirty="0" smtClean="0"/>
              <a:t>연구 프로젝트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A.6 </a:t>
            </a:r>
            <a:r>
              <a:rPr lang="ko-KR" altLang="en-US" dirty="0" smtClean="0"/>
              <a:t>프로그래밍 프로젝트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A.7 </a:t>
            </a:r>
            <a:r>
              <a:rPr lang="ko-KR" altLang="en-US" dirty="0" smtClean="0"/>
              <a:t>실용적인 보안 평가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A.8 </a:t>
            </a:r>
            <a:r>
              <a:rPr lang="ko-KR" altLang="en-US" dirty="0" smtClean="0"/>
              <a:t>문서 작성 과제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A.9 </a:t>
            </a:r>
            <a:r>
              <a:rPr lang="ko-KR" altLang="en-US" dirty="0" smtClean="0"/>
              <a:t>문헌조사</a:t>
            </a:r>
            <a:r>
              <a:rPr lang="en-US" altLang="ko-KR" dirty="0" smtClean="0"/>
              <a:t>/</a:t>
            </a:r>
            <a:r>
              <a:rPr lang="ko-KR" altLang="en-US" dirty="0" smtClean="0"/>
              <a:t>리포트 과제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이 </a:t>
            </a:r>
            <a:r>
              <a:rPr lang="ko-KR" altLang="en-US" dirty="0" smtClean="0"/>
              <a:t>책에 대한 </a:t>
            </a:r>
            <a:r>
              <a:rPr lang="en-US" altLang="ko-KR" dirty="0" smtClean="0"/>
              <a:t>Instructor's Resource Center(IRC)</a:t>
            </a:r>
            <a:r>
              <a:rPr lang="ko-KR" altLang="en-US" dirty="0" smtClean="0"/>
              <a:t>에 제시된 지원 자료의 </a:t>
            </a:r>
            <a:r>
              <a:rPr lang="ko-KR" altLang="en-US" dirty="0" smtClean="0"/>
              <a:t>내용</a:t>
            </a:r>
            <a:endParaRPr lang="en-US" altLang="ko-KR" dirty="0" smtClean="0"/>
          </a:p>
          <a:p>
            <a:r>
              <a:rPr lang="en-US" altLang="ko-KR" dirty="0" smtClean="0"/>
              <a:t>http://williamstallings.com/Cryptography/Crypto5e-Instructor/</a:t>
            </a:r>
            <a:endParaRPr lang="ko-KR" altLang="en-US" dirty="0" smtClean="0"/>
          </a:p>
          <a:p>
            <a:r>
              <a:rPr lang="en-US" altLang="ko-KR" dirty="0" smtClean="0"/>
              <a:t>http://www.pearsonhighered.com/educator/academic/product/0,3110,0136097049,00.html#resources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Sage </a:t>
            </a:r>
            <a:r>
              <a:rPr lang="ko-KR" altLang="en-US" dirty="0" smtClean="0"/>
              <a:t>컴퓨터 대수학 프로젝트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r>
              <a:rPr lang="en-US" altLang="ko-KR" dirty="0" smtClean="0"/>
              <a:t>Sage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강력하고 </a:t>
            </a:r>
            <a:r>
              <a:rPr lang="ko-KR" altLang="en-US" dirty="0" smtClean="0"/>
              <a:t>유연하며 배우기 쉬운 수학 및 컴퓨터 대수학 시스템을 제공하는 오픈 소스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다중 플랫폼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프리웨어</a:t>
            </a:r>
            <a:r>
              <a:rPr lang="ko-KR" altLang="en-US" dirty="0" smtClean="0"/>
              <a:t> </a:t>
            </a:r>
            <a:r>
              <a:rPr lang="ko-KR" altLang="en-US" dirty="0" smtClean="0"/>
              <a:t>패키지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컴퓨터 대수학 시스템</a:t>
            </a:r>
            <a:r>
              <a:rPr lang="en-US" altLang="ko-KR" dirty="0" smtClean="0"/>
              <a:t>(CAS: Computer Algebra System)</a:t>
            </a:r>
            <a:r>
              <a:rPr lang="ko-KR" altLang="en-US" dirty="0" smtClean="0"/>
              <a:t>는 숫자를 이용한 계산뿐만 아니라 심볼을 이용한 계산도 수행할 수 있는 시스템</a:t>
            </a:r>
          </a:p>
          <a:p>
            <a:pPr lvl="1"/>
            <a:r>
              <a:rPr lang="en-US" altLang="ko-KR" dirty="0" smtClean="0"/>
              <a:t>Sage </a:t>
            </a:r>
            <a:r>
              <a:rPr lang="ko-KR" altLang="en-US" dirty="0" smtClean="0"/>
              <a:t>웹 사이트</a:t>
            </a:r>
            <a:r>
              <a:rPr lang="en-US" altLang="ko-KR" dirty="0" smtClean="0"/>
              <a:t>(http://www.sagemath.org)</a:t>
            </a:r>
            <a:r>
              <a:rPr lang="ko-KR" altLang="en-US" dirty="0" smtClean="0"/>
              <a:t>에는 다양한 컴퓨터에서 </a:t>
            </a:r>
            <a:r>
              <a:rPr lang="en-US" altLang="ko-KR" dirty="0" smtClean="0"/>
              <a:t>Sage</a:t>
            </a:r>
            <a:r>
              <a:rPr lang="ko-KR" altLang="en-US" dirty="0" smtClean="0"/>
              <a:t>를 설치하고 설정하며 사용하는 방법과 온라인에서 </a:t>
            </a:r>
            <a:r>
              <a:rPr lang="en-US" altLang="ko-KR" dirty="0" smtClean="0"/>
              <a:t>Sage</a:t>
            </a:r>
            <a:r>
              <a:rPr lang="ko-KR" altLang="en-US" dirty="0" smtClean="0"/>
              <a:t>를 사용하는 방법에 관한 많은 설명이 제공</a:t>
            </a:r>
          </a:p>
          <a:p>
            <a:pPr lvl="1"/>
            <a:r>
              <a:rPr lang="ko-KR" altLang="en-US" dirty="0" smtClean="0"/>
              <a:t>부록 </a:t>
            </a:r>
            <a:r>
              <a:rPr lang="en-US" altLang="ko-KR" dirty="0" smtClean="0"/>
              <a:t>B</a:t>
            </a:r>
            <a:r>
              <a:rPr lang="ko-KR" altLang="en-US" dirty="0" smtClean="0"/>
              <a:t>와 부록 </a:t>
            </a:r>
            <a:r>
              <a:rPr lang="en-US" altLang="ko-KR" dirty="0" smtClean="0"/>
              <a:t>C</a:t>
            </a:r>
            <a:r>
              <a:rPr lang="ko-KR" altLang="en-US" dirty="0" smtClean="0"/>
              <a:t>의 예제와 과제들은 마이크로소프트와 </a:t>
            </a:r>
            <a:r>
              <a:rPr lang="en-US" altLang="ko-KR" dirty="0" smtClean="0"/>
              <a:t>University of Washington</a:t>
            </a:r>
            <a:r>
              <a:rPr lang="ko-KR" altLang="en-US" dirty="0" smtClean="0"/>
              <a:t>에 제직중인 </a:t>
            </a:r>
            <a:r>
              <a:rPr lang="en-US" altLang="ko-KR" dirty="0" smtClean="0"/>
              <a:t>Dan </a:t>
            </a:r>
            <a:r>
              <a:rPr lang="en-US" altLang="ko-KR" dirty="0" err="1" smtClean="0"/>
              <a:t>Shumow</a:t>
            </a:r>
            <a:r>
              <a:rPr lang="ko-KR" altLang="en-US" dirty="0" smtClean="0"/>
              <a:t>가 </a:t>
            </a:r>
            <a:r>
              <a:rPr lang="ko-KR" altLang="en-US" dirty="0" smtClean="0"/>
              <a:t>개발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해킹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목표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몇 </a:t>
            </a:r>
            <a:r>
              <a:rPr lang="ko-KR" altLang="en-US" dirty="0" smtClean="0"/>
              <a:t>가지의 단계를 거쳐서 어떤 회사의 네트워크에 </a:t>
            </a:r>
            <a:r>
              <a:rPr lang="ko-KR" altLang="en-US" dirty="0" smtClean="0"/>
              <a:t>침입하는 것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Extreme In Security </a:t>
            </a:r>
            <a:r>
              <a:rPr lang="en-US" altLang="ko-KR" dirty="0" smtClean="0"/>
              <a:t>Corporation</a:t>
            </a:r>
            <a:endParaRPr lang="ko-KR" altLang="en-US" dirty="0" smtClean="0"/>
          </a:p>
          <a:p>
            <a:r>
              <a:rPr lang="ko-KR" altLang="en-US" dirty="0" smtClean="0"/>
              <a:t>세 가지 </a:t>
            </a:r>
            <a:r>
              <a:rPr lang="ko-KR" altLang="en-US" dirty="0" smtClean="0"/>
              <a:t>방법</a:t>
            </a:r>
            <a:endParaRPr lang="en-US" altLang="ko-KR" dirty="0" smtClean="0"/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smtClean="0"/>
              <a:t>전혀 </a:t>
            </a:r>
            <a:r>
              <a:rPr lang="ko-KR" altLang="en-US" dirty="0" smtClean="0"/>
              <a:t>도움을 받지 않음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smtClean="0"/>
              <a:t>제시된 </a:t>
            </a:r>
            <a:r>
              <a:rPr lang="ko-KR" altLang="en-US" dirty="0" smtClean="0"/>
              <a:t>힌트를 사용함</a:t>
            </a:r>
          </a:p>
          <a:p>
            <a:pPr marL="914400" lvl="1" indent="-457200">
              <a:buFont typeface="+mj-lt"/>
              <a:buAutoNum type="arabicPeriod"/>
            </a:pPr>
            <a:r>
              <a:rPr lang="ko-KR" altLang="en-US" dirty="0" smtClean="0"/>
              <a:t>정확한 </a:t>
            </a:r>
            <a:r>
              <a:rPr lang="ko-KR" altLang="en-US" dirty="0" smtClean="0"/>
              <a:t>단계별 지시를 따름</a:t>
            </a:r>
          </a:p>
          <a:p>
            <a:r>
              <a:rPr lang="en-US" altLang="ko-KR" dirty="0" smtClean="0"/>
              <a:t>IRC</a:t>
            </a:r>
            <a:r>
              <a:rPr lang="ko-KR" altLang="en-US" dirty="0" smtClean="0"/>
              <a:t>에는 이 프로젝트를 수행하기 위한 파일들이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r>
              <a:rPr lang="en-US" altLang="ko-KR" dirty="0" smtClean="0"/>
              <a:t>Dakota State University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Sreekanth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Malladi</a:t>
            </a:r>
            <a:r>
              <a:rPr lang="en-US" altLang="ko-KR" dirty="0" smtClean="0"/>
              <a:t> </a:t>
            </a:r>
            <a:r>
              <a:rPr lang="ko-KR" altLang="en-US" dirty="0" smtClean="0"/>
              <a:t>교수가 설계하고 </a:t>
            </a:r>
            <a:r>
              <a:rPr lang="ko-KR" altLang="en-US" dirty="0" smtClean="0"/>
              <a:t>구현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블록 암호 프로젝트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AES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DES </a:t>
            </a:r>
            <a:r>
              <a:rPr lang="ko-KR" altLang="en-US" dirty="0" smtClean="0"/>
              <a:t>암호 </a:t>
            </a:r>
            <a:r>
              <a:rPr lang="ko-KR" altLang="en-US" dirty="0" smtClean="0"/>
              <a:t>알고리즘의 수행을 단계별로 따라가고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한 라운드를 수작업으로 계산하며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다양한 블록 암호 모드를 </a:t>
            </a:r>
            <a:r>
              <a:rPr lang="ko-KR" altLang="en-US" dirty="0" smtClean="0"/>
              <a:t>조사</a:t>
            </a:r>
            <a:endParaRPr lang="en-US" altLang="ko-KR" dirty="0" smtClean="0"/>
          </a:p>
          <a:p>
            <a:r>
              <a:rPr lang="ko-KR" altLang="en-US" dirty="0" smtClean="0"/>
              <a:t>과제는 </a:t>
            </a:r>
            <a:r>
              <a:rPr lang="ko-KR" altLang="en-US" dirty="0" smtClean="0"/>
              <a:t>세 부분으로 구성</a:t>
            </a:r>
          </a:p>
          <a:p>
            <a:pPr lvl="1"/>
            <a:r>
              <a:rPr lang="ko-KR" altLang="en-US" dirty="0" smtClean="0"/>
              <a:t>블록 </a:t>
            </a:r>
            <a:r>
              <a:rPr lang="ko-KR" altLang="en-US" dirty="0" smtClean="0"/>
              <a:t>암호 </a:t>
            </a:r>
            <a:r>
              <a:rPr lang="ko-KR" altLang="en-US" dirty="0" smtClean="0"/>
              <a:t>내부</a:t>
            </a:r>
            <a:endParaRPr lang="ko-KR" altLang="en-US" dirty="0" smtClean="0"/>
          </a:p>
          <a:p>
            <a:pPr lvl="1"/>
            <a:r>
              <a:rPr lang="ko-KR" altLang="en-US" dirty="0" smtClean="0"/>
              <a:t>블록 </a:t>
            </a:r>
            <a:r>
              <a:rPr lang="ko-KR" altLang="en-US" dirty="0" smtClean="0"/>
              <a:t>암호 </a:t>
            </a:r>
            <a:r>
              <a:rPr lang="ko-KR" altLang="en-US" dirty="0" smtClean="0"/>
              <a:t>라운드</a:t>
            </a:r>
            <a:endParaRPr lang="ko-KR" altLang="en-US" dirty="0" smtClean="0"/>
          </a:p>
          <a:p>
            <a:pPr lvl="1"/>
            <a:r>
              <a:rPr lang="ko-KR" altLang="en-US" dirty="0" smtClean="0"/>
              <a:t>블록 </a:t>
            </a:r>
            <a:r>
              <a:rPr lang="ko-KR" altLang="en-US" dirty="0" smtClean="0"/>
              <a:t>암호 사용 </a:t>
            </a:r>
            <a:r>
              <a:rPr lang="ko-KR" altLang="en-US" dirty="0" smtClean="0"/>
              <a:t>모드</a:t>
            </a:r>
            <a:endParaRPr lang="en-US" altLang="ko-KR" dirty="0" smtClean="0"/>
          </a:p>
          <a:p>
            <a:r>
              <a:rPr lang="en-US" altLang="ko-KR" dirty="0" smtClean="0"/>
              <a:t>Australian </a:t>
            </a:r>
            <a:r>
              <a:rPr lang="en-US" altLang="ko-KR" dirty="0" smtClean="0"/>
              <a:t>Defense Force Academy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Lawrie</a:t>
            </a:r>
            <a:r>
              <a:rPr lang="en-US" altLang="ko-KR" dirty="0" smtClean="0"/>
              <a:t> Brown</a:t>
            </a:r>
            <a:r>
              <a:rPr lang="ko-KR" altLang="en-US" dirty="0" smtClean="0"/>
              <a:t>이 </a:t>
            </a:r>
            <a:r>
              <a:rPr lang="ko-KR" altLang="en-US" dirty="0" smtClean="0"/>
              <a:t>개발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실험 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r>
              <a:rPr lang="en-US" altLang="ko-KR" dirty="0" smtClean="0"/>
              <a:t>Purdue University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Sanjay </a:t>
            </a:r>
            <a:r>
              <a:rPr lang="en-US" altLang="ko-KR" dirty="0" err="1" smtClean="0"/>
              <a:t>Rao</a:t>
            </a:r>
            <a:r>
              <a:rPr lang="en-US" altLang="ko-KR" dirty="0" smtClean="0"/>
              <a:t> </a:t>
            </a:r>
            <a:r>
              <a:rPr lang="ko-KR" altLang="en-US" dirty="0" smtClean="0"/>
              <a:t>교수와 </a:t>
            </a:r>
            <a:r>
              <a:rPr lang="en-US" altLang="ko-KR" dirty="0" smtClean="0"/>
              <a:t>Ruben Torres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IRC</a:t>
            </a:r>
            <a:r>
              <a:rPr lang="ko-KR" altLang="en-US" dirty="0" smtClean="0"/>
              <a:t>에 포함된 몇 가지 실험 과제를 준비하였다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실험 과제들은 </a:t>
            </a:r>
            <a:r>
              <a:rPr lang="en-US" altLang="ko-KR" dirty="0" smtClean="0"/>
              <a:t>Linux</a:t>
            </a:r>
            <a:r>
              <a:rPr lang="ko-KR" altLang="en-US" dirty="0" smtClean="0"/>
              <a:t>에서 프로그래밍 할 수 있도록 설계된 것이지만 다른 </a:t>
            </a:r>
            <a:r>
              <a:rPr lang="en-US" altLang="ko-KR" dirty="0" smtClean="0"/>
              <a:t>Unix </a:t>
            </a:r>
            <a:r>
              <a:rPr lang="ko-KR" altLang="en-US" dirty="0" smtClean="0"/>
              <a:t>환경에서도 사용할 수 있을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실험 과제들은 암호 기능과 응용들을 구현하는 데 있어서 현실적인 경험을 제공할 </a:t>
            </a:r>
            <a:r>
              <a:rPr lang="ko-KR" altLang="en-US" dirty="0" smtClean="0"/>
              <a:t>것이다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연구 프로젝트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프로젝트는 기업 생산품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연구 활동 및 표준화 노력에 대한 인터넷 검색뿐만 아니라 문헌 조사도 포함</a:t>
            </a:r>
          </a:p>
          <a:p>
            <a:r>
              <a:rPr lang="ko-KR" altLang="en-US" dirty="0" err="1" smtClean="0"/>
              <a:t>팀별</a:t>
            </a:r>
            <a:r>
              <a:rPr lang="ko-KR" altLang="en-US" dirty="0" smtClean="0"/>
              <a:t> 혹은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개인</a:t>
            </a:r>
            <a:endParaRPr lang="ko-KR" altLang="en-US" dirty="0" smtClean="0"/>
          </a:p>
          <a:p>
            <a:r>
              <a:rPr lang="ko-KR" altLang="en-US" dirty="0" smtClean="0"/>
              <a:t>배포자료 내용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제안서의 </a:t>
            </a:r>
            <a:r>
              <a:rPr lang="ko-KR" altLang="en-US" dirty="0" smtClean="0"/>
              <a:t>포맷</a:t>
            </a:r>
          </a:p>
          <a:p>
            <a:pPr lvl="1"/>
            <a:r>
              <a:rPr lang="ko-KR" altLang="en-US" dirty="0" smtClean="0"/>
              <a:t>최종 </a:t>
            </a:r>
            <a:r>
              <a:rPr lang="ko-KR" altLang="en-US" dirty="0" smtClean="0"/>
              <a:t>보고서의 포맷</a:t>
            </a:r>
          </a:p>
          <a:p>
            <a:pPr lvl="1"/>
            <a:r>
              <a:rPr lang="ko-KR" altLang="en-US" dirty="0" smtClean="0"/>
              <a:t>중간 </a:t>
            </a:r>
            <a:r>
              <a:rPr lang="ko-KR" altLang="en-US" dirty="0" smtClean="0"/>
              <a:t>및 최종 마감시한의 스케줄</a:t>
            </a:r>
          </a:p>
          <a:p>
            <a:pPr lvl="1"/>
            <a:r>
              <a:rPr lang="ko-KR" altLang="en-US" dirty="0" smtClean="0"/>
              <a:t>가능한 </a:t>
            </a:r>
            <a:r>
              <a:rPr lang="ko-KR" altLang="en-US" dirty="0" smtClean="0"/>
              <a:t>프로젝트 주제들</a:t>
            </a:r>
          </a:p>
          <a:p>
            <a:r>
              <a:rPr lang="en-US" altLang="ko-KR" dirty="0" smtClean="0"/>
              <a:t>IRC</a:t>
            </a:r>
            <a:r>
              <a:rPr lang="ko-KR" altLang="en-US" dirty="0" smtClean="0"/>
              <a:t>는 제안서와 최종 보고서를 위한 예제 포맷과 </a:t>
            </a:r>
            <a:r>
              <a:rPr lang="en-US" altLang="ko-KR" dirty="0" smtClean="0"/>
              <a:t>15</a:t>
            </a:r>
            <a:r>
              <a:rPr lang="ko-KR" altLang="en-US" dirty="0" smtClean="0"/>
              <a:t>개의 가능한 연구 과제의 주제가 </a:t>
            </a:r>
            <a:r>
              <a:rPr lang="ko-KR" altLang="en-US" dirty="0" smtClean="0"/>
              <a:t>제시됨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프로그래밍 프로젝트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r>
              <a:rPr lang="ko-KR" altLang="en-US" dirty="0" smtClean="0"/>
              <a:t>장점</a:t>
            </a:r>
          </a:p>
          <a:p>
            <a:pPr lvl="1"/>
            <a:r>
              <a:rPr lang="en-US" altLang="ko-KR" dirty="0" smtClean="0"/>
              <a:t>1. </a:t>
            </a:r>
            <a:r>
              <a:rPr lang="ko-KR" altLang="en-US" dirty="0" smtClean="0"/>
              <a:t>강사가 상당히 넓은 범위에서 </a:t>
            </a:r>
            <a:r>
              <a:rPr lang="ko-KR" altLang="en-US" dirty="0" err="1" smtClean="0"/>
              <a:t>암호학</a:t>
            </a:r>
            <a:r>
              <a:rPr lang="ko-KR" altLang="en-US" dirty="0" smtClean="0"/>
              <a:t> 및 네트워크 보안의 개념을 골라서 과제를 지정할 수 </a:t>
            </a:r>
            <a:r>
              <a:rPr lang="ko-KR" altLang="en-US" dirty="0" smtClean="0"/>
              <a:t>있음</a:t>
            </a:r>
            <a:endParaRPr lang="ko-KR" altLang="en-US" dirty="0" smtClean="0"/>
          </a:p>
          <a:p>
            <a:pPr lvl="1"/>
            <a:r>
              <a:rPr lang="en-US" altLang="ko-KR" dirty="0" smtClean="0"/>
              <a:t>1. </a:t>
            </a:r>
            <a:r>
              <a:rPr lang="ko-KR" altLang="en-US" dirty="0" smtClean="0"/>
              <a:t>프로젝트를 어떤 컴퓨터나 어떤 언어를 이용하여서도 수행할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플랫폼과 언어에 독립적</a:t>
            </a:r>
          </a:p>
          <a:p>
            <a:pPr lvl="1"/>
            <a:r>
              <a:rPr lang="en-US" altLang="ko-KR" dirty="0" smtClean="0"/>
              <a:t>1. </a:t>
            </a:r>
            <a:r>
              <a:rPr lang="ko-KR" altLang="en-US" dirty="0" smtClean="0"/>
              <a:t>독립적 과제를 위해서는 강사가 어떤 시스템을 다운로드 하거나 설치하거나 설정할 필요가 </a:t>
            </a:r>
            <a:r>
              <a:rPr lang="ko-KR" altLang="en-US" dirty="0" smtClean="0"/>
              <a:t>없음</a:t>
            </a:r>
            <a:endParaRPr lang="en-US" altLang="ko-KR" dirty="0" smtClean="0"/>
          </a:p>
          <a:p>
            <a:r>
              <a:rPr lang="ko-KR" altLang="en-US" dirty="0" smtClean="0"/>
              <a:t>학생은 </a:t>
            </a:r>
            <a:r>
              <a:rPr lang="ko-KR" altLang="en-US" dirty="0" smtClean="0"/>
              <a:t>우선 </a:t>
            </a:r>
            <a:r>
              <a:rPr lang="ko-KR" altLang="en-US" dirty="0" smtClean="0"/>
              <a:t>제안서 </a:t>
            </a:r>
            <a:r>
              <a:rPr lang="ko-KR" altLang="en-US" dirty="0" smtClean="0"/>
              <a:t>제출</a:t>
            </a:r>
          </a:p>
          <a:p>
            <a:r>
              <a:rPr lang="en-US" altLang="ko-KR" dirty="0" smtClean="0"/>
              <a:t>IRC</a:t>
            </a:r>
            <a:r>
              <a:rPr lang="ko-KR" altLang="en-US" dirty="0" smtClean="0"/>
              <a:t>에는 </a:t>
            </a:r>
            <a:r>
              <a:rPr lang="en-US" altLang="ko-KR" dirty="0" smtClean="0"/>
              <a:t>12</a:t>
            </a:r>
            <a:r>
              <a:rPr lang="ko-KR" altLang="en-US" dirty="0" smtClean="0"/>
              <a:t>개의 가능한 프로그래밍 프로젝트가 </a:t>
            </a:r>
            <a:r>
              <a:rPr lang="ko-KR" altLang="en-US" dirty="0" smtClean="0"/>
              <a:t>제시됨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실용적인 보안 평가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r>
              <a:rPr lang="ko-KR" altLang="en-US" dirty="0" smtClean="0"/>
              <a:t>현존하는 기관단체의 인프라와 </a:t>
            </a:r>
            <a:r>
              <a:rPr lang="ko-KR" altLang="en-US" dirty="0" smtClean="0"/>
              <a:t>업무 및 그 </a:t>
            </a:r>
            <a:r>
              <a:rPr lang="ko-KR" altLang="en-US" dirty="0" smtClean="0"/>
              <a:t>보안 </a:t>
            </a:r>
            <a:r>
              <a:rPr lang="ko-KR" altLang="en-US" dirty="0" smtClean="0"/>
              <a:t>수준 </a:t>
            </a:r>
            <a:r>
              <a:rPr lang="ko-KR" altLang="en-US" dirty="0" smtClean="0"/>
              <a:t>평가</a:t>
            </a:r>
          </a:p>
          <a:p>
            <a:r>
              <a:rPr lang="ko-KR" altLang="en-US" dirty="0" smtClean="0"/>
              <a:t>절한 작은 크기 혹은 중간 크기의 단체를 선택</a:t>
            </a:r>
          </a:p>
          <a:p>
            <a:r>
              <a:rPr lang="ko-KR" altLang="en-US" dirty="0" smtClean="0"/>
              <a:t>보안 위협 평가와 조사 업무를 적절히 선택</a:t>
            </a:r>
          </a:p>
          <a:p>
            <a:r>
              <a:rPr lang="en-US" altLang="ko-KR" dirty="0" smtClean="0"/>
              <a:t>Australian </a:t>
            </a:r>
            <a:r>
              <a:rPr lang="en-US" altLang="ko-KR" dirty="0" err="1" smtClean="0"/>
              <a:t>Defence</a:t>
            </a:r>
            <a:r>
              <a:rPr lang="en-US" altLang="ko-KR" dirty="0" smtClean="0"/>
              <a:t> Force Academy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Lawrie</a:t>
            </a:r>
            <a:r>
              <a:rPr lang="en-US" altLang="ko-KR" dirty="0" smtClean="0"/>
              <a:t> Brown</a:t>
            </a:r>
            <a:r>
              <a:rPr lang="ko-KR" altLang="en-US" dirty="0" smtClean="0"/>
              <a:t>에 의해 </a:t>
            </a:r>
            <a:r>
              <a:rPr lang="ko-KR" altLang="en-US" dirty="0" smtClean="0"/>
              <a:t>개발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문서 작성 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r>
              <a:rPr lang="en-US" altLang="ko-KR" dirty="0" smtClean="0"/>
              <a:t>Writing Across the Curriculum(WAC, http://wac.colostate.edu) </a:t>
            </a:r>
            <a:r>
              <a:rPr lang="ko-KR" altLang="en-US" dirty="0" smtClean="0"/>
              <a:t>활동의 주창자들은 학습의 과정에서 문서작성 과제가 가지는 상당한 수준의 이점들을 제시</a:t>
            </a:r>
          </a:p>
          <a:p>
            <a:r>
              <a:rPr lang="en-US" altLang="ko-KR" dirty="0" smtClean="0"/>
              <a:t>IRC</a:t>
            </a:r>
            <a:r>
              <a:rPr lang="ko-KR" altLang="en-US" dirty="0" smtClean="0"/>
              <a:t>에는 장 별로 정리된 문서작성 과제가 여러 가지 </a:t>
            </a:r>
            <a:r>
              <a:rPr lang="ko-KR" altLang="en-US" dirty="0" smtClean="0"/>
              <a:t>제시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문헌조사</a:t>
            </a:r>
            <a:r>
              <a:rPr lang="en-US" altLang="ko-KR" dirty="0" smtClean="0"/>
              <a:t>/</a:t>
            </a:r>
            <a:r>
              <a:rPr lang="ko-KR" altLang="en-US" dirty="0" smtClean="0"/>
              <a:t>리포트 과제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r>
              <a:rPr lang="ko-KR" altLang="en-US" dirty="0" smtClean="0"/>
              <a:t>문헌상에 존재하는 논문들을 할당하여 읽고 분석</a:t>
            </a:r>
          </a:p>
          <a:p>
            <a:r>
              <a:rPr lang="ko-KR" altLang="en-US" dirty="0" smtClean="0"/>
              <a:t>할당된 논문에 대한 간단한 리포트를 작성</a:t>
            </a:r>
          </a:p>
          <a:p>
            <a:r>
              <a:rPr lang="en-US" altLang="ko-KR" dirty="0" smtClean="0"/>
              <a:t>IRC</a:t>
            </a:r>
            <a:r>
              <a:rPr lang="ko-KR" altLang="en-US" dirty="0" smtClean="0"/>
              <a:t>에는 장별로 한두 개 정도씩의 할당 가능한 논문들이 </a:t>
            </a:r>
            <a:r>
              <a:rPr lang="ko-KR" altLang="en-US" dirty="0" smtClean="0"/>
              <a:t>제시</a:t>
            </a:r>
            <a:endParaRPr lang="ko-KR" altLang="en-US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S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70926BE6910EE541A5C8A9203B4061CC0400C52140320FE295488DD4381964E77F84" ma:contentTypeVersion="30" ma:contentTypeDescription="Create a new document." ma:contentTypeScope="" ma:versionID="2d9820c5088bac4600ebd6353969fdf2"/>
</file>

<file path=customXml/itemProps1.xml><?xml version="1.0" encoding="utf-8"?>
<ds:datastoreItem xmlns:ds="http://schemas.openxmlformats.org/officeDocument/2006/customXml" ds:itemID="{369416FF-ACAD-418F-B5CE-95627A3848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EB264-03ED-4FEC-80E3-24FBC21862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7E2D74F-510D-4CF0-A325-EE1D62B28D4F}">
  <ds:schemaRefs>
    <ds:schemaRef ds:uri="http://schemas.microsoft.com/office/2006/metadata/contentType"/>
    <ds:schemaRef ds:uri="http://schemas.microsoft.com/office/2006/metadata/properties/metaAttribut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CSC</Template>
  <TotalTime>1391</TotalTime>
  <Words>504</Words>
  <Application>Microsoft Office PowerPoint</Application>
  <PresentationFormat>화면 슬라이드 쇼(4:3)</PresentationFormat>
  <Paragraphs>71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CSC</vt:lpstr>
      <vt:lpstr>부록 A 암호학과 네트워크 보안 교육을 위한 프로젝트</vt:lpstr>
      <vt:lpstr>목차</vt:lpstr>
      <vt:lpstr>슬라이드 3</vt:lpstr>
      <vt:lpstr>Sage 컴퓨터 대수학 프로젝트</vt:lpstr>
      <vt:lpstr>해킹 프로젝트</vt:lpstr>
      <vt:lpstr>블록 암호 프로젝트</vt:lpstr>
      <vt:lpstr>실험 과제</vt:lpstr>
      <vt:lpstr>연구 프로젝트</vt:lpstr>
      <vt:lpstr>프로그래밍 프로젝트</vt:lpstr>
      <vt:lpstr>실용적인 보안 평가</vt:lpstr>
      <vt:lpstr>문서 작성 과제</vt:lpstr>
      <vt:lpstr>문헌조사/리포트 과제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com</dc:creator>
  <cp:lastModifiedBy>kimsr</cp:lastModifiedBy>
  <cp:revision>174</cp:revision>
  <dcterms:created xsi:type="dcterms:W3CDTF">2011-03-23T07:23:15Z</dcterms:created>
  <dcterms:modified xsi:type="dcterms:W3CDTF">2011-08-09T10:15:53Z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TC300035039990</vt:lpwstr>
  </property>
</Properties>
</file>