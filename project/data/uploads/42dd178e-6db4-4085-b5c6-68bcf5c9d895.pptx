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48" r:id="rId1"/>
  </p:sldMasterIdLst>
  <p:notesMasterIdLst>
    <p:notesMasterId r:id="rId2"/>
  </p:notesMasterIdLst>
  <p:sldIdLst>
    <p:sldId id="256" r:id="rId3"/>
    <p:sldId id="257" r:id="rId4"/>
    <p:sldId id="354" r:id="rId5"/>
    <p:sldId id="264" r:id="rId6"/>
    <p:sldId id="35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349" r:id="rId17"/>
    <p:sldId id="350" r:id="rId18"/>
    <p:sldId id="351" r:id="rId19"/>
    <p:sldId id="352" r:id="rId20"/>
    <p:sldId id="353" r:id="rId21"/>
    <p:sldId id="356" r:id="rId22"/>
    <p:sldId id="357" r:id="rId23"/>
    <p:sldId id="358" r:id="rId24"/>
    <p:sldId id="359" r:id="rId25"/>
    <p:sldId id="360" r:id="rId26"/>
    <p:sldId id="361" r:id="rId27"/>
    <p:sldId id="362" r:id="rId28"/>
    <p:sldId id="363" r:id="rId29"/>
    <p:sldId id="364" r:id="rId30"/>
    <p:sldId id="365" r:id="rId3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1206"/>
    <p:restoredTop sz="89999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4"/>
        <p:guide pos="2877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presProps" Target="presProps.xml"  /><Relationship Id="rId33" Type="http://schemas.openxmlformats.org/officeDocument/2006/relationships/viewProps" Target="viewProps.xml"  /><Relationship Id="rId34" Type="http://schemas.openxmlformats.org/officeDocument/2006/relationships/theme" Target="theme/theme1.xml"  /><Relationship Id="rId35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2021-10-04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8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685799" y="2130425"/>
            <a:ext cx="7772398" cy="14700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599" y="3886200"/>
            <a:ext cx="6400799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2021-10-01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199" y="6356350"/>
            <a:ext cx="2895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2021-10-01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199" y="6356350"/>
            <a:ext cx="2895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722312" y="4406900"/>
            <a:ext cx="7772398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2" y="2906713"/>
            <a:ext cx="7772398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2021-10-01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199" y="6356350"/>
            <a:ext cx="2895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457199" y="274638"/>
            <a:ext cx="8229598" cy="11430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038599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199" y="1600200"/>
            <a:ext cx="4038599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2021-10-01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199" y="6356350"/>
            <a:ext cx="2895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457199" y="274638"/>
            <a:ext cx="8229598" cy="11430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2021-10-01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199" y="6356350"/>
            <a:ext cx="2895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457199" y="274638"/>
            <a:ext cx="8229598" cy="11430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456027" y="1643063"/>
            <a:ext cx="8229598" cy="45252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>
              <a:defRPr/>
            </a:pPr>
            <a:r>
              <a:rPr lang="ko-KR" altLang="en-US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2021-10-01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199" y="6356350"/>
            <a:ext cx="2895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457199" y="274638"/>
            <a:ext cx="8229598" cy="11430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199" y="1600200"/>
            <a:ext cx="4038599" cy="21960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648199" y="1600200"/>
            <a:ext cx="4038599" cy="21960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56027" y="3984220"/>
            <a:ext cx="4038599" cy="21960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7027" y="3984220"/>
            <a:ext cx="4038599" cy="21960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2021-10-01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199" y="6356350"/>
            <a:ext cx="2895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1792287" y="4800600"/>
            <a:ext cx="5486399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7" y="612775"/>
            <a:ext cx="5486399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ko-KR" altLang="en-US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7" y="5367338"/>
            <a:ext cx="5486399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2021-10-01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199" y="6356350"/>
            <a:ext cx="2895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2021-10-01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199" y="6356350"/>
            <a:ext cx="2895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457199" y="274638"/>
            <a:ext cx="8229598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143107" y="2214563"/>
            <a:ext cx="4857766" cy="32146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>
              <a:defRPr/>
            </a:pPr>
            <a:r>
              <a:rPr lang="ko-KR" altLang="en-US"/>
              <a:t>첫째 목차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둘째 목차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셋째 목차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넷째 목차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2021-10-01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199" y="6356350"/>
            <a:ext cx="2895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6629399" y="274638"/>
            <a:ext cx="2057399" cy="5851525"/>
          </a:xfrm>
          <a:prstGeom prst="rect">
            <a:avLst/>
          </a:prstGeo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199" y="274638"/>
            <a:ext cx="6019799" cy="5851525"/>
          </a:xfrm>
          <a:prstGeom prst="rect">
            <a:avLst/>
          </a:prstGeo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2021-10-01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199" y="6356350"/>
            <a:ext cx="2895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199" y="6356350"/>
            <a:ext cx="2133599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14" Type="http://schemas.openxmlformats.org/officeDocument/2006/relationships/image" Target="../media/image1.png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한컴오피스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/>
          <p:cNvPicPr>
            <a:picLocks noChangeAspect="1"/>
          </p:cNvPicPr>
          <p:nvPr userDrawn="1"/>
        </p:nvPicPr>
        <p:blipFill rotWithShape="1">
          <a:blip r:embed="rId14"/>
          <a:stretch>
            <a:fillRect/>
          </a:stretch>
        </p:blipFill>
        <p:spPr>
          <a:xfrm>
            <a:off x="3184" y="0"/>
            <a:ext cx="9137632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rcRect b="15440"/>
          <a:stretch>
            <a:fillRect/>
          </a:stretch>
        </p:blipFill>
        <p:spPr>
          <a:xfrm>
            <a:off x="0" y="-26189"/>
            <a:ext cx="9144000" cy="5794894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3980390" y="4941358"/>
            <a:ext cx="4455585" cy="1119928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lnSpc>
                <a:spcPct val="75000"/>
              </a:lnSpc>
              <a:defRPr/>
            </a:pPr>
            <a:r>
              <a:rPr lang="ko-KR" altLang="en-US" b="1"/>
              <a:t>숭실대학교 일반대학원</a:t>
            </a:r>
            <a:endParaRPr lang="ko-KR" altLang="en-US" b="1"/>
          </a:p>
          <a:p>
            <a:pPr algn="r">
              <a:lnSpc>
                <a:spcPct val="75000"/>
              </a:lnSpc>
              <a:defRPr/>
            </a:pPr>
            <a:endParaRPr lang="ko-KR" altLang="en-US" b="1"/>
          </a:p>
          <a:p>
            <a:pPr algn="r">
              <a:lnSpc>
                <a:spcPct val="75000"/>
              </a:lnSpc>
              <a:defRPr/>
            </a:pPr>
            <a:r>
              <a:rPr lang="en-US" altLang="ko-KR" b="1"/>
              <a:t>IT</a:t>
            </a:r>
            <a:r>
              <a:rPr lang="ko-KR" altLang="en-US" b="1"/>
              <a:t>정책경영학과 </a:t>
            </a:r>
            <a:r>
              <a:rPr lang="en-US" altLang="ko-KR" b="1"/>
              <a:t>17</a:t>
            </a:r>
            <a:r>
              <a:rPr lang="ko-KR" altLang="en-US" b="1"/>
              <a:t>기 </a:t>
            </a:r>
            <a:endParaRPr lang="ko-KR" altLang="en-US" b="1"/>
          </a:p>
          <a:p>
            <a:pPr algn="r">
              <a:lnSpc>
                <a:spcPct val="75000"/>
              </a:lnSpc>
              <a:defRPr/>
            </a:pPr>
            <a:endParaRPr lang="ko-KR" altLang="en-US" b="1"/>
          </a:p>
          <a:p>
            <a:pPr algn="r">
              <a:lnSpc>
                <a:spcPct val="75000"/>
              </a:lnSpc>
              <a:defRPr/>
            </a:pPr>
            <a:r>
              <a:rPr lang="ko-KR" altLang="en-US" b="1"/>
              <a:t>이병호</a:t>
            </a:r>
            <a:endParaRPr lang="ko-KR" altLang="en-US" b="1"/>
          </a:p>
        </p:txBody>
      </p:sp>
      <p:sp>
        <p:nvSpPr>
          <p:cNvPr id="9" name=""/>
          <p:cNvSpPr txBox="1"/>
          <p:nvPr/>
        </p:nvSpPr>
        <p:spPr>
          <a:xfrm>
            <a:off x="202138" y="339725"/>
            <a:ext cx="4455585" cy="29337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75000"/>
              </a:lnSpc>
              <a:defRPr/>
            </a:pPr>
            <a:r>
              <a:rPr lang="ko-KR" altLang="en-US" b="1"/>
              <a:t>개방형 혁신 방법론</a:t>
            </a:r>
            <a:endParaRPr lang="ko-KR" altLang="en-US" b="1"/>
          </a:p>
        </p:txBody>
      </p:sp>
      <p:sp>
        <p:nvSpPr>
          <p:cNvPr id="10" name=""/>
          <p:cNvSpPr txBox="1"/>
          <p:nvPr/>
        </p:nvSpPr>
        <p:spPr>
          <a:xfrm>
            <a:off x="718602" y="2082800"/>
            <a:ext cx="7841195" cy="48704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65000"/>
              </a:lnSpc>
              <a:defRPr/>
            </a:pPr>
            <a:r>
              <a:rPr lang="en-US" altLang="ko-KR" sz="4000" b="1">
                <a:solidFill>
                  <a:schemeClr val="lt1"/>
                </a:solidFill>
                <a:latin typeface="맑은 고딕"/>
              </a:rPr>
              <a:t>Open Innovation</a:t>
            </a:r>
            <a:r>
              <a:rPr lang="ko-KR" altLang="en-US" sz="4000" b="1">
                <a:solidFill>
                  <a:schemeClr val="lt1"/>
                </a:solidFill>
                <a:latin typeface="맑은 고딕"/>
              </a:rPr>
              <a:t> </a:t>
            </a:r>
            <a:r>
              <a:rPr lang="ko-KR" altLang="en-US" sz="3800" b="1">
                <a:solidFill>
                  <a:schemeClr val="lt1"/>
                </a:solidFill>
                <a:latin typeface="맑은 고딕"/>
              </a:rPr>
              <a:t>적용 사례 조사</a:t>
            </a:r>
            <a:endParaRPr lang="ko-KR" altLang="en-US" sz="3800" b="1">
              <a:solidFill>
                <a:schemeClr val="lt1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184" y="0"/>
            <a:ext cx="9137632" cy="6858000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6696071" y="354541"/>
            <a:ext cx="2253197" cy="386503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r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 과제구성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6" name=""/>
          <p:cNvSpPr/>
          <p:nvPr/>
        </p:nvSpPr>
        <p:spPr>
          <a:xfrm>
            <a:off x="365123" y="1218141"/>
            <a:ext cx="6153605" cy="491066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"/>
          <p:cNvSpPr txBox="1"/>
          <p:nvPr/>
        </p:nvSpPr>
        <p:spPr>
          <a:xfrm>
            <a:off x="769820" y="1919317"/>
            <a:ext cx="5503981" cy="3631853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defTabSz="914400">
              <a:lnSpc>
                <a:spcPct val="55000"/>
              </a:lnSpc>
              <a:spcBef>
                <a:spcPts val="7000"/>
              </a:spcBef>
              <a:buNone/>
              <a:defRPr/>
            </a:pPr>
            <a:r>
              <a:rPr lang="ko-KR" altLang="en-US" sz="2600" b="1">
                <a:solidFill>
                  <a:srgbClr val="000000"/>
                </a:solidFill>
              </a:rPr>
              <a:t>제 </a:t>
            </a:r>
            <a:r>
              <a:rPr lang="en-US" altLang="ko-KR" sz="2600" b="1">
                <a:solidFill>
                  <a:srgbClr val="000000"/>
                </a:solidFill>
                <a:cs typeface="맑은 고딕"/>
              </a:rPr>
              <a:t>1</a:t>
            </a:r>
            <a:r>
              <a:rPr lang="ko-KR" altLang="en-US" sz="2600" b="1">
                <a:solidFill>
                  <a:srgbClr val="000000"/>
                </a:solidFill>
              </a:rPr>
              <a:t>장  서론</a:t>
            </a:r>
            <a:endParaRPr lang="ko-KR" altLang="en-US" sz="2600" b="1">
              <a:solidFill>
                <a:srgbClr val="000000"/>
              </a:solidFill>
            </a:endParaRPr>
          </a:p>
          <a:p>
            <a:pPr defTabSz="914400">
              <a:lnSpc>
                <a:spcPct val="55000"/>
              </a:lnSpc>
              <a:spcBef>
                <a:spcPts val="7000"/>
              </a:spcBef>
              <a:buNone/>
              <a:defRPr/>
            </a:pPr>
            <a:r>
              <a:rPr lang="ko-KR" altLang="en-US" sz="2600" b="1">
                <a:solidFill>
                  <a:srgbClr val="000000"/>
                </a:solidFill>
              </a:rPr>
              <a:t>제 </a:t>
            </a:r>
            <a:r>
              <a:rPr lang="en-US" altLang="ko-KR" sz="2600" b="1">
                <a:solidFill>
                  <a:srgbClr val="000000"/>
                </a:solidFill>
                <a:cs typeface="맑은 고딕"/>
              </a:rPr>
              <a:t>2</a:t>
            </a:r>
            <a:r>
              <a:rPr lang="ko-KR" altLang="en-US" sz="2600" b="1">
                <a:solidFill>
                  <a:srgbClr val="000000"/>
                </a:solidFill>
              </a:rPr>
              <a:t>장  오픈 이노베이션 적용 사례</a:t>
            </a:r>
            <a:endParaRPr lang="ko-KR" altLang="en-US" sz="2600" b="1">
              <a:solidFill>
                <a:srgbClr val="000000"/>
              </a:solidFill>
            </a:endParaRPr>
          </a:p>
          <a:p>
            <a:pPr defTabSz="914400">
              <a:lnSpc>
                <a:spcPct val="55000"/>
              </a:lnSpc>
              <a:spcBef>
                <a:spcPts val="7000"/>
              </a:spcBef>
              <a:buNone/>
              <a:defRPr/>
            </a:pPr>
            <a:r>
              <a:rPr lang="ko-KR" altLang="en-US" sz="2600" b="1">
                <a:solidFill>
                  <a:srgbClr val="000000"/>
                </a:solidFill>
              </a:rPr>
              <a:t>제 </a:t>
            </a:r>
            <a:r>
              <a:rPr lang="en-US" altLang="ko-KR" sz="2600" b="1">
                <a:solidFill>
                  <a:srgbClr val="000000"/>
                </a:solidFill>
                <a:cs typeface="맑은 고딕"/>
              </a:rPr>
              <a:t>3</a:t>
            </a:r>
            <a:r>
              <a:rPr lang="ko-KR" altLang="en-US" sz="2600" b="1">
                <a:solidFill>
                  <a:srgbClr val="000000"/>
                </a:solidFill>
              </a:rPr>
              <a:t>장  결론</a:t>
            </a:r>
            <a:endParaRPr lang="ko-KR" altLang="en-US" sz="2600" b="1">
              <a:solidFill>
                <a:srgbClr val="000000"/>
              </a:solidFill>
            </a:endParaRPr>
          </a:p>
          <a:p>
            <a:pPr defTabSz="914400">
              <a:lnSpc>
                <a:spcPct val="55000"/>
              </a:lnSpc>
              <a:spcBef>
                <a:spcPts val="7000"/>
              </a:spcBef>
              <a:buNone/>
              <a:defRPr/>
            </a:pPr>
            <a:r>
              <a:rPr lang="ko-KR" altLang="en-US" sz="2600" b="1">
                <a:solidFill>
                  <a:srgbClr val="000000"/>
                </a:solidFill>
              </a:rPr>
              <a:t>참고문헌</a:t>
            </a:r>
            <a:endParaRPr lang="ko-KR" altLang="en-US" sz="2600" b="1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386591" y="1454754"/>
            <a:ext cx="1512662" cy="2526696"/>
          </a:xfrm>
          <a:prstGeom prst="rect">
            <a:avLst/>
          </a:prstGeom>
          <a:solidFill>
            <a:srgbClr val="f2f2f2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조사배경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"/>
          <p:cNvSpPr/>
          <p:nvPr/>
        </p:nvSpPr>
        <p:spPr>
          <a:xfrm>
            <a:off x="386591" y="4252232"/>
            <a:ext cx="1512662" cy="1726596"/>
          </a:xfrm>
          <a:prstGeom prst="rect">
            <a:avLst/>
          </a:prstGeom>
          <a:solidFill>
            <a:srgbClr val="f2f2f2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조사목적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"/>
          <p:cNvSpPr/>
          <p:nvPr/>
        </p:nvSpPr>
        <p:spPr>
          <a:xfrm>
            <a:off x="2169127" y="1454754"/>
            <a:ext cx="6558361" cy="2526696"/>
          </a:xfrm>
          <a:prstGeom prst="rect">
            <a:avLst/>
          </a:prstGeom>
          <a:solidFill>
            <a:srgbClr val="f2f2f2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vert="horz" wrap="square" lIns="91440" tIns="45720" rIns="91440" bIns="45720" anchor="ctr"/>
          <a:p>
            <a:pPr defTabSz="91440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ko-KR" altLang="en-US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-</a:t>
            </a:r>
            <a:r>
              <a:rPr lang="ko-KR" altLang="en-US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 버클리대 체스브로(Chesbrough) 교수가 </a:t>
            </a:r>
            <a:r>
              <a:rPr lang="en-US" altLang="ko-KR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2003</a:t>
            </a:r>
            <a:r>
              <a:rPr lang="ko-KR" altLang="en-US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년 제시한 개념인</a:t>
            </a:r>
            <a:endParaRPr lang="ko-KR" altLang="en-US" sz="160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  <a:p>
            <a:pPr marL="144018" defTabSz="914400">
              <a:lnSpc>
                <a:spcPct val="130000"/>
              </a:lnSpc>
              <a:spcBef>
                <a:spcPts val="500"/>
              </a:spcBef>
              <a:buNone/>
              <a:defRPr/>
            </a:pPr>
            <a:r>
              <a:rPr lang="ko-KR" altLang="en-US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오픈 </a:t>
            </a:r>
            <a:r>
              <a:rPr lang="ko-KR" altLang="en-US" sz="1600">
                <a:solidFill>
                  <a:schemeClr val="tx1"/>
                </a:solidFill>
              </a:rPr>
              <a:t>이노베이션이</a:t>
            </a:r>
            <a:r>
              <a:rPr lang="ko-KR" altLang="en-US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 주목, 외부 자원 활용의 중요성을 강조</a:t>
            </a:r>
            <a:r>
              <a:rPr lang="en-US" altLang="ko-KR" sz="1600" baseline="30000">
                <a:solidFill>
                  <a:schemeClr val="tx1"/>
                </a:solidFill>
                <a:cs typeface="맑은 고딕"/>
              </a:rPr>
              <a:t>1)</a:t>
            </a:r>
            <a:endParaRPr lang="en-US" altLang="ko-KR" sz="1600" baseline="30000">
              <a:solidFill>
                <a:schemeClr val="tx1"/>
              </a:solidFill>
              <a:cs typeface="맑은 고딕"/>
            </a:endParaRPr>
          </a:p>
          <a:p>
            <a:pPr defTabSz="914400">
              <a:lnSpc>
                <a:spcPct val="130000"/>
              </a:lnSpc>
              <a:spcBef>
                <a:spcPts val="1000"/>
              </a:spcBef>
              <a:buNone/>
              <a:defRPr/>
            </a:pPr>
            <a:r>
              <a:rPr lang="en-US" altLang="ko-KR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-</a:t>
            </a:r>
            <a:r>
              <a:rPr lang="ko-KR" altLang="en-US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 기술개발 비용 증가와 제품 사이클 축소</a:t>
            </a:r>
            <a:r>
              <a:rPr lang="en-US" altLang="ko-KR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,</a:t>
            </a:r>
            <a:r>
              <a:rPr lang="ko-KR" altLang="en-US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 인력 유동성 증가</a:t>
            </a:r>
            <a:r>
              <a:rPr lang="en-US" altLang="ko-KR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,</a:t>
            </a:r>
            <a:r>
              <a:rPr lang="ko-KR" altLang="en-US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 </a:t>
            </a:r>
            <a:endParaRPr lang="ko-KR" altLang="en-US" sz="160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  <a:p>
            <a:pPr marL="108013" defTabSz="914400">
              <a:lnSpc>
                <a:spcPct val="130000"/>
              </a:lnSpc>
              <a:spcBef>
                <a:spcPts val="500"/>
              </a:spcBef>
              <a:buNone/>
              <a:defRPr/>
            </a:pPr>
            <a:r>
              <a:rPr lang="ko-KR" altLang="en-US" sz="1600">
                <a:solidFill>
                  <a:schemeClr val="tx1"/>
                </a:solidFill>
              </a:rPr>
              <a:t>벤처캐피탈의</a:t>
            </a:r>
            <a:r>
              <a:rPr lang="ko-KR" altLang="en-US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 발달과 같이 지식 환경 변화와 산업구조가 지식</a:t>
            </a:r>
            <a:endParaRPr lang="ko-KR" altLang="en-US" sz="160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  <a:p>
            <a:pPr marL="108013" defTabSz="914400">
              <a:lnSpc>
                <a:spcPct val="130000"/>
              </a:lnSpc>
              <a:spcBef>
                <a:spcPts val="500"/>
              </a:spcBef>
              <a:buNone/>
              <a:defRPr/>
            </a:pPr>
            <a:r>
              <a:rPr lang="ko-KR" altLang="en-US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기반 고부가가치산업으로 개편되면서 오픈 이노베이션으로</a:t>
            </a:r>
            <a:endParaRPr lang="ko-KR" altLang="en-US" sz="160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  <a:p>
            <a:pPr marL="108013" defTabSz="914400">
              <a:lnSpc>
                <a:spcPct val="130000"/>
              </a:lnSpc>
              <a:spcBef>
                <a:spcPts val="500"/>
              </a:spcBef>
              <a:buNone/>
              <a:defRPr/>
            </a:pPr>
            <a:r>
              <a:rPr lang="ko-KR" altLang="en-US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기술 혁신의 패러다임이 변화</a:t>
            </a:r>
            <a:r>
              <a:rPr lang="en-US" altLang="ko-KR" sz="1600" baseline="30000">
                <a:solidFill>
                  <a:schemeClr val="tx1"/>
                </a:solidFill>
                <a:cs typeface="맑은 고딕"/>
              </a:rPr>
              <a:t>2)</a:t>
            </a:r>
            <a:r>
              <a:rPr lang="ko-KR" altLang="en-US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 </a:t>
            </a:r>
            <a:endParaRPr lang="ko-KR" altLang="en-US" sz="160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"/>
          <p:cNvSpPr/>
          <p:nvPr/>
        </p:nvSpPr>
        <p:spPr>
          <a:xfrm>
            <a:off x="2169126" y="4252231"/>
            <a:ext cx="6558361" cy="1726596"/>
          </a:xfrm>
          <a:prstGeom prst="rect">
            <a:avLst/>
          </a:prstGeom>
          <a:solidFill>
            <a:srgbClr val="f2f2f2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vert="horz" wrap="square" lIns="90011" tIns="180022" rIns="91440" bIns="0" anchor="ctr" anchorCtr="0"/>
          <a:p>
            <a:pPr defTabSz="914400">
              <a:lnSpc>
                <a:spcPct val="140000"/>
              </a:lnSpc>
              <a:spcBef>
                <a:spcPts val="0"/>
              </a:spcBef>
              <a:buNone/>
              <a:defRPr/>
            </a:pPr>
            <a:r>
              <a:rPr lang="ko-KR" altLang="en-US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-</a:t>
            </a:r>
            <a:r>
              <a:rPr lang="ko-KR" altLang="en-US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 오픈 </a:t>
            </a:r>
            <a:r>
              <a:rPr lang="ko-KR" altLang="en-US" sz="1600">
                <a:solidFill>
                  <a:schemeClr val="tx1"/>
                </a:solidFill>
              </a:rPr>
              <a:t>이노베이션 적용의 시대적 </a:t>
            </a:r>
            <a:r>
              <a:rPr lang="ko-KR" altLang="en-US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배경 확인</a:t>
            </a:r>
            <a:endParaRPr lang="ko-KR" altLang="en-US" sz="1600">
              <a:solidFill>
                <a:schemeClr val="tx1"/>
              </a:solidFill>
              <a:latin typeface="Calibri"/>
              <a:ea typeface="맑은 고딕"/>
              <a:cs typeface="맑은 고딕"/>
            </a:endParaRPr>
          </a:p>
          <a:p>
            <a:pPr defTabSz="914400">
              <a:lnSpc>
                <a:spcPct val="140000"/>
              </a:lnSpc>
              <a:spcBef>
                <a:spcPts val="1000"/>
              </a:spcBef>
              <a:buNone/>
              <a:defRPr/>
            </a:pPr>
            <a:r>
              <a:rPr lang="ko-KR" altLang="en-US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lang="en-US" altLang="ko-KR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-</a:t>
            </a:r>
            <a:r>
              <a:rPr lang="ko-KR" altLang="en-US" sz="1600">
                <a:solidFill>
                  <a:schemeClr val="tx1"/>
                </a:solidFill>
                <a:latin typeface="Calibri"/>
                <a:ea typeface="맑은 고딕"/>
                <a:cs typeface="맑은 고딕"/>
              </a:rPr>
              <a:t> 오픈 이노베</a:t>
            </a:r>
            <a:r>
              <a:rPr lang="ko-KR" altLang="en-US" sz="1600">
                <a:solidFill>
                  <a:schemeClr val="tx1"/>
                </a:solidFill>
              </a:rPr>
              <a:t>이션 적용 사례</a:t>
            </a:r>
            <a:r>
              <a:rPr lang="en-US" altLang="ko-KR" sz="1600">
                <a:solidFill>
                  <a:schemeClr val="tx1"/>
                </a:solidFill>
                <a:cs typeface="맑은 고딕"/>
              </a:rPr>
              <a:t>,</a:t>
            </a:r>
            <a:r>
              <a:rPr lang="ko-KR" altLang="en-US" sz="1600">
                <a:solidFill>
                  <a:schemeClr val="tx1"/>
                </a:solidFill>
              </a:rPr>
              <a:t> 적용 전략 정리</a:t>
            </a:r>
            <a:endParaRPr lang="ko-KR" altLang="en-US" sz="1600">
              <a:solidFill>
                <a:schemeClr val="tx1"/>
              </a:solidFill>
            </a:endParaRPr>
          </a:p>
          <a:p>
            <a:pPr defTabSz="914400">
              <a:lnSpc>
                <a:spcPct val="140000"/>
              </a:lnSpc>
              <a:spcBef>
                <a:spcPts val="1000"/>
              </a:spcBef>
              <a:buNone/>
              <a:defRPr/>
            </a:pPr>
            <a:r>
              <a:rPr lang="ko-KR" altLang="en-US" sz="1600">
                <a:solidFill>
                  <a:schemeClr val="tx1"/>
                </a:solidFill>
              </a:rPr>
              <a:t> </a:t>
            </a:r>
            <a:r>
              <a:rPr lang="en-US" altLang="ko-KR" sz="1600">
                <a:solidFill>
                  <a:schemeClr val="tx1"/>
                </a:solidFill>
                <a:cs typeface="맑은 고딕"/>
              </a:rPr>
              <a:t>-</a:t>
            </a:r>
            <a:r>
              <a:rPr lang="ko-KR" altLang="en-US" sz="1600">
                <a:solidFill>
                  <a:schemeClr val="tx1"/>
                </a:solidFill>
              </a:rPr>
              <a:t> 시사점 도출</a:t>
            </a:r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</a:t>
            </a:r>
            <a:r>
              <a:rPr xmlns:mc="http://schemas.openxmlformats.org/markup-compatibility/2006" xmlns:hp="http://schemas.haansoft.com/office/presentation/8.0" kumimoji="0" lang="en-US" altLang="ko-KR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장  서  론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103790" y="6449093"/>
            <a:ext cx="6441002" cy="40700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1) 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Henry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W. 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Chesbrough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오픈 이노베이션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혁신을 추구하는 기업의 선택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)”,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에딧더월드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2021.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2) 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박송이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개방형 혁신과 </a:t>
            </a:r>
            <a:r>
              <a:rPr lang="ko-KR" altLang="en-US" sz="1000">
                <a:solidFill>
                  <a:srgbClr val="000000"/>
                </a:solidFill>
                <a:effectLst/>
                <a:latin typeface="맑은 고딕"/>
              </a:rPr>
              <a:t>기업성과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국내 방위산업체를 중심으로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)”,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성균관대학교 대학원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2014.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  <p:cxnSp>
        <p:nvCxnSpPr>
          <p:cNvPr id="12" name=""/>
          <p:cNvCxnSpPr/>
          <p:nvPr/>
        </p:nvCxnSpPr>
        <p:spPr>
          <a:xfrm>
            <a:off x="3151906" y="6401468"/>
            <a:ext cx="5820511" cy="0"/>
          </a:xfrm>
          <a:prstGeom prst="line">
            <a:avLst/>
          </a:prstGeom>
          <a:noFill/>
          <a:ln w="12700" cap="flat" cmpd="sng" algn="ctr">
            <a:solidFill>
              <a:srgbClr val="808080">
                <a:alpha val="100000"/>
              </a:srgbClr>
            </a:solidFill>
            <a:prstDash val="soli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221643" y="1297358"/>
            <a:ext cx="8922357" cy="455861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시대적 배경</a:t>
            </a:r>
            <a:r>
              <a:rPr lang="en-US" altLang="ko-KR" sz="1800" baseline="30000">
                <a:solidFill>
                  <a:srgbClr val="3057b9"/>
                </a:solidFill>
                <a:latin typeface="HY헤드라인M"/>
                <a:ea typeface="HY헤드라인M"/>
              </a:rPr>
              <a:t>3)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인터넷 발전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융합 현상 보편화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→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단일 기업의 기술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능력으로 최근 빠른 사업 환경 변화를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10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                                        따라잡기 힘든 </a:t>
            </a:r>
            <a:r>
              <a:rPr lang="ko-KR" altLang="en-US" sz="1600" b="1">
                <a:solidFill>
                  <a:srgbClr val="000000"/>
                </a:solidFill>
                <a:latin typeface="맑은 고딕"/>
              </a:rPr>
              <a:t>상황</a:t>
            </a:r>
            <a:endParaRPr lang="en-US" altLang="ko-KR" sz="1600" b="1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2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소비자 요구 변화는 지속적으로 가속 </a:t>
            </a:r>
            <a:endPara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756094" defTabSz="914400">
              <a:lnSpc>
                <a:spcPct val="85000"/>
              </a:lnSpc>
              <a:spcBef>
                <a:spcPts val="10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→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이에 대응하기 위해 필요한 기술들은 갈수록 다양화 복잡화의 양상이 강화되는 추세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2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이에 따라 기업에 필요한 아이디어나 기술 등을 외부에서 조달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756094" defTabSz="914400">
              <a:lnSpc>
                <a:spcPct val="85000"/>
              </a:lnSpc>
              <a:spcBef>
                <a:spcPts val="10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→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내부의 것도 외부와 공유하면서 새로운 서비스나 제품을 개발하려는 움직임 활성화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2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벤처 및 중소기업, 연구소, 대학 등 기술개발의 원천 다양화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10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→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활용할 수 있는 잠재적 기술의 확대도 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오픈 이노베이션을 위한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주요한 조건으로 작용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2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인터넷기술의 발전, 벤처캐피탈 시장의 형성, 지적 재산권 거래에 대한 많은 관심 등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756094" defTabSz="914400">
              <a:lnSpc>
                <a:spcPct val="85000"/>
              </a:lnSpc>
              <a:spcBef>
                <a:spcPts val="10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→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외부 기술 공급자들과의 협력 기회 확대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</a:t>
            </a:r>
            <a:r>
              <a:rPr xmlns:mc="http://schemas.openxmlformats.org/markup-compatibility/2006" xmlns:hp="http://schemas.haansoft.com/office/presentation/8.0" kumimoji="0" lang="en-US" altLang="ko-KR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장  서  론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3103790" y="6449093"/>
            <a:ext cx="6441002" cy="21650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3) “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오픈 이노베이션의 개념과 성공사례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IT 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R&amp;D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정책 동향 전문가 좌담회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정보통신기획평가원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2011.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  <p:cxnSp>
        <p:nvCxnSpPr>
          <p:cNvPr id="14" name=""/>
          <p:cNvCxnSpPr/>
          <p:nvPr/>
        </p:nvCxnSpPr>
        <p:spPr>
          <a:xfrm>
            <a:off x="3151906" y="6401468"/>
            <a:ext cx="5820511" cy="0"/>
          </a:xfrm>
          <a:prstGeom prst="line">
            <a:avLst/>
          </a:prstGeom>
          <a:noFill/>
          <a:ln w="12700" cap="flat" cmpd="sng" algn="ctr">
            <a:solidFill>
              <a:srgbClr val="808080">
                <a:alpha val="100000"/>
              </a:srgbClr>
            </a:solidFill>
            <a:prstDash val="soli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221643" y="1297358"/>
            <a:ext cx="8922357" cy="370136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시대적 배경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‘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IT 산업의 경우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’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상품주기 감소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선발자 이익이 크게 증가 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504063" defTabSz="914400">
              <a:lnSpc>
                <a:spcPct val="85000"/>
              </a:lnSpc>
              <a:spcBef>
                <a:spcPts val="10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→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lang="ko-KR" altLang="en-US" sz="1600" b="1">
                <a:solidFill>
                  <a:srgbClr val="000000"/>
                </a:solidFill>
                <a:latin typeface="맑은 고딕"/>
              </a:rPr>
              <a:t>많은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글로벌 기업은 빠른 기술흡수를 추진</a:t>
            </a:r>
            <a:endPara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2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인수합병, 공동 R&amp;D, 전략적 제휴 등 한쪽 방향으로 만 역량이 이동하였던 기존의 방식 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756094" defTabSz="914400">
              <a:lnSpc>
                <a:spcPct val="85000"/>
              </a:lnSpc>
              <a:spcBef>
                <a:spcPts val="10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→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‘오픈이노베이션’이 하나의 거대한 트렌드를 형성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2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인수합병은 자금력이 풍부한 대규모 기업에서 가능한 전략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756094" defTabSz="914400">
              <a:lnSpc>
                <a:spcPct val="85000"/>
              </a:lnSpc>
              <a:spcBef>
                <a:spcPts val="10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→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IT환경에서 다양한 주체에 적절한 기술을 적절한 시기에 공급하는 보편적 체계 요구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2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공동 R&amp;D 역시 단순 외부 기술흡수 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→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기술관련 자원 외에 상업화를 위한 자원을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756094" defTabSz="914400">
              <a:lnSpc>
                <a:spcPct val="85000"/>
              </a:lnSpc>
              <a:spcBef>
                <a:spcPts val="10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포함한 내·외부 자원을 활용하여 수익성을 추구하는 확장된 개념으로 진화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</a:t>
            </a:r>
            <a:r>
              <a:rPr xmlns:mc="http://schemas.openxmlformats.org/markup-compatibility/2006" xmlns:hp="http://schemas.haansoft.com/office/presentation/8.0" kumimoji="0" lang="en-US" altLang="ko-KR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장  서  론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62"/>
            <a:ext cx="8731858" cy="2644083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글로벌 대기업과 스타트업의 오픈 이노베이션</a:t>
            </a:r>
            <a:r>
              <a:rPr lang="en-US" altLang="ko-KR" baseline="30000">
                <a:solidFill>
                  <a:srgbClr val="3057b9"/>
                </a:solidFill>
                <a:latin typeface="HY헤드라인M"/>
                <a:ea typeface="HY헤드라인M"/>
              </a:rPr>
              <a:t>4)</a:t>
            </a:r>
            <a:endPara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1) 추진 비율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  <a:cs typeface="Arial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Forbes Global 500사</a:t>
            </a:r>
            <a:r>
              <a:rPr lang="en-US" altLang="ko-KR" sz="1600" b="1" baseline="30000">
                <a:solidFill>
                  <a:srgbClr val="000000"/>
                </a:solidFill>
                <a:latin typeface="맑은 고딕"/>
              </a:rPr>
              <a:t>5</a:t>
            </a:r>
            <a:r>
              <a:rPr lang="ko-KR" altLang="en-US" sz="1600" b="1" baseline="30000">
                <a:solidFill>
                  <a:srgbClr val="000000"/>
                </a:solidFill>
                <a:latin typeface="맑은 고딕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의 52.4%(262개)가 스타트업과 다양한 형태로 연계활동 중</a:t>
            </a:r>
            <a:r>
              <a:rPr lang="en-US" altLang="ko-KR" sz="1600" b="1" baseline="30000">
                <a:solidFill>
                  <a:srgbClr val="000000"/>
                </a:solidFill>
                <a:latin typeface="맑은 고딕"/>
              </a:rPr>
              <a:t>6</a:t>
            </a:r>
            <a:r>
              <a:rPr lang="ko-KR" altLang="en-US" sz="1600" b="1" baseline="30000">
                <a:solidFill>
                  <a:srgbClr val="000000"/>
                </a:solidFill>
                <a:latin typeface="맑은 고딕"/>
              </a:rPr>
              <a:t>)</a:t>
            </a:r>
            <a:endParaRPr lang="ko-KR" altLang="en-US" sz="1600" b="1" baseline="30000">
              <a:solidFill>
                <a:srgbClr val="000000"/>
              </a:solidFill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글로벌 기업 순위와 </a:t>
            </a:r>
            <a:r>
              <a:rPr lang="ko-KR" altLang="en-US" sz="1600">
                <a:solidFill>
                  <a:srgbClr val="000000"/>
                </a:solidFill>
                <a:effectLst/>
                <a:latin typeface="맑은 고딕"/>
              </a:rPr>
              <a:t>스타트업과의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연계에 강한 상관성이 존재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  <a:solidFill>
                  <a:srgbClr val="000000"/>
                </a:solidFill>
                <a:latin typeface="바탕"/>
                <a:ea typeface="바탕"/>
              </a:rPr>
              <a:t>         </a:t>
            </a:r>
            <a:endPara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<a:solidFill>
                <a:srgbClr val="000000"/>
              </a:solidFill>
              <a:latin typeface="바탕"/>
              <a:ea typeface="바탕"/>
            </a:endParaRPr>
          </a:p>
          <a:p>
            <a:pPr defTabSz="914400">
              <a:lnSpc>
                <a:spcPct val="65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  <a:solidFill>
                  <a:srgbClr val="000000"/>
                </a:solidFill>
                <a:latin typeface="바탕"/>
                <a:ea typeface="바탕"/>
              </a:rPr>
              <a:t>                * 포브스 500의 상위 100사 </a:t>
            </a:r>
            <a:r>
              <a:rPr lang="ko-KR" altLang="en-US" sz="1400">
                <a:solidFill>
                  <a:srgbClr val="000000"/>
                </a:solidFill>
                <a:effectLst/>
                <a:latin typeface="바탕"/>
                <a:ea typeface="바탕"/>
              </a:rPr>
              <a:t>연계</a:t>
            </a:r>
            <a:r>
              <a: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  <a:solidFill>
                  <a:srgbClr val="000000"/>
                </a:solidFill>
                <a:latin typeface="바탕"/>
                <a:ea typeface="바탕"/>
              </a:rPr>
              <a:t> 비율(68%)은 하위 100사 연계 비율(32%)의 2배</a:t>
            </a:r>
            <a:endPara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<a:solidFill>
                <a:srgbClr val="000000"/>
              </a:solidFill>
              <a:latin typeface="바탕"/>
              <a:ea typeface="바탕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업종별로는 의약품, 전기통신서비스, 지방은행, 대형은행, 보험 순으로 스타트업과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활발하게 연계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graphicFrame>
        <p:nvGraphicFramePr>
          <p:cNvPr id="14" name=""/>
          <p:cNvGraphicFramePr>
            <a:graphicFrameLocks noGrp="1"/>
          </p:cNvGraphicFramePr>
          <p:nvPr/>
        </p:nvGraphicFramePr>
        <p:xfrm>
          <a:off x="1162050" y="4074795"/>
          <a:ext cx="3048000" cy="174879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524000"/>
                <a:gridCol w="1524000"/>
              </a:tblGrid>
              <a:tr h="29146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기업 순위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연계율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</a:tr>
              <a:tr h="29146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latin typeface="맑은 고딕"/>
                        </a:rPr>
                        <a:t>001</a:t>
                      </a:r>
                      <a:r>
                        <a:rPr lang="ko-KR" altLang="en-US" sz="1300">
                          <a:latin typeface="맑은 고딕"/>
                        </a:rPr>
                        <a:t>∼</a:t>
                      </a:r>
                      <a:r>
                        <a:rPr lang="en-US" altLang="ko-KR" sz="1300">
                          <a:latin typeface="맑은 고딕"/>
                        </a:rPr>
                        <a:t>100</a:t>
                      </a:r>
                      <a:endParaRPr lang="en-US" altLang="ko-KR" sz="1300">
                        <a:latin typeface="맑은 고딕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latin typeface="맑은 고딕"/>
                        </a:rPr>
                        <a:t>68%</a:t>
                      </a:r>
                      <a:endParaRPr lang="en-US" altLang="ko-KR" sz="1300"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9146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101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∼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맑은 고딕"/>
                        </a:rPr>
                        <a:t>2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00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57%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9146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201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∼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맑은 고딕"/>
                        </a:rPr>
                        <a:t>3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00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56%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9146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301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∼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맑은 고딕"/>
                        </a:rPr>
                        <a:t>4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00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49%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9146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401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∼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맑은 고딕"/>
                        </a:rPr>
                        <a:t>5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00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32%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"/>
          <p:cNvGraphicFramePr>
            <a:graphicFrameLocks noGrp="1"/>
          </p:cNvGraphicFramePr>
          <p:nvPr/>
        </p:nvGraphicFramePr>
        <p:xfrm>
          <a:off x="5040085" y="4074795"/>
          <a:ext cx="3048000" cy="174879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524000"/>
                <a:gridCol w="1524000"/>
              </a:tblGrid>
              <a:tr h="29146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업종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연계율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</a:tr>
              <a:tr h="29146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latin typeface="맑은 고딕"/>
                        </a:rPr>
                        <a:t>의약품</a:t>
                      </a:r>
                      <a:endParaRPr lang="ko-KR" altLang="en-US" sz="1300">
                        <a:latin typeface="맑은 고딕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latin typeface="맑은 고딕"/>
                        </a:rPr>
                        <a:t>94.1%</a:t>
                      </a:r>
                      <a:endParaRPr lang="en-US" altLang="ko-KR" sz="1300"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9146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Calibri"/>
                        </a:rPr>
                        <a:t>전기통신 서비스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Calibri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85.2%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9146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Calibri"/>
                        </a:rPr>
                        <a:t>지방은행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Calibri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68.8%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9146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Calibri"/>
                        </a:rPr>
                        <a:t>대형은행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Calibri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64.5%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9146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Calibri"/>
                        </a:rPr>
                        <a:t>보험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Calibri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58.8%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"/>
          <p:cNvSpPr txBox="1"/>
          <p:nvPr/>
        </p:nvSpPr>
        <p:spPr>
          <a:xfrm>
            <a:off x="1106261" y="5929992"/>
            <a:ext cx="3189514" cy="259353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85000"/>
              </a:lnSpc>
              <a:buClr>
                <a:srgbClr val="000000"/>
              </a:buClr>
              <a:buNone/>
              <a:defRPr/>
            </a:pPr>
            <a:r>
              <a:rPr lang="ko-KR" altLang="en-US" sz="1300">
                <a:solidFill>
                  <a:srgbClr val="000000"/>
                </a:solidFill>
                <a:effectLst/>
                <a:latin typeface="맑은 고딕"/>
              </a:rPr>
              <a:t>&lt; 표 </a:t>
            </a:r>
            <a:r>
              <a:rPr lang="en-US" altLang="ko-KR" sz="1300">
                <a:solidFill>
                  <a:srgbClr val="000000"/>
                </a:solidFill>
                <a:effectLst/>
                <a:latin typeface="맑은 고딕"/>
              </a:rPr>
              <a:t>1</a:t>
            </a:r>
            <a:r>
              <a:rPr lang="ko-KR" altLang="en-US" sz="1300">
                <a:solidFill>
                  <a:srgbClr val="000000"/>
                </a:solidFill>
                <a:effectLst/>
                <a:latin typeface="맑은 고딕"/>
              </a:rPr>
              <a:t> &gt; 기업순위별 스타트업 연계율</a:t>
            </a:r>
            <a:endParaRPr lang="ko-KR" altLang="en-US" sz="1300">
              <a:solidFill>
                <a:srgbClr val="000000"/>
              </a:solidFill>
              <a:effectLst/>
              <a:latin typeface="맑은 고딕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4978621" y="5929992"/>
            <a:ext cx="3167590" cy="259353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85000"/>
              </a:lnSpc>
              <a:buClr>
                <a:srgbClr val="000000"/>
              </a:buClr>
              <a:buNone/>
              <a:defRPr/>
            </a:pPr>
            <a:r>
              <a:rPr lang="ko-KR" altLang="en-US" sz="1300">
                <a:solidFill>
                  <a:srgbClr val="000000"/>
                </a:solidFill>
                <a:effectLst/>
                <a:latin typeface="맑은 고딕"/>
              </a:rPr>
              <a:t>&lt; 표 </a:t>
            </a:r>
            <a:r>
              <a:rPr lang="en-US" altLang="ko-KR" sz="1300">
                <a:solidFill>
                  <a:srgbClr val="000000"/>
                </a:solidFill>
                <a:effectLst/>
                <a:latin typeface="맑은 고딕"/>
              </a:rPr>
              <a:t>2</a:t>
            </a:r>
            <a:r>
              <a:rPr lang="ko-KR" altLang="en-US" sz="1300">
                <a:solidFill>
                  <a:srgbClr val="000000"/>
                </a:solidFill>
                <a:effectLst/>
                <a:latin typeface="맑은 고딕"/>
              </a:rPr>
              <a:t> &gt; 업종별 스타트업 연계율</a:t>
            </a:r>
            <a:endParaRPr lang="ko-KR" altLang="en-US" sz="1300">
              <a:solidFill>
                <a:srgbClr val="000000"/>
              </a:solidFill>
              <a:effectLst/>
              <a:latin typeface="맑은 고딕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103790" y="6420518"/>
            <a:ext cx="6441002" cy="473677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85000"/>
              </a:lnSpc>
              <a:buClr>
                <a:srgbClr val="000000"/>
              </a:buClr>
              <a:buNone/>
              <a:defRPr/>
            </a:pPr>
            <a:r>
              <a:rPr lang="en-US" altLang="ko-KR" sz="1000">
                <a:solidFill>
                  <a:srgbClr val="000000"/>
                </a:solidFill>
                <a:effectLst/>
                <a:latin typeface="맑은 고딕"/>
              </a:rPr>
              <a:t>4) “</a:t>
            </a:r>
            <a:r>
              <a:rPr lang="ko-KR" altLang="en-US" sz="1000">
                <a:solidFill>
                  <a:srgbClr val="000000"/>
                </a:solidFill>
                <a:effectLst/>
                <a:latin typeface="맑은 고딕"/>
              </a:rPr>
              <a:t>글로벌 대기업과 스타트업의 오픈 이노베이션 현황 및 시사점</a:t>
            </a:r>
            <a:r>
              <a:rPr lang="en-US" altLang="ko-KR" sz="1000">
                <a:solidFill>
                  <a:srgbClr val="000000"/>
                </a:solidFill>
                <a:effectLst/>
                <a:latin typeface="맑은 고딕"/>
              </a:rPr>
              <a:t>”,</a:t>
            </a:r>
            <a:r>
              <a:rPr lang="ko-KR" altLang="en-US" sz="1000">
                <a:solidFill>
                  <a:srgbClr val="000000"/>
                </a:solidFill>
                <a:effectLst/>
                <a:latin typeface="맑은 고딕"/>
              </a:rPr>
              <a:t> 한국무역협회 국제무역연구원</a:t>
            </a:r>
            <a:r>
              <a:rPr lang="en-US" altLang="ko-KR" sz="1000">
                <a:solidFill>
                  <a:srgbClr val="000000"/>
                </a:solidFill>
                <a:effectLst/>
                <a:latin typeface="맑은 고딕"/>
              </a:rPr>
              <a:t>,</a:t>
            </a:r>
            <a:r>
              <a:rPr lang="ko-KR" altLang="en-US" sz="100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lang="en-US" altLang="ko-KR" sz="1000">
                <a:solidFill>
                  <a:srgbClr val="000000"/>
                </a:solidFill>
                <a:effectLst/>
                <a:latin typeface="맑은 고딕"/>
              </a:rPr>
              <a:t>2019.</a:t>
            </a:r>
            <a:endParaRPr lang="en-US" altLang="ko-KR" sz="1000">
              <a:solidFill>
                <a:srgbClr val="000000"/>
              </a:solidFill>
              <a:effectLst/>
              <a:latin typeface="맑은 고딕"/>
            </a:endParaRPr>
          </a:p>
          <a:p>
            <a:pPr>
              <a:lnSpc>
                <a:spcPct val="85000"/>
              </a:lnSpc>
              <a:buClr>
                <a:srgbClr val="000000"/>
              </a:buClr>
              <a:buNone/>
              <a:defRPr/>
            </a:pPr>
            <a:r>
              <a:rPr lang="en-US" altLang="ko-KR" sz="1000">
                <a:solidFill>
                  <a:srgbClr val="000000"/>
                </a:solidFill>
                <a:effectLst/>
                <a:latin typeface="맑은 고딕"/>
              </a:rPr>
              <a:t>5) Forbes Global 2000 랭킹의 세계 상장 대기업 500사</a:t>
            </a:r>
            <a:endParaRPr lang="en-US" altLang="ko-KR" sz="1000">
              <a:solidFill>
                <a:srgbClr val="000000"/>
              </a:solidFill>
              <a:effectLst/>
              <a:latin typeface="맑은 고딕"/>
            </a:endParaRPr>
          </a:p>
          <a:p>
            <a:pPr>
              <a:lnSpc>
                <a:spcPct val="85000"/>
              </a:lnSpc>
              <a:buClr>
                <a:srgbClr val="000000"/>
              </a:buClr>
              <a:buNone/>
              <a:defRPr/>
            </a:pPr>
            <a:r>
              <a:rPr lang="en-US" altLang="ko-KR" sz="1000">
                <a:solidFill>
                  <a:srgbClr val="000000"/>
                </a:solidFill>
                <a:effectLst/>
                <a:latin typeface="맑은 고딕"/>
              </a:rPr>
              <a:t>6) “500 startups, How do the World's Biggest Companies`Deal with the Startup Revolution?”, 2016.</a:t>
            </a:r>
            <a:endParaRPr lang="en-US" altLang="ko-KR" sz="1000">
              <a:solidFill>
                <a:srgbClr val="000000"/>
              </a:solidFill>
              <a:effectLst/>
              <a:latin typeface="맑은 고딕"/>
            </a:endParaRPr>
          </a:p>
        </p:txBody>
      </p:sp>
      <p:cxnSp>
        <p:nvCxnSpPr>
          <p:cNvPr id="19" name=""/>
          <p:cNvCxnSpPr/>
          <p:nvPr/>
        </p:nvCxnSpPr>
        <p:spPr>
          <a:xfrm>
            <a:off x="3151906" y="6401468"/>
            <a:ext cx="5820511" cy="0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62"/>
            <a:ext cx="8922357" cy="2358333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글로벌 대기업과 스타트업의 오픈 이노베이션</a:t>
            </a:r>
            <a:endPara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1) 추진 비율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  <a:cs typeface="Arial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대기업이 스타트업과 연계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시 CVC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(Corporate Venture Capital)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활용이 62.6%로 가장 많음</a:t>
            </a:r>
            <a:r>
              <a:rPr lang="en-US" altLang="ko-KR" sz="1600" b="1" baseline="30000">
                <a:solidFill>
                  <a:srgbClr val="000000"/>
                </a:solidFill>
                <a:latin typeface="맑은 고딕"/>
              </a:rPr>
              <a:t>6)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  <a:solidFill>
                  <a:srgbClr val="000000"/>
                </a:solidFill>
                <a:latin typeface="바탕"/>
                <a:ea typeface="바탕"/>
              </a:rPr>
              <a:t>             * CVC는 주로 대기업이 투자 주체로 나서는 벤처캐피털 방식. 주된 업무는 인접한 산업분야 또는</a:t>
            </a:r>
            <a:endPara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<a:solidFill>
                <a:srgbClr val="000000"/>
              </a:solidFill>
              <a:latin typeface="바탕"/>
              <a:ea typeface="바탕"/>
            </a:endParaRPr>
          </a:p>
          <a:p>
            <a:pPr defTabSz="914400">
              <a:lnSpc>
                <a:spcPct val="165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  <a:solidFill>
                  <a:srgbClr val="000000"/>
                </a:solidFill>
                <a:latin typeface="바탕"/>
                <a:ea typeface="바탕"/>
              </a:rPr>
              <a:t>               신기술 관련 스타트업에 대한 투자와 인수·합병(M&amp;A)임</a:t>
            </a:r>
            <a:endPara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<a:solidFill>
                <a:srgbClr val="000000"/>
              </a:solidFill>
              <a:latin typeface="바탕"/>
              <a:ea typeface="바탕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Fortune 100대 기업 중 41개사가 CVC 조직을 운영 중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19" name=""/>
          <p:cNvPicPr>
            <a:picLocks noChangeAspect="1"/>
          </p:cNvPicPr>
          <p:nvPr/>
        </p:nvPicPr>
        <p:blipFill rotWithShape="1">
          <a:blip r:embed="rId2"/>
          <a:srcRect l="2020" t="2230" r="1100" b="1560"/>
          <a:stretch>
            <a:fillRect/>
          </a:stretch>
        </p:blipFill>
        <p:spPr>
          <a:xfrm>
            <a:off x="2009317" y="3750945"/>
            <a:ext cx="4708310" cy="2206313"/>
          </a:xfrm>
          <a:prstGeom prst="rect">
            <a:avLst/>
          </a:prstGeom>
          <a:noFill/>
          <a:ln w="6350" cap="flat" cmpd="sng" algn="ctr">
            <a:solidFill>
              <a:srgbClr val="bfbfbf"/>
            </a:solidFill>
            <a:prstDash val="solid"/>
            <a:round/>
            <a:headEnd w="med" len="med"/>
            <a:tailEnd w="med" len="med"/>
          </a:ln>
          <a:effectLst/>
        </p:spPr>
      </p:pic>
      <p:sp>
        <p:nvSpPr>
          <p:cNvPr id="20" name=""/>
          <p:cNvSpPr txBox="1"/>
          <p:nvPr/>
        </p:nvSpPr>
        <p:spPr>
          <a:xfrm>
            <a:off x="2084352" y="5985833"/>
            <a:ext cx="4190582" cy="26066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&lt; 표 </a:t>
            </a:r>
            <a:r>
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3</a:t>
            </a: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&gt; 글로벌 대기업의 스타트업 연계 방법 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103790" y="6449093"/>
            <a:ext cx="6441002" cy="21650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85000"/>
              </a:lnSpc>
              <a:buClr>
                <a:srgbClr val="000000"/>
              </a:buClr>
              <a:buNone/>
              <a:defRPr/>
            </a:pPr>
            <a:r>
              <a:rPr lang="en-US" altLang="ko-KR" sz="1000">
                <a:solidFill>
                  <a:srgbClr val="000000"/>
                </a:solidFill>
                <a:effectLst/>
                <a:latin typeface="맑은 고딕"/>
              </a:rPr>
              <a:t>6) “500 startups, How do the World's Biggest Companies`Deal with the Startup Revolution?”, 2016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  <p:cxnSp>
        <p:nvCxnSpPr>
          <p:cNvPr id="22" name=""/>
          <p:cNvCxnSpPr/>
          <p:nvPr/>
        </p:nvCxnSpPr>
        <p:spPr>
          <a:xfrm>
            <a:off x="3151906" y="6401468"/>
            <a:ext cx="5820511" cy="0"/>
          </a:xfrm>
          <a:prstGeom prst="line">
            <a:avLst/>
          </a:prstGeom>
          <a:noFill/>
          <a:ln w="12700" cap="flat" cmpd="sng" algn="ctr">
            <a:solidFill>
              <a:srgbClr val="808080">
                <a:alpha val="100000"/>
              </a:srgbClr>
            </a:solidFill>
            <a:prstDash val="solid"/>
          </a:ln>
        </p:spPr>
      </p:cxnSp>
      <p:sp>
        <p:nvSpPr>
          <p:cNvPr id="25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2084352" y="3834493"/>
            <a:ext cx="1882130" cy="1926227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p>
            <a:pPr algn="r">
              <a:defRPr/>
            </a:pPr>
            <a:r>
              <a:rPr lang="en-US" altLang="ko-KR" sz="800">
                <a:latin typeface="맑은 고딕"/>
              </a:rPr>
              <a:t>CVC</a:t>
            </a:r>
            <a:endParaRPr lang="en-US" altLang="ko-KR" sz="800">
              <a:latin typeface="맑은 고딕"/>
            </a:endParaRPr>
          </a:p>
          <a:p>
            <a:pPr algn="r">
              <a:lnSpc>
                <a:spcPct val="275000"/>
              </a:lnSpc>
              <a:defRPr/>
            </a:pPr>
            <a:r>
              <a:rPr lang="ko-KR" altLang="en-US" sz="800">
                <a:latin typeface="맑은 고딕"/>
              </a:rPr>
              <a:t>스타트업 공모전</a:t>
            </a:r>
            <a:endParaRPr lang="ko-KR" altLang="en-US" sz="800">
              <a:latin typeface="맑은 고딕"/>
            </a:endParaRPr>
          </a:p>
          <a:p>
            <a:pPr algn="r">
              <a:lnSpc>
                <a:spcPct val="235000"/>
              </a:lnSpc>
              <a:defRPr/>
            </a:pPr>
            <a:r>
              <a:rPr lang="ko-KR" altLang="en-US" sz="800">
                <a:latin typeface="맑은 고딕"/>
              </a:rPr>
              <a:t>엑셀러레이터</a:t>
            </a:r>
            <a:r>
              <a:rPr lang="en-US" altLang="ko-KR" sz="800">
                <a:latin typeface="맑은 고딕"/>
              </a:rPr>
              <a:t>&amp;</a:t>
            </a:r>
            <a:r>
              <a:rPr lang="ko-KR" altLang="en-US" sz="800">
                <a:latin typeface="맑은 고딕"/>
              </a:rPr>
              <a:t>인큐베이터</a:t>
            </a:r>
            <a:endParaRPr lang="ko-KR" altLang="en-US" sz="800">
              <a:latin typeface="맑은 고딕"/>
            </a:endParaRPr>
          </a:p>
          <a:p>
            <a:pPr algn="r">
              <a:lnSpc>
                <a:spcPct val="205000"/>
              </a:lnSpc>
              <a:defRPr/>
            </a:pPr>
            <a:r>
              <a:rPr lang="ko-KR" altLang="en-US" sz="800">
                <a:latin typeface="맑은 고딕"/>
              </a:rPr>
              <a:t>대기업 제품</a:t>
            </a:r>
            <a:r>
              <a:rPr lang="en-US" altLang="ko-KR" sz="800">
                <a:latin typeface="맑은 고딕"/>
              </a:rPr>
              <a:t>/</a:t>
            </a:r>
            <a:r>
              <a:rPr lang="ko-KR" altLang="en-US" sz="800">
                <a:latin typeface="맑은 고딕"/>
              </a:rPr>
              <a:t>서비스 무상제공</a:t>
            </a:r>
            <a:endParaRPr lang="ko-KR" altLang="en-US" sz="800">
              <a:latin typeface="맑은 고딕"/>
            </a:endParaRPr>
          </a:p>
          <a:p>
            <a:pPr algn="r">
              <a:lnSpc>
                <a:spcPct val="235000"/>
              </a:lnSpc>
              <a:defRPr/>
            </a:pPr>
            <a:r>
              <a:rPr lang="ko-KR" altLang="en-US" sz="800">
                <a:latin typeface="맑은 고딕"/>
              </a:rPr>
              <a:t>사업지원</a:t>
            </a:r>
            <a:endParaRPr lang="ko-KR" altLang="en-US" sz="800">
              <a:latin typeface="맑은 고딕"/>
            </a:endParaRPr>
          </a:p>
          <a:p>
            <a:pPr algn="r">
              <a:lnSpc>
                <a:spcPct val="215000"/>
              </a:lnSpc>
              <a:defRPr/>
            </a:pPr>
            <a:r>
              <a:rPr lang="ko-KR" altLang="en-US" sz="800">
                <a:latin typeface="맑은 고딕"/>
              </a:rPr>
              <a:t>코워킹 스페이스</a:t>
            </a:r>
            <a:endParaRPr lang="ko-KR" altLang="en-US" sz="800">
              <a:latin typeface="맑은 고딕"/>
            </a:endParaRPr>
          </a:p>
          <a:p>
            <a:pPr algn="r">
              <a:lnSpc>
                <a:spcPct val="245000"/>
              </a:lnSpc>
              <a:defRPr/>
            </a:pPr>
            <a:r>
              <a:rPr lang="ko-KR" altLang="en-US" sz="800">
                <a:latin typeface="맑은 고딕"/>
              </a:rPr>
              <a:t>기술자문</a:t>
            </a:r>
            <a:endParaRPr lang="ko-KR" altLang="en-US" sz="800">
              <a:latin typeface="맑은 고딕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5858294" y="3834493"/>
            <a:ext cx="426165" cy="211727"/>
          </a:xfrm>
          <a:prstGeom prst="rect">
            <a:avLst/>
          </a:prstGeom>
          <a:solidFill>
            <a:schemeClr val="lt1"/>
          </a:solidFill>
        </p:spPr>
        <p:txBody>
          <a:bodyPr wrap="square" lIns="0">
            <a:spAutoFit/>
          </a:bodyPr>
          <a:p>
            <a:pPr>
              <a:defRPr/>
            </a:pPr>
            <a:r>
              <a:rPr lang="en-US" altLang="ko-KR" sz="800">
                <a:latin typeface="맑은 고딕"/>
              </a:rPr>
              <a:t>62.6</a:t>
            </a:r>
            <a:endParaRPr lang="en-US" altLang="ko-KR" sz="800">
              <a:latin typeface="맑은 고딕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896579" y="4122420"/>
            <a:ext cx="426165" cy="211727"/>
          </a:xfrm>
          <a:prstGeom prst="rect">
            <a:avLst/>
          </a:prstGeom>
          <a:solidFill>
            <a:schemeClr val="lt1"/>
          </a:solidFill>
        </p:spPr>
        <p:txBody>
          <a:bodyPr wrap="square" lIns="0">
            <a:spAutoFit/>
          </a:bodyPr>
          <a:p>
            <a:pPr>
              <a:defRPr/>
            </a:pPr>
            <a:r>
              <a:rPr lang="en-US" altLang="ko-KR" sz="800">
                <a:latin typeface="맑은 고딕"/>
              </a:rPr>
              <a:t>29.0</a:t>
            </a:r>
            <a:endParaRPr lang="en-US" altLang="ko-KR" sz="800">
              <a:latin typeface="맑은 고딕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4765950" y="4386127"/>
            <a:ext cx="426165" cy="211727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wrap="square" lIns="0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24.4</a:t>
            </a:r>
            <a:endPara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692346" y="4663440"/>
            <a:ext cx="426165" cy="211727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wrap="square" lIns="0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21.8</a:t>
            </a:r>
            <a:endPara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4488789" y="4942931"/>
            <a:ext cx="426165" cy="211727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wrap="square" lIns="0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14.9</a:t>
            </a:r>
            <a:endPara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183934" y="5216980"/>
            <a:ext cx="426165" cy="211727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wrap="square" lIns="0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3.8</a:t>
            </a:r>
            <a:endPara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145835" y="5483679"/>
            <a:ext cx="426165" cy="210366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wrap="square" lIns="0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2.7</a:t>
            </a:r>
            <a:endPara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3767293" y="5823092"/>
            <a:ext cx="2766594" cy="120508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wrap="square" lIns="0" tIns="0" rIns="0" bIns="0">
            <a:spAutoFit/>
          </a:bodyPr>
          <a:p>
            <a:pPr marL="0" indent="0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</a:t>
            </a: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0.0</a:t>
            </a: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20.0</a:t>
            </a: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40.0</a:t>
            </a: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</a:t>
            </a: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60.0</a:t>
            </a: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80.0</a:t>
            </a:r>
            <a:endPara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255073" y="5502729"/>
            <a:ext cx="426165" cy="238941"/>
          </a:xfrm>
          <a:prstGeom prst="rect">
            <a:avLst/>
          </a:prstGeom>
          <a:solidFill>
            <a:schemeClr val="lt1"/>
          </a:solidFill>
        </p:spPr>
        <p:txBody>
          <a:bodyPr wrap="square" lIns="0" rIns="0">
            <a:spAutoFit/>
          </a:bodyPr>
          <a:p>
            <a:pPr algn="r">
              <a:defRPr/>
            </a:pPr>
            <a:r>
              <a:rPr lang="en-US" altLang="ko-KR" sz="1000" b="1">
                <a:latin typeface="맑은 고딕"/>
              </a:rPr>
              <a:t>(%)</a:t>
            </a:r>
            <a:endParaRPr lang="en-US" altLang="ko-KR" sz="1000" b="1"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60"/>
            <a:ext cx="8731858" cy="355848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글로벌 대기업과 스타트업의 오픈 이노베이션 </a:t>
            </a:r>
            <a:endPara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) 전담 조직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  <a:cs typeface="Arial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Fortune 500의 상위 기업 중 오픈 이노베이션 전담팀을 설립하는 기업이 다수</a:t>
            </a:r>
            <a:endParaRPr lang="en-US" altLang="ko-KR" sz="1600" b="1" baseline="30000">
              <a:solidFill>
                <a:srgbClr val="000000"/>
              </a:solidFill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오픈 이노베이션 총괄 책임자는 CEO가 가장 많으나, CTO, CSO가 총괄하거나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indent="1015999" defTabSz="914400">
              <a:lnSpc>
                <a:spcPct val="30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별도의 전문위원회에게 맡기는 경우도 있음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45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  <a:solidFill>
                  <a:srgbClr val="000000"/>
                </a:solidFill>
                <a:latin typeface="바탕"/>
                <a:ea typeface="바탕"/>
              </a:rPr>
              <a:t>                 * 글로벌 대기업에 있어 스타트업과의 연계는 최근 새롭게 부상한 우선 과제로</a:t>
            </a:r>
            <a:endPara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<a:solidFill>
                <a:srgbClr val="000000"/>
              </a:solidFill>
              <a:latin typeface="바탕"/>
              <a:ea typeface="바탕"/>
            </a:endParaRPr>
          </a:p>
          <a:p>
            <a:pPr defTabSz="914400">
              <a:lnSpc>
                <a:spcPct val="145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  <a:solidFill>
                  <a:srgbClr val="000000"/>
                </a:solidFill>
                <a:latin typeface="바탕"/>
                <a:ea typeface="바탕"/>
              </a:rPr>
              <a:t>                   프로그램의 승인 및 내부자원 배분, 사내 여러 부서간 협력 등 총괄 임원이 맡는</a:t>
            </a:r>
            <a:endPara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<a:solidFill>
                <a:srgbClr val="000000"/>
              </a:solidFill>
              <a:latin typeface="바탕"/>
              <a:ea typeface="바탕"/>
            </a:endParaRPr>
          </a:p>
          <a:p>
            <a:pPr defTabSz="914400">
              <a:lnSpc>
                <a:spcPct val="145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  <a:solidFill>
                  <a:srgbClr val="000000"/>
                </a:solidFill>
                <a:latin typeface="바탕"/>
                <a:ea typeface="바탕"/>
              </a:rPr>
              <a:t>                   형태이므로 각 기업마다 총괄책임자는 제각각임 </a:t>
            </a:r>
            <a:endPara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<a:solidFill>
                <a:srgbClr val="000000"/>
              </a:solidFill>
              <a:latin typeface="바탕"/>
              <a:ea typeface="바탕"/>
            </a:endParaRPr>
          </a:p>
          <a:p>
            <a:pPr defTabSz="914400"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2055777" y="5842958"/>
            <a:ext cx="4190582" cy="26066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algn="ctr" defTabSz="914400">
              <a:lnSpc>
                <a:spcPct val="85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&lt; 표 </a:t>
            </a:r>
            <a:r>
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4</a:t>
            </a: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&gt; 오픈 이노베이션의 총괄 책임자</a:t>
            </a:r>
            <a:r>
              <a:rPr lang="en-US" altLang="ko-KR" sz="1300" baseline="30000">
                <a:solidFill>
                  <a:srgbClr val="000000"/>
                </a:solidFill>
                <a:effectLst/>
                <a:latin typeface="맑은 고딕"/>
              </a:rPr>
              <a:t>7)</a:t>
            </a:r>
            <a:endParaRPr lang="en-US" altLang="ko-KR" sz="1300" baseline="30000">
              <a:solidFill>
                <a:srgbClr val="000000"/>
              </a:solidFill>
              <a:effectLst/>
              <a:latin typeface="맑은 고딕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103790" y="6449093"/>
            <a:ext cx="6040210" cy="21650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7) 500Startups &amp; 노무라연구소, 스타트업과의 연계에 의한 이노베이션 실현, pp. 14, 2014.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  <p:cxnSp>
        <p:nvCxnSpPr>
          <p:cNvPr id="22" name=""/>
          <p:cNvCxnSpPr/>
          <p:nvPr/>
        </p:nvCxnSpPr>
        <p:spPr>
          <a:xfrm>
            <a:off x="3151906" y="6401468"/>
            <a:ext cx="5820511" cy="0"/>
          </a:xfrm>
          <a:prstGeom prst="line">
            <a:avLst/>
          </a:prstGeom>
          <a:noFill/>
          <a:ln w="12700" cap="flat" cmpd="sng" algn="ctr">
            <a:solidFill>
              <a:srgbClr val="808080">
                <a:alpha val="100000"/>
              </a:srgbClr>
            </a:solidFill>
            <a:prstDash val="solid"/>
          </a:ln>
        </p:spPr>
      </p:cxnSp>
      <p:graphicFrame>
        <p:nvGraphicFramePr>
          <p:cNvPr id="23" name=""/>
          <p:cNvGraphicFramePr>
            <a:graphicFrameLocks noGrp="1"/>
          </p:cNvGraphicFramePr>
          <p:nvPr/>
        </p:nvGraphicFramePr>
        <p:xfrm>
          <a:off x="606407" y="4694011"/>
          <a:ext cx="8043943" cy="1039223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152321"/>
                <a:gridCol w="1150285"/>
                <a:gridCol w="1150285"/>
                <a:gridCol w="1143000"/>
                <a:gridCol w="1143000"/>
                <a:gridCol w="1152525"/>
                <a:gridCol w="1152525"/>
              </a:tblGrid>
              <a:tr h="668383">
                <a:tc>
                  <a:txBody>
                    <a:bodyPr vert="horz" wrap="square" lIns="0" tIns="45720" rIns="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  <a:latin typeface="맑은 고딕"/>
                        </a:rPr>
                        <a:t>CEO</a:t>
                      </a:r>
                      <a:endParaRPr lang="en-US" altLang="ko-KR" sz="13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en-US" altLang="ko-KR" sz="1200" b="0">
                          <a:solidFill>
                            <a:schemeClr val="dk1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1200" b="0">
                          <a:solidFill>
                            <a:schemeClr val="dk1"/>
                          </a:solidFill>
                          <a:latin typeface="맑은 고딕"/>
                        </a:rPr>
                        <a:t>최고경영자</a:t>
                      </a:r>
                      <a:r>
                        <a:rPr lang="en-US" altLang="ko-KR" sz="1200" b="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1200" b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0" marR="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vert="horz" wrap="square" lIns="0" tIns="45720" rIns="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  <a:latin typeface="맑은 고딕"/>
                        </a:rPr>
                        <a:t>CTO</a:t>
                      </a:r>
                      <a:endParaRPr lang="en-US" altLang="ko-KR" sz="13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200" b="0" spc="-100">
                          <a:solidFill>
                            <a:schemeClr val="dk1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1200" b="0" spc="-100">
                          <a:solidFill>
                            <a:schemeClr val="dk1"/>
                          </a:solidFill>
                          <a:latin typeface="맑은 고딕"/>
                        </a:rPr>
                        <a:t>최고기술책임자</a:t>
                      </a:r>
                      <a:r>
                        <a:rPr lang="en-US" altLang="ko-KR" sz="1200" b="0" spc="-1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1200" b="0" spc="-1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0" marR="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vert="horz" wrap="square" lIns="0" tIns="45720" rIns="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  <a:latin typeface="맑은 고딕"/>
                        </a:rPr>
                        <a:t>CSO</a:t>
                      </a:r>
                      <a:endParaRPr lang="en-US" altLang="ko-KR" sz="12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en-US" altLang="ko-KR" sz="1200" b="0" spc="-100">
                          <a:solidFill>
                            <a:schemeClr val="dk1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1200" b="0" spc="-100">
                          <a:solidFill>
                            <a:schemeClr val="dk1"/>
                          </a:solidFill>
                          <a:latin typeface="맑은 고딕"/>
                        </a:rPr>
                        <a:t>최고전략책임자</a:t>
                      </a:r>
                      <a:r>
                        <a:rPr lang="en-US" altLang="ko-KR" sz="1200" b="0" spc="-1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1200" b="0" spc="-1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0" marR="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vert="horz" wrap="square" lIns="0" tIns="45720" rIns="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  <a:latin typeface="맑은 고딕"/>
                        </a:rPr>
                        <a:t>CMO</a:t>
                      </a:r>
                      <a:endParaRPr lang="en-US" altLang="ko-KR" sz="1200" spc="-2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en-US" altLang="ko-KR" sz="1200" b="0" spc="-200">
                          <a:solidFill>
                            <a:schemeClr val="dk1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1200" b="0" spc="-200">
                          <a:solidFill>
                            <a:schemeClr val="dk1"/>
                          </a:solidFill>
                          <a:latin typeface="맑은 고딕"/>
                        </a:rPr>
                        <a:t>최고마케팅책임자</a:t>
                      </a:r>
                      <a:r>
                        <a:rPr lang="en-US" altLang="ko-KR" sz="1200" b="0" spc="-2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1200" b="0" spc="-2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0" marR="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vert="horz" wrap="square" lIns="0" tIns="45720" rIns="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  <a:latin typeface="맑은 고딕"/>
                        </a:rPr>
                        <a:t>BOD</a:t>
                      </a:r>
                      <a:endParaRPr lang="en-US" altLang="ko-KR" sz="13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en-US" altLang="ko-KR" sz="1200" b="0">
                          <a:solidFill>
                            <a:schemeClr val="dk1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1200" b="0">
                          <a:solidFill>
                            <a:schemeClr val="dk1"/>
                          </a:solidFill>
                          <a:latin typeface="맑은 고딕"/>
                        </a:rPr>
                        <a:t>이사회</a:t>
                      </a:r>
                      <a:r>
                        <a:rPr lang="en-US" altLang="ko-KR" sz="1200" b="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1200" b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0" marR="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vert="horz" wrap="square" lIns="0" tIns="45720" rIns="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  <a:latin typeface="맑은 고딕"/>
                        </a:rPr>
                        <a:t>CIO</a:t>
                      </a:r>
                      <a:endParaRPr lang="en-US" altLang="ko-KR" sz="1200" spc="-1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en-US" altLang="ko-KR" sz="1200" b="0" spc="-100">
                          <a:solidFill>
                            <a:schemeClr val="dk1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1200" b="0" spc="-100">
                          <a:solidFill>
                            <a:schemeClr val="dk1"/>
                          </a:solidFill>
                          <a:latin typeface="맑은 고딕"/>
                        </a:rPr>
                        <a:t>최고정보책임자</a:t>
                      </a:r>
                      <a:r>
                        <a:rPr lang="en-US" altLang="ko-KR" sz="1200" b="0" spc="-1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1200" b="0" spc="-1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0" marR="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vert="horz" wrap="square" lIns="0" tIns="45720" rIns="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  <a:latin typeface="맑은 고딕"/>
                        </a:rPr>
                        <a:t>COO</a:t>
                      </a:r>
                      <a:endParaRPr lang="en-US" altLang="ko-KR" sz="12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en-US" altLang="ko-KR" sz="1200" b="0">
                          <a:solidFill>
                            <a:schemeClr val="dk1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1200" b="0">
                          <a:solidFill>
                            <a:schemeClr val="dk1"/>
                          </a:solidFill>
                          <a:latin typeface="맑은 고딕"/>
                        </a:rPr>
                        <a:t>최고운영책임자</a:t>
                      </a:r>
                      <a:r>
                        <a:rPr lang="en-US" altLang="ko-KR" sz="1200" b="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1200" b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0" marR="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</a:tr>
              <a:tr h="370840">
                <a:tc>
                  <a:txBody>
                    <a:bodyPr vert="horz" wrap="square" lIns="0" tIns="45720" rIns="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  <a:latin typeface="맑은 고딕"/>
                        </a:rPr>
                        <a:t>30%</a:t>
                      </a:r>
                      <a:endParaRPr lang="en-US" altLang="ko-KR" sz="13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0" marR="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0" tIns="45720" rIns="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  <a:latin typeface="맑은 고딕"/>
                        </a:rPr>
                        <a:t>12%</a:t>
                      </a:r>
                      <a:endParaRPr lang="en-US" altLang="ko-KR" sz="13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0" marR="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0" tIns="45720" rIns="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  <a:latin typeface="맑은 고딕"/>
                        </a:rPr>
                        <a:t>10%</a:t>
                      </a:r>
                      <a:endParaRPr lang="en-US" altLang="ko-KR" sz="13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0" marR="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0" tIns="45720" rIns="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  <a:latin typeface="맑은 고딕"/>
                        </a:rPr>
                        <a:t>8%</a:t>
                      </a:r>
                      <a:endParaRPr lang="en-US" altLang="ko-KR" sz="13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0" marR="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0" tIns="45720" rIns="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  <a:latin typeface="맑은 고딕"/>
                        </a:rPr>
                        <a:t>7%</a:t>
                      </a:r>
                      <a:endParaRPr lang="en-US" altLang="ko-KR" sz="13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0" marR="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0" tIns="45720" rIns="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  <a:latin typeface="맑은 고딕"/>
                        </a:rPr>
                        <a:t>7%</a:t>
                      </a:r>
                      <a:endParaRPr lang="en-US" altLang="ko-KR" sz="13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0" marR="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0" tIns="45720" rIns="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  <a:latin typeface="맑은 고딕"/>
                        </a:rPr>
                        <a:t>5%</a:t>
                      </a:r>
                      <a:endParaRPr lang="en-US" altLang="ko-KR" sz="13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0" marR="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4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 txBox="1"/>
          <p:nvPr/>
        </p:nvSpPr>
        <p:spPr>
          <a:xfrm>
            <a:off x="2198652" y="5900108"/>
            <a:ext cx="4190582" cy="26066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algn="ctr" defTabSz="914400">
              <a:lnSpc>
                <a:spcPct val="85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&lt; 표 </a:t>
            </a:r>
            <a:r>
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5</a:t>
            </a: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&gt;  글로벌 대기업의 스타트업 연계 목적</a:t>
            </a:r>
            <a:r>
              <a:rPr lang="en-US" altLang="ko-KR" sz="1300" baseline="30000">
                <a:solidFill>
                  <a:srgbClr val="000000"/>
                </a:solidFill>
                <a:effectLst/>
                <a:latin typeface="맑은 고딕"/>
              </a:rPr>
              <a:t>7)</a:t>
            </a: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  <p:pic>
        <p:nvPicPr>
          <p:cNvPr id="26" name=""/>
          <p:cNvPicPr>
            <a:picLocks noChangeAspect="1"/>
          </p:cNvPicPr>
          <p:nvPr/>
        </p:nvPicPr>
        <p:blipFill rotWithShape="1">
          <a:blip r:embed="rId2"/>
          <a:srcRect l="2360" t="3160" r="1270" b="1180"/>
          <a:stretch>
            <a:fillRect/>
          </a:stretch>
        </p:blipFill>
        <p:spPr>
          <a:xfrm>
            <a:off x="2299508" y="3730683"/>
            <a:ext cx="4596938" cy="2099310"/>
          </a:xfrm>
          <a:prstGeom prst="rect">
            <a:avLst/>
          </a:prstGeom>
          <a:ln w="6350">
            <a:solidFill>
              <a:srgbClr val="bfbfbf">
                <a:alpha val="100000"/>
              </a:srgbClr>
            </a:solidFill>
          </a:ln>
        </p:spPr>
      </p:pic>
      <p:sp>
        <p:nvSpPr>
          <p:cNvPr id="13" name=""/>
          <p:cNvSpPr txBox="1"/>
          <p:nvPr/>
        </p:nvSpPr>
        <p:spPr>
          <a:xfrm>
            <a:off x="221643" y="1297361"/>
            <a:ext cx="8922357" cy="2348809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글로벌 대기업과 스타트업의 오픈 이노베이션 </a:t>
            </a:r>
            <a:endParaRPr xmlns:mc="http://schemas.openxmlformats.org/markup-compatibility/2006" xmlns:hp="http://schemas.haansoft.com/office/presentation/8.0" kumimoji="0" lang="ko-KR" altLang="en-US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3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) 연계 목적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  <a:cs typeface="Arial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글로벌 대기업이 스타트업과 연계하는 목적은 최신기술의 활용(92%) 및 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indent="763295" defTabSz="914400">
              <a:lnSpc>
                <a:spcPct val="170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비즈니스 변혁(56%), 우수인재 확보(46%) 등임</a:t>
            </a:r>
            <a:endParaRPr lang="en-US" altLang="ko-KR" sz="1600" b="1" baseline="30000">
              <a:solidFill>
                <a:srgbClr val="000000"/>
              </a:solidFill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굴림"/>
              <a:ea typeface="굴림"/>
            </a:endParaRPr>
          </a:p>
          <a:p>
            <a:pPr defTabSz="914400">
              <a:lnSpc>
                <a:spcPct val="85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(최신기술 활용) 과거 대기업들은 내부 R&amp;D만에 적극적이었으나,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    이제는 최신기술을 보유한 스타트업을 인수하는데 적극적임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2370834" y="3843517"/>
            <a:ext cx="1230922" cy="1793378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wrap="square" lIns="0" rIns="0">
            <a:spAutoFit/>
          </a:bodyPr>
          <a:p>
            <a:pPr marL="0" indent="0" algn="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새로운 기술 활용</a:t>
            </a: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도입</a:t>
            </a:r>
            <a:endPara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indent="0" algn="r" defTabSz="914400" rtl="0" eaLnBrk="1" latinLnBrk="1" hangingPunct="1">
              <a:lnSpc>
                <a:spcPct val="31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자사 비즈니스 변혁</a:t>
            </a: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개선</a:t>
            </a:r>
            <a:endPara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indent="0" algn="r" defTabSz="914400" rtl="0" eaLnBrk="1" latinLnBrk="1" hangingPunct="1">
              <a:lnSpc>
                <a:spcPct val="23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우수인재 획득</a:t>
            </a:r>
            <a:endPara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indent="0" algn="r" defTabSz="914400" rtl="0" eaLnBrk="1" latinLnBrk="1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시장 관련 최신정보 수집</a:t>
            </a:r>
            <a:endPara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indent="0" algn="r" defTabSz="914400" rtl="0" eaLnBrk="1" latinLnBrk="1" hangingPunct="1">
              <a:lnSpc>
                <a:spcPct val="26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신규고객 접근</a:t>
            </a:r>
            <a:endPara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indent="0" algn="r" defTabSz="914400" rtl="0" eaLnBrk="1" latinLnBrk="1" hangingPunct="1">
              <a:lnSpc>
                <a:spcPct val="24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코스트 삭감</a:t>
            </a:r>
            <a:endPara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417809" y="3824467"/>
            <a:ext cx="327072" cy="211727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wrap="square" lIns="0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92</a:t>
            </a:r>
            <a:endPara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5339589" y="4143188"/>
            <a:ext cx="327072" cy="211727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wrap="square" lIns="0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56</a:t>
            </a:r>
            <a:endPara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5044314" y="4442754"/>
            <a:ext cx="327072" cy="213066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wrap="square" lIns="0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46</a:t>
            </a:r>
            <a:endPara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5012517" y="4761288"/>
            <a:ext cx="327072" cy="213066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wrap="square" lIns="0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45</a:t>
            </a:r>
            <a:endPara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5022042" y="5066088"/>
            <a:ext cx="327072" cy="213066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wrap="square" lIns="0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45</a:t>
            </a:r>
            <a:endPara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4698192" y="5380413"/>
            <a:ext cx="327072" cy="213066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wrap="square" lIns="0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34</a:t>
            </a:r>
            <a:endPara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3419670" y="5674995"/>
            <a:ext cx="3325211" cy="120508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wrap="square" lIns="0" tIns="0" rIns="0" bIns="0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</a:t>
            </a: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0</a:t>
            </a: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   </a:t>
            </a: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20</a:t>
            </a: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  </a:t>
            </a: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40</a:t>
            </a: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   </a:t>
            </a: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60</a:t>
            </a: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  </a:t>
            </a: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80</a:t>
            </a: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  </a:t>
            </a:r>
            <a:r>
              <a:rPr xmlns:mc="http://schemas.openxmlformats.org/markup-compatibility/2006" xmlns:hp="http://schemas.haansoft.com/office/presentation/8.0" kumimoji="0" lang="en-US" altLang="ko-KR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100</a:t>
            </a:r>
            <a:r>
              <a: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</a:t>
            </a:r>
            <a:endParaRPr xmlns:mc="http://schemas.openxmlformats.org/markup-compatibility/2006" xmlns:hp="http://schemas.haansoft.com/office/presentation/8.0" kumimoji="0" lang="ko-KR" altLang="en-US" sz="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6436859" y="5369379"/>
            <a:ext cx="426165" cy="23894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wrap="square" lIns="0" rIns="0">
            <a:spAutoFit/>
          </a:bodyPr>
          <a:p>
            <a:pPr marL="0" indent="0" algn="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(%)</a:t>
            </a:r>
            <a:endParaRPr xmlns:mc="http://schemas.openxmlformats.org/markup-compatibility/2006" xmlns:hp="http://schemas.haansoft.com/office/presentation/8.0" kumimoji="0" lang="en-US" altLang="ko-KR" sz="10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103790" y="6449093"/>
            <a:ext cx="6040210" cy="21650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7) 500Startups &amp; 노무라연구소, 스타트업과의 연계에 의한 이노베이션 실현, pp. 14, 2014.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  <p:cxnSp>
        <p:nvCxnSpPr>
          <p:cNvPr id="42" name=""/>
          <p:cNvCxnSpPr/>
          <p:nvPr/>
        </p:nvCxnSpPr>
        <p:spPr>
          <a:xfrm>
            <a:off x="3151906" y="6401468"/>
            <a:ext cx="5820511" cy="0"/>
          </a:xfrm>
          <a:prstGeom prst="line">
            <a:avLst/>
          </a:prstGeom>
          <a:noFill/>
          <a:ln w="12700" cap="flat" cmpd="sng" algn="ctr">
            <a:solidFill>
              <a:srgbClr val="808080">
                <a:alpha val="100000"/>
              </a:srgbClr>
            </a:solidFill>
            <a:prstDash val="solid"/>
          </a:ln>
        </p:spPr>
      </p:cxnSp>
      <p:sp>
        <p:nvSpPr>
          <p:cNvPr id="43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54"/>
            <a:ext cx="8922357" cy="320606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글로벌 대기업과 스타트업의 오픈 이노베이션 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4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) 연계 성과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  <a:cs typeface="Arial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글로벌 대기업은 스타트업과 실증 테스트 및 파트너십 방식을 가장 많이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indent="763295" defTabSz="914400">
              <a:lnSpc>
                <a:spcPct val="5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활용하는데, 실증 테스트의 성공률 자체는 높지 않음</a:t>
            </a:r>
            <a:r>
              <a:rPr lang="en-US" altLang="ko-KR" sz="1600" b="1" baseline="30000">
                <a:solidFill>
                  <a:srgbClr val="000000"/>
                </a:solidFill>
                <a:latin typeface="맑은 고딕"/>
              </a:rPr>
              <a:t>7)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5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대기업은 스타트업과의 실증테스트를 연간 1건~5건을 진행하는 경우가 37%로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indent="1022527" defTabSz="914400">
              <a:lnSpc>
                <a:spcPct val="140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가장 많았고, 이어서 5건~10건이 28%임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반면 대기업이 스타트업과의 실증 테스트를 시행하여 시장에 투입 가능한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indent="1022527" defTabSz="914400">
              <a:lnSpc>
                <a:spcPct val="155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솔루션으로 발전한 것은 전체의 25% 이하인 기업이 대다수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3103790" y="6449093"/>
            <a:ext cx="6040210" cy="21650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7) 500Startups &amp; 노무라연구소, 스타트업과의 연계에 의한 이노베이션 실현, pp. 14, 2014.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  <p:cxnSp>
        <p:nvCxnSpPr>
          <p:cNvPr id="24" name=""/>
          <p:cNvCxnSpPr/>
          <p:nvPr/>
        </p:nvCxnSpPr>
        <p:spPr>
          <a:xfrm>
            <a:off x="3151906" y="6401468"/>
            <a:ext cx="5820511" cy="0"/>
          </a:xfrm>
          <a:prstGeom prst="line">
            <a:avLst/>
          </a:prstGeom>
          <a:noFill/>
          <a:ln w="12700" cap="flat" cmpd="sng" algn="ctr">
            <a:solidFill>
              <a:srgbClr val="808080">
                <a:alpha val="100000"/>
              </a:srgbClr>
            </a:solidFill>
            <a:prstDash val="solid"/>
          </a:ln>
        </p:spPr>
      </p:cxnSp>
      <p:sp>
        <p:nvSpPr>
          <p:cNvPr id="25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60"/>
            <a:ext cx="8731858" cy="464433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글로벌 대기업과 스타트업의 오픈 이노베이션 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5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) 주요 업종별 오픈 이노베이션 사례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ff"/>
                </a:solidFill>
                <a:latin typeface="HY헤드라인M"/>
                <a:ea typeface="HY헤드라인M"/>
                <a:cs typeface="Arial"/>
              </a:rPr>
              <a:t>제약업계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ff"/>
              </a:solidFill>
              <a:latin typeface="HY헤드라인M"/>
              <a:ea typeface="HY헤드라인M"/>
              <a:cs typeface="Arial"/>
            </a:endParaRPr>
          </a:p>
          <a:p>
            <a:pPr marL="0" indent="0" algn="l" defTabSz="914400" rtl="0" eaLnBrk="1" latinLnBrk="1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  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(1)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추진 배경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글로벌 제약업계는 그 동안 막대한 투자비용이 소요되는 신약개발에 매달려왔으나,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indent="763295" defTabSz="91440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수익률은 갈수록 저조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5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화이자 등 대형 제약 회사들이 R&amp;D에 쓴 예산은 1995년 150억 달러에서 2009년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indent="1023937" defTabSz="914400">
              <a:lnSpc>
                <a:spcPct val="140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-100" normalizeH="0" baseline="0" mc:Ignorable="hp" hp:hslEmbossed="0">
                <a:solidFill>
                  <a:srgbClr val="000000"/>
                </a:solidFill>
                <a:latin typeface="맑은 고딕"/>
              </a:rPr>
              <a:t>450억 달러로 증가했으나, 연간 신약 출시 건수는 1997년 이후부터 최근까지 44% 감소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-10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0000"/>
              </a:lnSpc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-10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5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올리버 와이만 통계에 따르면 신약 하나를 개발하는 데 투입되는 비용 역시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indent="1023937" defTabSz="914400">
              <a:lnSpc>
                <a:spcPct val="105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2010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~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2013년 18% 증가했지만, 투자 수익률은 70% 감소</a:t>
            </a:r>
            <a:r>
              <a:rPr lang="en-US" altLang="ko-KR" sz="1600" baseline="30000">
                <a:solidFill>
                  <a:srgbClr val="000000"/>
                </a:solidFill>
                <a:latin typeface="맑은 고딕"/>
              </a:rPr>
              <a:t>8</a:t>
            </a:r>
            <a:r>
              <a:rPr lang="ko-KR" altLang="en-US" sz="1600" baseline="30000">
                <a:solidFill>
                  <a:srgbClr val="000000"/>
                </a:solidFill>
                <a:latin typeface="맑은 고딕"/>
              </a:rPr>
              <a:t>)</a:t>
            </a:r>
            <a:endParaRPr lang="ko-KR" altLang="en-US" sz="1600" baseline="3000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글로벌 제약사는 디지털 진단 기술 및 바이오 제조사 등 외부와 협력하여 환자별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indent="763295" defTabSz="914400">
              <a:lnSpc>
                <a:spcPct val="16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맞춤형 솔루션 제안으로 사업방향을 전환 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103790" y="6449093"/>
            <a:ext cx="5878286" cy="21650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8) 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조선비즈,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저성장 시대, R&amp;D센터 없애고 C&amp;D 하라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, 2016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.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  <p:cxnSp>
        <p:nvCxnSpPr>
          <p:cNvPr id="22" name=""/>
          <p:cNvCxnSpPr/>
          <p:nvPr/>
        </p:nvCxnSpPr>
        <p:spPr>
          <a:xfrm>
            <a:off x="3151906" y="6401468"/>
            <a:ext cx="5820511" cy="0"/>
          </a:xfrm>
          <a:prstGeom prst="line">
            <a:avLst/>
          </a:prstGeom>
          <a:noFill/>
          <a:ln w="12700" cap="flat" cmpd="sng" algn="ctr">
            <a:solidFill>
              <a:srgbClr val="808080">
                <a:alpha val="100000"/>
              </a:srgbClr>
            </a:solidFill>
            <a:prstDash val="solid"/>
          </a:ln>
        </p:spPr>
      </p:cxnSp>
      <p:sp>
        <p:nvSpPr>
          <p:cNvPr id="23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61"/>
            <a:ext cx="8922357" cy="546348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글로벌 대기업과 스타트업의 오픈 이노베이션 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5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) 주요 업종별 오픈 이노베이션 사례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ff"/>
                </a:solidFill>
                <a:latin typeface="HY헤드라인M"/>
                <a:ea typeface="HY헤드라인M"/>
                <a:cs typeface="Arial"/>
              </a:rPr>
              <a:t>제약업계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ff"/>
              </a:solidFill>
              <a:latin typeface="HY헤드라인M"/>
              <a:ea typeface="HY헤드라인M"/>
              <a:cs typeface="Arial"/>
            </a:endParaRPr>
          </a:p>
          <a:p>
            <a:pPr marL="0" indent="0" algn="l" defTabSz="914400" rtl="0" eaLnBrk="1" latinLnBrk="1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  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(2)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대표 기업 사례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(Roche) 스위스에 본사를 둔 글로벌 제약사 로슈는 2010년대 들어 신약 개발 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75000"/>
              </a:lnSpc>
              <a:spcBef>
                <a:spcPts val="0"/>
              </a:spcBef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4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프로젝트를 신규 확충하기보다는 개발 후기 단계인 임상시험 효율화를 목적으로 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0000"/>
              </a:lnSpc>
              <a:spcBef>
                <a:spcPts val="0"/>
              </a:spcBef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4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오픈 이노베이션을 추진</a:t>
            </a:r>
            <a:r>
              <a:rPr lang="en-US" altLang="ko-KR" sz="1600" b="1" baseline="30000">
                <a:solidFill>
                  <a:srgbClr val="000000"/>
                </a:solidFill>
                <a:latin typeface="맑은 고딕"/>
              </a:rPr>
              <a:t>9</a:t>
            </a:r>
            <a:r>
              <a:rPr lang="ko-KR" altLang="en-US" sz="1600" b="1" baseline="30000">
                <a:solidFill>
                  <a:srgbClr val="000000"/>
                </a:solidFill>
                <a:latin typeface="맑은 고딕"/>
              </a:rPr>
              <a:t>)</a:t>
            </a:r>
            <a:endParaRPr lang="ko-KR" altLang="en-US" sz="1600" b="1" baseline="3000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10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처음부터 구글, 페이스북 등 기업가정신이 뛰어나고, 이노베이션 추진에 성공한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10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   기업들을 방문, 사전 학습과정을 거침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 eaLnBrk="0">
              <a:lnSpc>
                <a:spcPct val="125000"/>
              </a:lnSpc>
              <a:spcBef>
                <a:spcPts val="8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처음에는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lean Startup</a:t>
            </a:r>
            <a:r>
              <a:rPr lang="en-US" altLang="ko-KR" sz="1600" baseline="30000">
                <a:solidFill>
                  <a:srgbClr val="000000"/>
                </a:solidFill>
                <a:latin typeface="맑은 고딕"/>
              </a:rPr>
              <a:t>*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방식으로 소규모로 시작하여 서서히 활동규모를 확대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10000"/>
              </a:lnSpc>
              <a:spcBef>
                <a:spcPts val="8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M&amp;A 적극 활용, 2009년 3월 미국 바이오 벤처 선구자인 Genentech 인수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-100" normalizeH="0" baseline="0" mc:Ignorable="hp" hp:hslEmbossed="0">
                <a:solidFill>
                  <a:srgbClr val="000000"/>
                </a:solidFill>
                <a:latin typeface="맑은 고딕"/>
              </a:rPr>
              <a:t>(468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-100" normalizeH="0" baseline="0" mc:Ignorable="hp" hp:hslEmbossed="0">
                <a:solidFill>
                  <a:srgbClr val="000000"/>
                </a:solidFill>
                <a:latin typeface="맑은 고딕"/>
              </a:rPr>
              <a:t>억 달러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-100" normalizeH="0" baseline="0" mc:Ignorable="hp" hp:hslEmbossed="0">
                <a:solidFill>
                  <a:srgbClr val="000000"/>
                </a:solidFill>
                <a:latin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10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   2018년 2월 AI를 활용한 실시간 종양 데이터 분석 스타트업 플랫아이언(Flatiron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10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   Health)을 인수(19억 달러)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10000"/>
              </a:lnSpc>
              <a:spcBef>
                <a:spcPts val="10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또한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미래 사업 분야로 DNA sequencer(염기서열분석) 솔루션 개발에 주력,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indent="1023937" defTabSz="914400">
              <a:lnSpc>
                <a:spcPct val="110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자기파괴적 혁신도 추진 중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103790" y="6410993"/>
            <a:ext cx="5878286" cy="492727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9)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JOIC(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일본 오픈 이노베이션 협의회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*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아이디어를 단기간에 제품으로 만든 후 시장 반응을 다음 제품에 반영하는 것을 반복하여 성공 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 확률을 높이는 경영 전략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  <p:cxnSp>
        <p:nvCxnSpPr>
          <p:cNvPr id="22" name=""/>
          <p:cNvCxnSpPr/>
          <p:nvPr/>
        </p:nvCxnSpPr>
        <p:spPr>
          <a:xfrm>
            <a:off x="3151906" y="6401468"/>
            <a:ext cx="5820511" cy="0"/>
          </a:xfrm>
          <a:prstGeom prst="line">
            <a:avLst/>
          </a:prstGeom>
          <a:noFill/>
          <a:ln w="12700" cap="flat" cmpd="sng" algn="ctr">
            <a:solidFill>
              <a:srgbClr val="808080">
                <a:alpha val="100000"/>
              </a:srgbClr>
            </a:solidFill>
            <a:prstDash val="solid"/>
          </a:ln>
        </p:spPr>
      </p:cxnSp>
      <p:sp>
        <p:nvSpPr>
          <p:cNvPr id="23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59"/>
            <a:ext cx="8731858" cy="4996761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글로벌 대기업과 스타트업의 오픈 이노베이션 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5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) 주요 업종별 오픈 이노베이션 사례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ff"/>
                </a:solidFill>
                <a:latin typeface="HY헤드라인M"/>
                <a:ea typeface="HY헤드라인M"/>
                <a:cs typeface="Arial"/>
              </a:rPr>
              <a:t>식품업계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ff"/>
              </a:solidFill>
              <a:latin typeface="HY헤드라인M"/>
              <a:ea typeface="HY헤드라인M"/>
              <a:cs typeface="Arial"/>
            </a:endParaRPr>
          </a:p>
          <a:p>
            <a:pPr marL="0" indent="0" algn="l" defTabSz="914400" rtl="0" eaLnBrk="1" latinLnBrk="1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  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(1)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추진 배경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글로벌 투자은행(Jefferies) 발표에 따르면 미국 식품업계의 주요 카테고리 54개 중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indent="792099" defTabSz="91440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42개에서 과거 5년간 대기업과 신생기업의 시장 점유율이 역전</a:t>
            </a:r>
            <a:r>
              <a:rPr lang="en-US" altLang="ko-KR" sz="1600" b="1" baseline="30000">
                <a:solidFill>
                  <a:srgbClr val="000000"/>
                </a:solidFill>
                <a:latin typeface="맑은 고딕"/>
              </a:rPr>
              <a:t>10)</a:t>
            </a:r>
            <a:endParaRPr lang="en-US" altLang="ko-KR" sz="1600" b="1" baseline="3000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10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캘로그, 제네럴밀, 팹시 등 전통적 가공식품 대기업 전체의 미국 시장 점유율이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40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-100" normalizeH="0" baseline="0" mc:Ignorable="hp" hp:hslEmbossed="0">
                <a:solidFill>
                  <a:srgbClr val="000000"/>
                </a:solidFill>
                <a:latin typeface="맑은 고딕"/>
              </a:rPr>
              <a:t> 2010년 전후 하락한 반면 신생 기업들이 다수 등장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-10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20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밀레니얼 세대가 주요 고객층으로 부상함에 따라 대기업들은 기존의 일방향 마케팅 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1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전략과 오프라인 유통에 대한 대규모 투자를 전면 재검토</a:t>
            </a:r>
            <a:r>
              <a:rPr lang="en-US" altLang="ko-KR" sz="1600" b="1" baseline="30000">
                <a:solidFill>
                  <a:srgbClr val="000000"/>
                </a:solidFill>
                <a:latin typeface="맑은 고딕"/>
              </a:rPr>
              <a:t>11</a:t>
            </a:r>
            <a:r>
              <a:rPr lang="ko-KR" altLang="en-US" sz="1600" b="1" baseline="30000">
                <a:solidFill>
                  <a:srgbClr val="000000"/>
                </a:solidFill>
                <a:latin typeface="맑은 고딕"/>
              </a:rPr>
              <a:t>)</a:t>
            </a:r>
            <a:endParaRPr lang="ko-KR" altLang="en-US" sz="1600" b="1" baseline="3000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85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밀레니얼 세대는 건강지향형의 헬시(healthy)와 웰니스(wellness) 과자를 선호하는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indent="1023937" defTabSz="914400">
              <a:lnSpc>
                <a:spcPct val="140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-100" normalizeH="0" baseline="0" mc:Ignorable="hp" hp:hslEmbossed="0">
                <a:solidFill>
                  <a:srgbClr val="000000"/>
                </a:solidFill>
                <a:latin typeface="맑은 고딕"/>
              </a:rPr>
              <a:t>동시에 전통적 방식의 제품 광고에는 반응하지 않고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-100" normalizeH="0" baseline="0" mc:Ignorable="hp" hp:hslEmbossed="0">
                <a:solidFill>
                  <a:srgbClr val="000000"/>
                </a:solidFill>
                <a:latin typeface="맑은 고딕"/>
              </a:rPr>
              <a:t>SNS,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-100" normalizeH="0" baseline="0" mc:Ignorable="hp" hp:hslEmbossed="0">
                <a:solidFill>
                  <a:srgbClr val="000000"/>
                </a:solidFill>
                <a:latin typeface="맑은 고딕"/>
              </a:rPr>
              <a:t>직접구매 등 기존 고객과는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-10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indent="1023937" defTabSz="914400">
              <a:lnSpc>
                <a:spcPct val="160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-100" normalizeH="0" baseline="0" mc:Ignorable="hp" hp:hslEmbossed="0">
                <a:solidFill>
                  <a:srgbClr val="000000"/>
                </a:solidFill>
                <a:latin typeface="맑은 고딕"/>
              </a:rPr>
              <a:t>다른 특성을 보임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-10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103790" y="6449093"/>
            <a:ext cx="5878286" cy="36890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10)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JP techcrunch, “We are on the verge of a consumer M&amp;A avalanche”, 2016. 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11)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JP techcrunc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h,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소비재 업계에서 일어나고 있는 M&amp;A 눈사태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”,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201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6.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  <p:cxnSp>
        <p:nvCxnSpPr>
          <p:cNvPr id="22" name=""/>
          <p:cNvCxnSpPr/>
          <p:nvPr/>
        </p:nvCxnSpPr>
        <p:spPr>
          <a:xfrm>
            <a:off x="3151906" y="6401468"/>
            <a:ext cx="5820511" cy="0"/>
          </a:xfrm>
          <a:prstGeom prst="line">
            <a:avLst/>
          </a:prstGeom>
          <a:noFill/>
          <a:ln w="12700" cap="flat" cmpd="sng" algn="ctr">
            <a:solidFill>
              <a:srgbClr val="808080">
                <a:alpha val="100000"/>
              </a:srgbClr>
            </a:solidFill>
            <a:prstDash val="solid"/>
          </a:ln>
        </p:spPr>
      </p:cxnSp>
      <p:sp>
        <p:nvSpPr>
          <p:cNvPr id="23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61"/>
            <a:ext cx="8922357" cy="5072959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글로벌 대기업과 스타트업의 오픈 이노베이션 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5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) 주요 업종별 오픈 이노베이션 사례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ff"/>
                </a:solidFill>
                <a:latin typeface="HY헤드라인M"/>
                <a:ea typeface="HY헤드라인M"/>
                <a:cs typeface="Arial"/>
              </a:rPr>
              <a:t>식품업계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ff"/>
              </a:solidFill>
              <a:latin typeface="HY헤드라인M"/>
              <a:ea typeface="HY헤드라인M"/>
              <a:cs typeface="Arial"/>
            </a:endParaRPr>
          </a:p>
          <a:p>
            <a:pPr marL="0" indent="0" algn="l" defTabSz="914400" rtl="0" eaLnBrk="1" latinLnBrk="1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  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(2)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대표 기업 사례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(Mondelez) 미국 식품 대기업 몬델리즈는 2010년 밀레니얼 세대를 타깃으로 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indent="763295" defTabSz="914400">
              <a:lnSpc>
                <a:spcPct val="170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오픈 이노베이션의 목표와 전략적 과제를 설정</a:t>
            </a:r>
            <a:r>
              <a:rPr lang="en-US" altLang="ko-KR" sz="1600" b="1" baseline="30000">
                <a:solidFill>
                  <a:srgbClr val="000000"/>
                </a:solidFill>
                <a:latin typeface="맑은 고딕"/>
              </a:rPr>
              <a:t>9</a:t>
            </a:r>
            <a:r>
              <a:rPr lang="ko-KR" altLang="en-US" sz="1600" b="1" baseline="30000">
                <a:solidFill>
                  <a:srgbClr val="000000"/>
                </a:solidFill>
                <a:latin typeface="맑은 고딕"/>
              </a:rPr>
              <a:t>)</a:t>
            </a:r>
            <a:endParaRPr lang="ko-KR" altLang="en-US" sz="1600" b="1" baseline="3000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10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zh-CN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목표 “단순한 제과기업에서 탈피, 건강과 웰니스를 실현하는 세계적 소비재 기업으로 </a:t>
            </a:r>
            <a:endParaRPr xmlns:mc="http://schemas.openxmlformats.org/markup-compatibility/2006" xmlns:hp="http://schemas.haansoft.com/office/presentation/8.0" kumimoji="0" lang="zh-CN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indent="1022527" defTabSz="914400">
              <a:lnSpc>
                <a:spcPct val="130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zh-CN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성장”, 과제 “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저</a:t>
            </a:r>
            <a:r>
              <a:rPr xmlns:mc="http://schemas.openxmlformats.org/markup-compatibility/2006" xmlns:hp="http://schemas.haansoft.com/office/presentation/8.0" kumimoji="0" lang="zh-CN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염·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저</a:t>
            </a:r>
            <a:r>
              <a:rPr xmlns:mc="http://schemas.openxmlformats.org/markup-compatibility/2006" xmlns:hp="http://schemas.haansoft.com/office/presentation/8.0" kumimoji="0" lang="zh-CN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포화지방, 천연의 색소·감미료로 대체” 등 구체적으로 설정</a:t>
            </a:r>
            <a:endParaRPr xmlns:mc="http://schemas.openxmlformats.org/markup-compatibility/2006" xmlns:hp="http://schemas.haansoft.com/office/presentation/8.0" kumimoji="0" lang="zh-CN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 eaLnBrk="0">
              <a:lnSpc>
                <a:spcPct val="140000"/>
              </a:lnSpc>
              <a:spcBef>
                <a:spcPts val="8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오픈 이노베이션 전담 조직을 구성</a:t>
            </a:r>
            <a:r>
              <a:rPr lang="en-US" altLang="ko-KR" sz="1600">
                <a:solidFill>
                  <a:srgbClr val="000000"/>
                </a:solidFill>
                <a:latin typeface="맑은 고딕"/>
              </a:rPr>
              <a:t>,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 오픈 이노베이션 툴 개발, 활용 방법 사내 교육</a:t>
            </a:r>
            <a:endParaRPr lang="ko-KR" altLang="en-US" sz="160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50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  <a:solidFill>
                  <a:srgbClr val="000000"/>
                </a:solidFill>
                <a:latin typeface="바탕"/>
                <a:ea typeface="바탕"/>
              </a:rPr>
              <a:t>                  * </a:t>
            </a:r>
            <a:r>
              <a:rPr lang="ko-KR" altLang="en-US" sz="1400">
                <a:solidFill>
                  <a:srgbClr val="000000"/>
                </a:solidFill>
                <a:latin typeface="바탕"/>
                <a:ea typeface="바탕"/>
              </a:rPr>
              <a:t>전담 조직 외 30명 규모의 오픈 이노베이션 커뮤니티를 구축, </a:t>
            </a:r>
            <a:endParaRPr lang="ko-KR" altLang="en-US" sz="1400">
              <a:solidFill>
                <a:srgbClr val="000000"/>
              </a:solidFill>
              <a:latin typeface="바탕"/>
              <a:ea typeface="바탕"/>
            </a:endParaRPr>
          </a:p>
          <a:p>
            <a:pPr defTabSz="914400">
              <a:lnSpc>
                <a:spcPct val="150000"/>
              </a:lnSpc>
              <a:buClr>
                <a:srgbClr val="000000"/>
              </a:buClr>
              <a:buNone/>
              <a:defRPr/>
            </a:pPr>
            <a:r>
              <a:rPr lang="en-US" altLang="ko-KR" sz="1400">
                <a:solidFill>
                  <a:srgbClr val="000000"/>
                </a:solidFill>
                <a:latin typeface="바탕"/>
                <a:ea typeface="바탕"/>
              </a:rPr>
              <a:t>                     </a:t>
            </a:r>
            <a:r>
              <a:rPr lang="ko-KR" altLang="en-US" sz="1400">
                <a:solidFill>
                  <a:srgbClr val="000000"/>
                </a:solidFill>
                <a:latin typeface="바탕"/>
                <a:ea typeface="바탕"/>
              </a:rPr>
              <a:t>매월 정기적으로 최근 가장 성공적인 오픈 이노베이션 사례 공유</a:t>
            </a:r>
            <a:endParaRPr lang="ko-KR" altLang="en-US" sz="1400">
              <a:solidFill>
                <a:srgbClr val="000000"/>
              </a:solidFill>
              <a:latin typeface="바탕"/>
              <a:ea typeface="바탕"/>
            </a:endParaRPr>
          </a:p>
          <a:p>
            <a:pPr defTabSz="914400">
              <a:lnSpc>
                <a:spcPct val="145000"/>
              </a:lnSpc>
              <a:spcBef>
                <a:spcPts val="8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대형 소매 체인점과 공동으로 ‘Shopper Futures’(쇼핑의 미래를 생각한다)라는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</a:endParaRPr>
          </a:p>
          <a:p>
            <a:pPr marL="0" indent="1047749" defTabSz="914400">
              <a:lnSpc>
                <a:spcPct val="80000"/>
              </a:lnSpc>
              <a:spcBef>
                <a:spcPts val="8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엑셀러레이터 프로그램 운영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80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  <a:solidFill>
                  <a:srgbClr val="000000"/>
                </a:solidFill>
                <a:latin typeface="바탕"/>
                <a:ea typeface="바탕"/>
              </a:rPr>
              <a:t>                  * 디지털 마케팅 영역의 스타트업과 댜앙한 실증실험을 실시   </a:t>
            </a:r>
            <a:endParaRPr xmlns:mc="http://schemas.openxmlformats.org/markup-compatibility/2006" xmlns:hp="http://schemas.haansoft.com/office/presentation/8.0" kumimoji="0" lang="ko-KR" altLang="en-US" sz="1400" i="0" u="none" strike="noStrike" kern="1200" cap="none" spc="0" normalizeH="0" baseline="0" mc:Ignorable="hp" hp:hslEmbossed="0">
              <a:solidFill>
                <a:srgbClr val="000000"/>
              </a:solidFill>
              <a:latin typeface="바탕"/>
              <a:ea typeface="바탕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3103790" y="6410993"/>
            <a:ext cx="5878286" cy="21650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9)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JOIC(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일본 오픈 이노베이션 협의회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)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  <p:cxnSp>
        <p:nvCxnSpPr>
          <p:cNvPr id="24" name=""/>
          <p:cNvCxnSpPr/>
          <p:nvPr/>
        </p:nvCxnSpPr>
        <p:spPr>
          <a:xfrm>
            <a:off x="3151906" y="6401468"/>
            <a:ext cx="5820511" cy="0"/>
          </a:xfrm>
          <a:prstGeom prst="line">
            <a:avLst/>
          </a:prstGeom>
          <a:noFill/>
          <a:ln w="12700" cap="flat" cmpd="sng" algn="ctr">
            <a:solidFill>
              <a:srgbClr val="808080">
                <a:alpha val="100000"/>
              </a:srgbClr>
            </a:solidFill>
            <a:prstDash val="solid"/>
          </a:ln>
        </p:spPr>
      </p:cxnSp>
      <p:sp>
        <p:nvSpPr>
          <p:cNvPr id="25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59"/>
            <a:ext cx="8731858" cy="4520511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글로벌 대기업과 스타트업의 오픈 이노베이션 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5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) 주요 업종별 오픈 이노베이션 사례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ff"/>
                </a:solidFill>
                <a:latin typeface="HY헤드라인M"/>
                <a:ea typeface="HY헤드라인M"/>
                <a:cs typeface="Arial"/>
              </a:rPr>
              <a:t>기계설비 업계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ff"/>
              </a:solidFill>
              <a:latin typeface="HY헤드라인M"/>
              <a:ea typeface="HY헤드라인M"/>
              <a:cs typeface="Arial"/>
            </a:endParaRPr>
          </a:p>
          <a:p>
            <a:pPr marL="0" indent="0" algn="l" defTabSz="914400" rtl="0" eaLnBrk="1" latinLnBrk="1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  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(1)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추진 배경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ja-JP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제조업 혁신 필수요소로써 제조업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에</a:t>
            </a:r>
            <a:r>
              <a:rPr xmlns:mc="http://schemas.openxmlformats.org/markup-compatibility/2006" xmlns:hp="http://schemas.haansoft.com/office/presentation/8.0" kumimoji="0" lang="ja-JP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서비스업을 융합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하여 소비자 만족도 극대화를 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indent="763295" defTabSz="914400">
              <a:lnSpc>
                <a:spcPct val="16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추구하는 </a:t>
            </a:r>
            <a:r>
              <a:rPr xmlns:mc="http://schemas.openxmlformats.org/markup-compatibility/2006" xmlns:hp="http://schemas.haansoft.com/office/presentation/8.0" kumimoji="0" lang="ja-JP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서비타이제이션(Servitization)이 확산</a:t>
            </a:r>
            <a:endParaRPr xmlns:mc="http://schemas.openxmlformats.org/markup-compatibility/2006" xmlns:hp="http://schemas.haansoft.com/office/presentation/8.0" kumimoji="0" lang="ja-JP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lnSpc>
                <a:spcPct val="55000"/>
              </a:lnSpc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제조 공정의 부가가치가 하락하는 반면, 4차 산업혁명으로 생산과 소비의 과정이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0" indent="1023937" defTabSz="914400">
              <a:lnSpc>
                <a:spcPct val="145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서로 긴밀하게 연계되어 소비자 만족도 향상을 위한 전략이 가능해짐</a:t>
            </a:r>
            <a:r>
              <a:rPr lang="en-US" altLang="ko-KR" sz="1600" baseline="30000">
                <a:solidFill>
                  <a:srgbClr val="000000"/>
                </a:solidFill>
                <a:latin typeface="맑은 고딕"/>
              </a:rPr>
              <a:t>12)</a:t>
            </a:r>
            <a:endParaRPr lang="en-US" altLang="ko-KR" sz="1600" baseline="3000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20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ja-JP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다양한 기기가 작동하는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작업</a:t>
            </a:r>
            <a:r>
              <a:rPr xmlns:mc="http://schemas.openxmlformats.org/markup-compatibility/2006" xmlns:hp="http://schemas.haansoft.com/office/presentation/8.0" kumimoji="0" lang="ja-JP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공간에서 사람이 보다 효율적이고 창조적으로 일할 수 </a:t>
            </a:r>
            <a:endParaRPr xmlns:mc="http://schemas.openxmlformats.org/markup-compatibility/2006" xmlns:hp="http://schemas.haansoft.com/office/presentation/8.0" kumimoji="0" lang="ja-JP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indent="763295" defTabSz="914400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ja-JP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있는 </a:t>
            </a:r>
            <a:r>
              <a:rPr lang="ja-JP" altLang="en-US" sz="1600" b="1">
                <a:solidFill>
                  <a:srgbClr val="000000"/>
                </a:solidFill>
                <a:latin typeface="맑은 고딕"/>
                <a:ea typeface="맑은 고딕"/>
              </a:rPr>
              <a:t>환경을</a:t>
            </a:r>
            <a:r>
              <a:rPr xmlns:mc="http://schemas.openxmlformats.org/markup-compatibility/2006" xmlns:hp="http://schemas.haansoft.com/office/presentation/8.0" kumimoji="0" lang="ja-JP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제공하는 「가치 있는 공간 서비스」 창출이 화두로 등장</a:t>
            </a:r>
            <a:endParaRPr xmlns:mc="http://schemas.openxmlformats.org/markup-compatibility/2006" xmlns:hp="http://schemas.haansoft.com/office/presentation/8.0" kumimoji="0" lang="ja-JP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lnSpc>
                <a:spcPct val="195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chemeClr val="dk1"/>
                </a:solidFill>
                <a:latin typeface="맑은 고딕"/>
              </a:rPr>
              <a:t>디지털 기술의 발전과 동시에 근년 저출산·고령화에 따른 노동인구 감소로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chemeClr val="dk1"/>
              </a:solidFill>
              <a:latin typeface="맑은 고딕"/>
            </a:endParaRPr>
          </a:p>
          <a:p>
            <a:pPr indent="1026128" defTabSz="914400">
              <a:lnSpc>
                <a:spcPct val="125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chemeClr val="dk1"/>
                </a:solidFill>
                <a:latin typeface="맑은 고딕"/>
              </a:rPr>
              <a:t>기업에게 ‘근로 방식의 개혁’, ‘근로자 건강을 배려한 경영’ 등의 대응이 요구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chemeClr val="dk1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103790" y="6449093"/>
            <a:ext cx="5878286" cy="21650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12)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하나금융경영연구소, “제조업과 서비스업의 융합, Servitization”, 2018.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  <p:cxnSp>
        <p:nvCxnSpPr>
          <p:cNvPr id="22" name=""/>
          <p:cNvCxnSpPr/>
          <p:nvPr/>
        </p:nvCxnSpPr>
        <p:spPr>
          <a:xfrm>
            <a:off x="3151906" y="6401468"/>
            <a:ext cx="5820511" cy="0"/>
          </a:xfrm>
          <a:prstGeom prst="line">
            <a:avLst/>
          </a:prstGeom>
          <a:noFill/>
          <a:ln w="12700" cap="flat" cmpd="sng" algn="ctr">
            <a:solidFill>
              <a:srgbClr val="808080">
                <a:alpha val="100000"/>
              </a:srgbClr>
            </a:solidFill>
            <a:prstDash val="solid"/>
          </a:ln>
        </p:spPr>
      </p:cxnSp>
      <p:sp>
        <p:nvSpPr>
          <p:cNvPr id="23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59"/>
            <a:ext cx="8731858" cy="2044011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글로벌 대기업과 스타트업의 오픈 이노베이션 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5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) 주요 업종별 오픈 이노베이션 사례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ff"/>
                </a:solidFill>
                <a:latin typeface="HY헤드라인M"/>
                <a:ea typeface="HY헤드라인M"/>
                <a:cs typeface="Arial"/>
              </a:rPr>
              <a:t>기계설비 업계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ff"/>
              </a:solidFill>
              <a:latin typeface="HY헤드라인M"/>
              <a:ea typeface="HY헤드라인M"/>
              <a:cs typeface="Arial"/>
            </a:endParaRPr>
          </a:p>
          <a:p>
            <a:pPr marL="0" indent="0" algn="l" defTabSz="914400" rtl="0" eaLnBrk="1" latinLnBrk="1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  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(2)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대표 기업 사례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zh-CN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(DAIKIN) 에어컨 등 공조(空氣調節)설비를 생산하는 일본 다이킨공업은 공조 이외 </a:t>
            </a:r>
            <a:endParaRPr xmlns:mc="http://schemas.openxmlformats.org/markup-compatibility/2006" xmlns:hp="http://schemas.haansoft.com/office/presentation/8.0" kumimoji="0" lang="zh-CN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indent="763295" defTabSz="914400">
              <a:lnSpc>
                <a:spcPct val="16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분야에서 IoT, AI 등을 활용한 신사업 창출을 목표로 오픈 이노베이션을 추진</a:t>
            </a:r>
            <a:r>
              <a:rPr lang="en-US" altLang="ko-KR" sz="1600" b="1" baseline="30000">
                <a:solidFill>
                  <a:srgbClr val="000000"/>
                </a:solidFill>
                <a:latin typeface="맑은 고딕"/>
              </a:rPr>
              <a:t>13)</a:t>
            </a:r>
            <a:endParaRPr lang="en-US" altLang="ko-KR" sz="1600" b="1" baseline="3000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103790" y="6449093"/>
            <a:ext cx="5878286" cy="340327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13)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zh-CN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日마이니찌신문,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“</a:t>
            </a:r>
            <a:r>
              <a:rPr xmlns:mc="http://schemas.openxmlformats.org/markup-compatibility/2006" xmlns:hp="http://schemas.haansoft.com/office/presentation/8.0" kumimoji="0" lang="zh-CN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공간 데이터의 협창 플랫폼 『CRESNECT』을 활용한 ｢미래 오피스 공간｣ </a:t>
            </a:r>
            <a:endParaRPr xmlns:mc="http://schemas.openxmlformats.org/markup-compatibility/2006" xmlns:hp="http://schemas.haansoft.com/office/presentation/8.0" kumimoji="0" lang="zh-CN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    </a:t>
            </a:r>
            <a:r>
              <a:rPr xmlns:mc="http://schemas.openxmlformats.org/markup-compatibility/2006" xmlns:hp="http://schemas.haansoft.com/office/presentation/8.0" kumimoji="0" lang="zh-CN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조성을 시작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”</a:t>
            </a:r>
            <a:r>
              <a:rPr xmlns:mc="http://schemas.openxmlformats.org/markup-compatibility/2006" xmlns:hp="http://schemas.haansoft.com/office/presentation/8.0" kumimoji="0" lang="zh-CN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, 2018.</a:t>
            </a:r>
            <a:endParaRPr xmlns:mc="http://schemas.openxmlformats.org/markup-compatibility/2006" xmlns:hp="http://schemas.haansoft.com/office/presentation/8.0" kumimoji="0" lang="zh-CN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  <p:cxnSp>
        <p:nvCxnSpPr>
          <p:cNvPr id="22" name=""/>
          <p:cNvCxnSpPr/>
          <p:nvPr/>
        </p:nvCxnSpPr>
        <p:spPr>
          <a:xfrm>
            <a:off x="3151906" y="6401468"/>
            <a:ext cx="5820511" cy="0"/>
          </a:xfrm>
          <a:prstGeom prst="line">
            <a:avLst/>
          </a:prstGeom>
          <a:noFill/>
          <a:ln w="12700" cap="flat" cmpd="sng" algn="ctr">
            <a:solidFill>
              <a:srgbClr val="808080">
                <a:alpha val="100000"/>
              </a:srgbClr>
            </a:solidFill>
            <a:prstDash val="solid"/>
          </a:ln>
        </p:spPr>
      </p:cxnSp>
      <p:graphicFrame>
        <p:nvGraphicFramePr>
          <p:cNvPr id="24" name=""/>
          <p:cNvGraphicFramePr>
            <a:graphicFrameLocks noGrp="1"/>
          </p:cNvGraphicFramePr>
          <p:nvPr/>
        </p:nvGraphicFramePr>
        <p:xfrm>
          <a:off x="1009721" y="3295650"/>
          <a:ext cx="7357110" cy="30403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640205"/>
                <a:gridCol w="5716905"/>
              </a:tblGrid>
              <a:tr h="145732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latin typeface="맑은 고딕"/>
                        </a:rPr>
                        <a:t>기업명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latin typeface="맑은 고딕"/>
                        </a:rPr>
                        <a:t>참가 목적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</a:tr>
              <a:tr h="24574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latin typeface="맑은 고딕"/>
                        </a:rPr>
                        <a:t>다이킨공업</a:t>
                      </a:r>
                      <a:endParaRPr lang="ko-KR" altLang="en-US" sz="1300"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1300">
                          <a:latin typeface="맑은 고딕"/>
                        </a:rPr>
                        <a:t>(공조설비)</a:t>
                      </a:r>
                      <a:endParaRPr lang="en-US" altLang="ko-KR" sz="1300">
                        <a:latin typeface="맑은 고딕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300">
                          <a:latin typeface="맑은 고딕"/>
                        </a:rPr>
                        <a:t>서로 다은 업종 기업과 연대하여 ‘공조 설비를 허브로 한 새로운 비즈니스 솔루션 창출’을 추진 </a:t>
                      </a:r>
                      <a:endParaRPr lang="en-US" altLang="ko-KR" sz="1300">
                        <a:latin typeface="맑은 고딕"/>
                      </a:endParaRPr>
                    </a:p>
                  </a:txBody>
                  <a:tcPr marL="91440" marR="91440" anchor="ctr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4574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latin typeface="맑은 고딕"/>
                        </a:rPr>
                        <a:t>오카무라</a:t>
                      </a:r>
                      <a:endParaRPr lang="ko-KR" altLang="en-US" sz="1300"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1300">
                          <a:latin typeface="맑은 고딕"/>
                        </a:rPr>
                        <a:t>(가구/사무용설비)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indent="0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센서를 탑재한 오피스가구의 개발 실증. 취득한 빅데이터를 활용한 새로운 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marL="0" indent="0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서비스 개발 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4574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소프트뱅크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(IT)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indent="0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실내 IoT 데이터의 수집/가시화/AI분석 등 최신 기술 제공을 통한 디지털 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marL="0" indent="0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트렌스포메이션 추진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4574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미쯔이물산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(부동산개발)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indent="0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임대·관리하는 약 500개사 오피스에 토탈 솔루션 서비스를 제공할 계획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45744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도쿄해상일동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화재보험 (보험)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indent="0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오피스 사용자의 다양한 데이터를 축적, 스트레스의 정도와 집중도를 분석, 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marL="0" indent="0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휴식시간 공지 등 새로운 솔루션을 개발 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45744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라이온(소비재)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indent="0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오피스 이용자의 헬스케어 관련 새로운 서비스 개발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59"/>
            <a:ext cx="8731858" cy="489198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글로벌 대기업과 스타트업의 오픈 이노베이션 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5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) 주요 업종별 오픈 이노베이션 사례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ff"/>
                </a:solidFill>
                <a:latin typeface="HY헤드라인M"/>
                <a:ea typeface="HY헤드라인M"/>
                <a:cs typeface="Arial"/>
              </a:rPr>
              <a:t>명품 소비재 업계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ff"/>
              </a:solidFill>
              <a:latin typeface="HY헤드라인M"/>
              <a:ea typeface="HY헤드라인M"/>
              <a:cs typeface="Arial"/>
            </a:endParaRPr>
          </a:p>
          <a:p>
            <a:pPr marL="0" indent="0" algn="l" defTabSz="914400" rtl="0" eaLnBrk="1" latinLnBrk="1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  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(1)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추진 배경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ja-JP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명품 비즈니스의 경우 「글로벌화」와 「희소성」이라는 두 개의 상반된 요소 간 </a:t>
            </a:r>
            <a:endParaRPr xmlns:mc="http://schemas.openxmlformats.org/markup-compatibility/2006" xmlns:hp="http://schemas.haansoft.com/office/presentation/8.0" kumimoji="0" lang="ja-JP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indent="763295" defTabSz="914400">
              <a:lnSpc>
                <a:spcPct val="16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밸런스를 유지하는 것이 관건임 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55000"/>
              </a:lnSpc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zh-CN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명품 브랜드는 ‘장인(匠人)의 고품질 생산’이라는 </a:t>
            </a:r>
            <a:r>
              <a:rPr xmlns:mc="http://schemas.openxmlformats.org/markup-compatibility/2006" xmlns:hp="http://schemas.haansoft.com/office/presentation/8.0" kumimoji="0" lang="zh-CN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｢</a:t>
            </a:r>
            <a:r>
              <a:rPr xmlns:mc="http://schemas.openxmlformats.org/markup-compatibility/2006" xmlns:hp="http://schemas.haansoft.com/office/presentation/8.0" kumimoji="0" lang="zh-CN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희소성</a:t>
            </a:r>
            <a:r>
              <a:rPr xmlns:mc="http://schemas.openxmlformats.org/markup-compatibility/2006" xmlns:hp="http://schemas.haansoft.com/office/presentation/8.0" kumimoji="0" lang="zh-CN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｣</a:t>
            </a:r>
            <a:r>
              <a:rPr xmlns:mc="http://schemas.openxmlformats.org/markup-compatibility/2006" xmlns:hp="http://schemas.haansoft.com/office/presentation/8.0" kumimoji="0" lang="zh-CN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이 판매 전략인데, </a:t>
            </a:r>
            <a:endParaRPr xmlns:mc="http://schemas.openxmlformats.org/markup-compatibility/2006" xmlns:hp="http://schemas.haansoft.com/office/presentation/8.0" kumimoji="0" lang="zh-CN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1023937" defTabSz="914400">
              <a:lnSpc>
                <a:spcPct val="145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글로벌화를 추진할 경우 생산량 확대가 불가피하여 희소성을 상실할 우려가 있음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20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명품 소비재도 디지털 기술을 활용하면 고객 데이터를 기반으로 개인의</a:t>
            </a:r>
            <a:r>
              <a:rPr xmlns:mc="http://schemas.openxmlformats.org/markup-compatibility/2006" xmlns:hp="http://schemas.haansoft.com/office/presentation/8.0" kumimoji="0" lang="ja-JP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퍼스널리티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indent="763295" defTabSz="914400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(personality)에 맞춘 제품을 생산하여 전자상거래를 통해 글로벌 판매가 가능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lnSpc>
                <a:spcPct val="195000"/>
              </a:lnSpc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chemeClr val="dk1"/>
                </a:solidFill>
                <a:latin typeface="맑은 고딕"/>
              </a:rPr>
              <a:t>럭셔리 브랜드의 주요 고객층으로 부상한 밀레니얼 세대는 개성이 뚜렷한 반면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chemeClr val="dk1"/>
              </a:solidFill>
              <a:latin typeface="맑은 고딕"/>
            </a:endParaRPr>
          </a:p>
          <a:p>
            <a:pPr indent="1026128" defTabSz="914400">
              <a:lnSpc>
                <a:spcPct val="125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chemeClr val="dk1"/>
                </a:solidFill>
                <a:latin typeface="맑은 고딕"/>
              </a:rPr>
              <a:t>고가 명품에 대한 소비 여력이 충분하지 않아 기성세대에서 사랑받는 전통적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chemeClr val="dk1"/>
              </a:solidFill>
              <a:latin typeface="맑은 고딕"/>
            </a:endParaRPr>
          </a:p>
          <a:p>
            <a:pPr indent="1026128" defTabSz="9144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chemeClr val="dk1"/>
                </a:solidFill>
                <a:latin typeface="맑은 고딕"/>
              </a:rPr>
              <a:t>명품 브랜드에 대한 관심이 크지 않음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chemeClr val="dk1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58"/>
            <a:ext cx="8731858" cy="4053787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글로벌 대기업과 스타트업의 오픈 이노베이션 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5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) 주요 업종별 오픈 이노베이션 사례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ff"/>
                </a:solidFill>
                <a:latin typeface="HY헤드라인M"/>
                <a:ea typeface="HY헤드라인M"/>
                <a:cs typeface="Arial"/>
              </a:rPr>
              <a:t>명품 소비재 업계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ff"/>
              </a:solidFill>
              <a:latin typeface="HY헤드라인M"/>
              <a:ea typeface="HY헤드라인M"/>
              <a:cs typeface="Arial"/>
            </a:endParaRPr>
          </a:p>
          <a:p>
            <a:pPr marL="0" indent="0" algn="l" defTabSz="914400" rtl="0" eaLnBrk="1" latinLnBrk="1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  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(2)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대표 기업 사례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(LVMH) 프랑스에 본사를 둔 명품 소비재 대표기업 루이비통은 럭셔리 브랜드를 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indent="763295" defTabSz="914400">
              <a:lnSpc>
                <a:spcPct val="16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계속 매수해서 6개 섹터의 콩글로메리트(복합기업) 체제로 발전</a:t>
            </a:r>
            <a:endParaRPr lang="en-US" altLang="ko-KR" sz="1600" b="1" baseline="3000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55000"/>
              </a:lnSpc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젊은 층이 LMVH 브랜드에 친숙하도록 하기 위해 2009년 디지털 매거진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indent="1022527" defTabSz="914400">
              <a:lnSpc>
                <a:spcPct val="16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ja-JP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｢</a:t>
            </a:r>
            <a:r>
              <a:rPr xmlns:mc="http://schemas.openxmlformats.org/markup-compatibility/2006" xmlns:hp="http://schemas.haansoft.com/office/presentation/8.0" kumimoji="0" lang="ja-JP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NOWNESS.com</a:t>
            </a:r>
            <a:r>
              <a:rPr xmlns:mc="http://schemas.openxmlformats.org/markup-compatibility/2006" xmlns:hp="http://schemas.haansoft.com/office/presentation/8.0" kumimoji="0" lang="ja-JP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｣</a:t>
            </a:r>
            <a:r>
              <a:rPr xmlns:mc="http://schemas.openxmlformats.org/markup-compatibility/2006" xmlns:hp="http://schemas.haansoft.com/office/presentation/8.0" kumimoji="0" lang="ja-JP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를 시작했는데, 단순한 온라인 판매 사이트가 아니라 </a:t>
            </a:r>
            <a:endParaRPr xmlns:mc="http://schemas.openxmlformats.org/markup-compatibility/2006" xmlns:hp="http://schemas.haansoft.com/office/presentation/8.0" kumimoji="0" lang="ja-JP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indent="1022527" defTabSz="914400">
              <a:lnSpc>
                <a:spcPct val="16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ja-JP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‘럭셔리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관련 무료 학습 공간’으로 기능</a:t>
            </a:r>
            <a:r>
              <a:rPr xmlns:mc="http://schemas.openxmlformats.org/markup-compatibility/2006" xmlns:hp="http://schemas.haansoft.com/office/presentation/8.0" kumimoji="0" lang="ja-JP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‘럭셔리 </a:t>
            </a:r>
            <a:endParaRPr xmlns:mc="http://schemas.openxmlformats.org/markup-compatibility/2006" xmlns:hp="http://schemas.haansoft.com/office/presentation/8.0" kumimoji="0" lang="ja-JP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lnSpc>
                <a:spcPct val="55000"/>
              </a:lnSpc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LVMH Innovation Award는 아직 시장에 입성하지 못한 스타트업들을 발굴하여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1023937" defTabSz="914400">
              <a:lnSpc>
                <a:spcPct val="165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창의적 아이디어를 지원함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58"/>
            <a:ext cx="8731858" cy="319987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글로벌 대기업의 오픈 이노베이션 전략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</p:txBody>
      </p:sp>
      <p:graphicFrame>
        <p:nvGraphicFramePr>
          <p:cNvPr id="25" name=""/>
          <p:cNvGraphicFramePr>
            <a:graphicFrameLocks noGrp="1"/>
          </p:cNvGraphicFramePr>
          <p:nvPr/>
        </p:nvGraphicFramePr>
        <p:xfrm>
          <a:off x="325210" y="1758554"/>
          <a:ext cx="8446289" cy="4218023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28147"/>
                <a:gridCol w="984105"/>
                <a:gridCol w="704185"/>
                <a:gridCol w="1431605"/>
                <a:gridCol w="4598247"/>
              </a:tblGrid>
              <a:tr h="217976"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</a:rPr>
                        <a:t>구분</a:t>
                      </a:r>
                      <a:endParaRPr lang="ko-KR" altLang="en-US" sz="8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6805" marB="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</a:rPr>
                        <a:t>전략</a:t>
                      </a:r>
                      <a:endParaRPr lang="ko-KR" altLang="en-US" sz="8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</a:rPr>
                        <a:t>업종</a:t>
                      </a:r>
                      <a:endParaRPr lang="ko-KR" altLang="en-US" sz="8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</a:rPr>
                        <a:t>기업명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</a:rPr>
                        <a:t>본사 소재국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US" altLang="ko-KR" sz="8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</a:rPr>
                        <a:t>내      용</a:t>
                      </a:r>
                      <a:endParaRPr lang="ko-KR" altLang="en-US" sz="8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</a:tr>
              <a:tr h="217976">
                <a:tc rowSpan="6"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오픈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이노베이션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추진 체제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rowSpan="2"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전담 조직 발족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제약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Johnson &amp; Johnson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미국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0011" tIns="46805" rIns="91440" bIns="0" anchor="ctr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Johnson &amp; johnson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Innocaion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을 설립하여 횡적 기능 연계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,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대외 창구를 일원화</a:t>
                      </a:r>
                      <a:endParaRPr lang="ko-KR" altLang="en-US" sz="800" spc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0011" marR="91440" marT="4680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94455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완구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LEGO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               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덴마크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신설 전담 조직은 오픈 이노베이션 선두기업 사례조사 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→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자사 업무분석 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→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실증 프로젝트 수행</a:t>
                      </a:r>
                      <a:endParaRPr lang="ko-KR" altLang="en-US" sz="800" spc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17976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rowSpan="2"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다양한 인력 구성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&amp;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주기적 순환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화학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BASF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  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             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독일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전담 팀의 인력은 기술 외 마케팅과 재무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,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법무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,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지재 관련 등 다양한 출신으로 구성</a:t>
                      </a:r>
                      <a:endParaRPr lang="ko-KR" altLang="en-US" sz="800" spc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17976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제과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MORINAGA 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       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(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일본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직원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공모로 선발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을 투자하는 스타트업에 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1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년간 파견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.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내부 이노베이션 문화확산에 기여</a:t>
                      </a:r>
                      <a:endParaRPr lang="ko-KR" altLang="en-US" sz="800" spc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17976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rowSpan="2"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Top-down &amp;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Bottom-up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병행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화학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Teijin   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             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(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일본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탑다운으로 중장기 이노베이션 전략을 결정 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→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바텀업으로 세부 프로젝트 테마를 모집</a:t>
                      </a:r>
                      <a:endParaRPr lang="ko-KR" altLang="en-US" sz="800" spc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17976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전자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Sony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  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           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(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일본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‘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신사업은 사장 직관에 따름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’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의 공감대 형성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.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전담팀에 신사업 추진의 권한과 책임을 이양</a:t>
                      </a:r>
                      <a:endParaRPr lang="ko-KR" altLang="en-US" sz="800" spc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17976">
                <a:tc rowSpan="6"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오픈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이노베이션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동기 유발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rowSpan="2"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유연하고 과감한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인센티브 제도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제과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Mondelez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     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  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(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미국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R&amp;D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성과 평가 시 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‘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외부 기술 활용 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=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직접 개발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’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으로 판단</a:t>
                      </a:r>
                      <a:endParaRPr lang="ko-KR" altLang="en-US" sz="800" spc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17976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화학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BASF  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         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  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(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독일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외부 스타트업을 탐색했으나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,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사업성 부족 등으로 연계까지 못간 경우도 성공으로 판단</a:t>
                      </a:r>
                      <a:endParaRPr lang="ko-KR" altLang="en-US" sz="800" spc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17976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rowSpan="2"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커뮤니티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&amp;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내부 교육 강화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헬스케어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Philips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      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 (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네덜란드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내부적으로 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‘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왜 오픈 이노베이션을 하는가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?’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에 대해 공감대 형성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.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성공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·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실패한 기업의 사례 학습</a:t>
                      </a:r>
                      <a:endParaRPr lang="ko-KR" altLang="en-US" sz="800" spc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17976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제과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Mondelez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    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   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(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미국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이노베이션 커뮤니티를 조직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.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이노베이션 매니저 후보자 대상의 별도 교육 프로그램 운영</a:t>
                      </a:r>
                      <a:endParaRPr lang="ko-KR" altLang="en-US" sz="800" spc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17976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rowSpan="2"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CEO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의 공개적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관심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&amp;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지지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자동차부품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DENSO   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  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    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 (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일본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‘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임원의 오픈 이노베이션 공개적 지지 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→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실무자 동기유발 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&amp;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새로운 도전 증가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’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선순환 구조 확립</a:t>
                      </a:r>
                      <a:endParaRPr lang="ko-KR" altLang="en-US" sz="800" spc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17976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공조설비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DAIKIN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   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      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 (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일본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CEO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가 오픈 이노베이션의 중요성을 반복적으로 강조</a:t>
                      </a:r>
                      <a:endParaRPr lang="ko-KR" altLang="en-US" sz="800" spc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17976">
                <a:tc rowSpan="6"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고객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·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사회發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이노베이션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rowSpan="2"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고객과 소통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&amp;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정보 공개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명품소비재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LVMH     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    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   (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프랑스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내부 경영과제인 동시에 사회적 과제인 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‘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위조품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’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대응을 이노베이션 과제로 공모</a:t>
                      </a:r>
                      <a:endParaRPr lang="ko-KR" altLang="en-US" sz="800" spc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17976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제약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Roche       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     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(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스위스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오픈 이노베이션 외부자문위원단 운영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.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온앤오프 채널 동시 가동</a:t>
                      </a:r>
                      <a:endParaRPr lang="ko-KR" altLang="en-US" sz="800" spc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17976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rowSpan="2"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고객 간련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빅데이터 확보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유통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LOWSON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           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(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일본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E-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커머스 기업의 고객 빅데이터와 식품가공 거래처 기술력을 활용하여 신상품 개발</a:t>
                      </a:r>
                      <a:endParaRPr lang="ko-KR" altLang="en-US" sz="800" spc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17976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제약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Roche  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   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    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(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스위스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환자 빅데이터를 보유한 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AI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스타트업 인수</a:t>
                      </a:r>
                      <a:endParaRPr lang="ko-KR" altLang="en-US" sz="800" spc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17976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rowSpan="2"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외부 플랫폼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활용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화학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TORAY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  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     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   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 (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일본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글로벌 오픈 이노베이션 플랫폼 서비스 기업 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‘NineSigma’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활용</a:t>
                      </a:r>
                      <a:endParaRPr lang="ko-KR" altLang="en-US" sz="800" spc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17976"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사무기기</a:t>
                      </a:r>
                      <a:endParaRPr lang="ko-KR" altLang="en-US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Fuji Xerox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     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      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 (</a:t>
                      </a:r>
                      <a:r>
                        <a:rPr lang="ko-KR" altLang="en-US" sz="800">
                          <a:solidFill>
                            <a:schemeClr val="dk1"/>
                          </a:solidFill>
                          <a:latin typeface="맑은 고딕"/>
                        </a:rPr>
                        <a:t>일본</a:t>
                      </a:r>
                      <a:r>
                        <a:rPr lang="en-US" altLang="ko-KR" sz="80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lang="en-US" altLang="ko-KR" sz="8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 anchorCtr="1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6805" rIns="91440" bIns="0" anchor="ctr" anchorCtr="0">
                      <a:sp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최종 소비자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고객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가 참여하는 공동창조 플랫폼 </a:t>
                      </a:r>
                      <a:r>
                        <a:rPr lang="en-US" altLang="ko-KR" sz="800" spc="0">
                          <a:solidFill>
                            <a:schemeClr val="dk1"/>
                          </a:solidFill>
                          <a:latin typeface="맑은 고딕"/>
                        </a:rPr>
                        <a:t>‘Wemalk’</a:t>
                      </a:r>
                      <a:r>
                        <a:rPr lang="ko-KR" altLang="en-US" sz="800" spc="0">
                          <a:solidFill>
                            <a:schemeClr val="dk1"/>
                          </a:solidFill>
                          <a:latin typeface="맑은 고딕"/>
                        </a:rPr>
                        <a:t> 활용</a:t>
                      </a:r>
                      <a:endParaRPr lang="ko-KR" altLang="en-US" sz="800" spc="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marT="4680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"/>
          <p:cNvSpPr txBox="1"/>
          <p:nvPr/>
        </p:nvSpPr>
        <p:spPr>
          <a:xfrm>
            <a:off x="2084352" y="6042983"/>
            <a:ext cx="4190582" cy="26066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algn="ctr" defTabSz="914400">
              <a:lnSpc>
                <a:spcPct val="85000"/>
              </a:lnSpc>
              <a:spcBef>
                <a:spcPts val="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&lt; 표 </a:t>
            </a:r>
            <a:r>
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6</a:t>
            </a: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&gt; 글로벌 대기업의 오픈 이노베이션 전략</a:t>
            </a:r>
            <a:r>
              <a:rPr lang="en-US" altLang="ko-KR" sz="1300" baseline="30000">
                <a:solidFill>
                  <a:srgbClr val="000000"/>
                </a:solidFill>
                <a:effectLst/>
                <a:latin typeface="맑은 고딕"/>
              </a:rPr>
              <a:t>4)</a:t>
            </a:r>
            <a:endParaRPr lang="en-US" altLang="ko-KR" sz="1300" baseline="30000">
              <a:solidFill>
                <a:srgbClr val="000000"/>
              </a:solidFill>
              <a:effectLst/>
              <a:latin typeface="맑은 고딕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3103790" y="6420518"/>
            <a:ext cx="6441002" cy="340327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4) “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글로벌 대기업과 스타트업의 오픈 이노베이션 현황 및 시사점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”,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한국무역협회 국제무역연구원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2019.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  <p:cxnSp>
        <p:nvCxnSpPr>
          <p:cNvPr id="29" name=""/>
          <p:cNvCxnSpPr/>
          <p:nvPr/>
        </p:nvCxnSpPr>
        <p:spPr>
          <a:xfrm>
            <a:off x="3151906" y="6401468"/>
            <a:ext cx="5820511" cy="0"/>
          </a:xfrm>
          <a:prstGeom prst="line">
            <a:avLst/>
          </a:prstGeom>
          <a:noFill/>
          <a:ln w="12700" cap="flat" cmpd="sng" algn="ctr">
            <a:solidFill>
              <a:srgbClr val="808080">
                <a:alpha val="100000"/>
              </a:srgbClr>
            </a:solidFill>
            <a:prstDash val="solid"/>
          </a:ln>
        </p:spPr>
      </p:cxnSp>
      <p:sp>
        <p:nvSpPr>
          <p:cNvPr id="30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57"/>
            <a:ext cx="8731858" cy="4453837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3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오픈 이노베이션의 우수사례</a:t>
            </a:r>
            <a:r>
              <a:rPr lang="en-US" altLang="ko-KR" sz="1800" baseline="30000">
                <a:solidFill>
                  <a:srgbClr val="3057b9"/>
                </a:solidFill>
                <a:latin typeface="HY헤드라인M"/>
                <a:ea typeface="HY헤드라인M"/>
              </a:rPr>
              <a:t>1)</a:t>
            </a:r>
            <a:endPara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)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P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&amp;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G :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연계개발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(Connect and Develop, C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&amp;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D)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도입 사례 </a:t>
            </a:r>
            <a:endPara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5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재정위기에 따른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CEO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교체 및 연계개발의 탄생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spcBef>
                <a:spcPts val="15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2000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년 목표 수익 미달성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주가가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1/3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로 하락하여 재정위기 직면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뷰티케어 사업부를 이끌던 래플리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(A.</a:t>
            </a:r>
            <a:r>
              <a:rPr lang="en-US" altLang="ko-KR" sz="1600">
                <a:solidFill>
                  <a:srgbClr val="000000"/>
                </a:solidFill>
                <a:latin typeface="맑은 고딕"/>
              </a:rPr>
              <a:t> G. Lafley)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로 </a:t>
            </a:r>
            <a:r>
              <a:rPr lang="en-US" altLang="ko-KR" sz="1600">
                <a:solidFill>
                  <a:srgbClr val="000000"/>
                </a:solidFill>
                <a:latin typeface="맑은 고딕"/>
              </a:rPr>
              <a:t>CEO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 교체</a:t>
            </a:r>
            <a:endParaRPr lang="en-US" altLang="ko-KR" sz="1600">
              <a:solidFill>
                <a:srgbClr val="000000"/>
              </a:solidFill>
              <a:latin typeface="맑은 고딕"/>
            </a:endParaRPr>
          </a:p>
          <a:p>
            <a:pPr marL="1044130" defTabSz="914400">
              <a:spcBef>
                <a:spcPts val="1000"/>
              </a:spcBef>
              <a:buClr>
                <a:srgbClr val="000000"/>
              </a:buClr>
              <a:buNone/>
              <a:defRPr/>
            </a:pPr>
            <a:r>
              <a:rPr lang="en-US" altLang="ko-KR" sz="1600">
                <a:solidFill>
                  <a:srgbClr val="000000"/>
                </a:solidFill>
                <a:latin typeface="맑은 고딕"/>
              </a:rPr>
              <a:t>→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 뷰티케어 부분에서 오픈 이노베이션으로 새로운 사업을 성장시킨 것을 확인</a:t>
            </a:r>
            <a:r>
              <a:rPr lang="en-US" altLang="ko-KR" sz="1600">
                <a:solidFill>
                  <a:srgbClr val="000000"/>
                </a:solidFill>
                <a:latin typeface="맑은 고딕"/>
              </a:rPr>
              <a:t>,</a:t>
            </a:r>
            <a:endParaRPr lang="en-US" altLang="ko-KR" sz="1600">
              <a:solidFill>
                <a:srgbClr val="000000"/>
              </a:solidFill>
              <a:latin typeface="맑은 고딕"/>
            </a:endParaRPr>
          </a:p>
          <a:p>
            <a:pPr marL="1044130" defTabSz="914400">
              <a:spcBef>
                <a:spcPts val="500"/>
              </a:spcBef>
              <a:buClr>
                <a:srgbClr val="000000"/>
              </a:buClr>
              <a:buNone/>
              <a:defRPr/>
            </a:pP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    비슷한 접근법이 기업 전체에 이익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을 가져다 줄 것이라 확신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C&amp;D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는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P&amp;G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가 창안하여 채택한 오픈 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이노베이션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모델로</a:t>
            </a:r>
            <a:endPara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spcBef>
                <a:spcPts val="10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         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외부에서 개발된 지적재산권에 접근하고 내부에서 개발된 자산과 노하우를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spcBef>
                <a:spcPts val="10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              외부에서 사용하도록 하는 것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이라고 정의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오픈 이노베이션으로 상당한 비용과 시간 절감 효과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기고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(2006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년 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HBR)</a:t>
            </a:r>
            <a:r>
              <a:rPr lang="en-US" altLang="ko-KR" sz="1600" baseline="30000">
                <a:solidFill>
                  <a:schemeClr val="tx1"/>
                </a:solidFill>
                <a:latin typeface="맑은 고딕"/>
              </a:rPr>
              <a:t>14)</a:t>
            </a:r>
            <a:endParaRPr lang="en-US" altLang="ko-KR" sz="1600" baseline="30000">
              <a:solidFill>
                <a:schemeClr val="tx1"/>
              </a:solidFill>
              <a:latin typeface="맑은 고딕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3103790" y="6410993"/>
            <a:ext cx="6441002" cy="473677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1) 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Henry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W. 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Chesbrough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오픈 이노베이션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‘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혁신을 추구하는 기업의 선택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”,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에딧더월드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2021.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14) Larry Huston and Nabil Sakkab, “Connect and Develop. Inside Procter and Gamble’s New Model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    for Innovation”, Harvard Business Review, 2006.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  <p:cxnSp>
        <p:nvCxnSpPr>
          <p:cNvPr id="24" name=""/>
          <p:cNvCxnSpPr/>
          <p:nvPr/>
        </p:nvCxnSpPr>
        <p:spPr>
          <a:xfrm>
            <a:off x="3151906" y="6401468"/>
            <a:ext cx="5820511" cy="0"/>
          </a:xfrm>
          <a:prstGeom prst="line">
            <a:avLst/>
          </a:prstGeom>
          <a:noFill/>
          <a:ln w="12700" cap="flat" cmpd="sng" algn="ctr">
            <a:solidFill>
              <a:srgbClr val="808080">
                <a:alpha val="100000"/>
              </a:srgbClr>
            </a:solidFill>
            <a:prstDash val="solid"/>
          </a:ln>
        </p:spPr>
      </p:cxnSp>
      <p:sp>
        <p:nvSpPr>
          <p:cNvPr id="25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57"/>
            <a:ext cx="8731858" cy="503486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3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오픈 이노베이션의 우수사례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)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P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&amp;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G :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연계개발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(Connect and Develop, C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&amp;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D)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도입 사례 </a:t>
            </a:r>
            <a:endPara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5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프링글스에 식용 인쇄기술을 적용하기 위한 협력 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spcBef>
                <a:spcPts val="15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프링글스 칩마다 그림과 글자를 넣을 방안 모색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식용염료와 인쇄기술을 연구 하는 방안 </a:t>
            </a:r>
            <a:r>
              <a:rPr lang="en-US" altLang="ko-KR" sz="1600">
                <a:solidFill>
                  <a:srgbClr val="000000"/>
                </a:solidFill>
                <a:latin typeface="맑은 고딕"/>
              </a:rPr>
              <a:t>→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 예산과 시간 필요</a:t>
            </a:r>
            <a:endParaRPr lang="en-US" altLang="ko-KR" sz="1600">
              <a:solidFill>
                <a:srgbClr val="000000"/>
              </a:solidFill>
              <a:latin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이탈리아의 한 빵집에서 케이크와 쿠키에 메시지를 인쇄하는 인크젯 방식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발견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빵집과 협력하여 프링글스에 식용 인쇄기술을 적용 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→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저예산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절반의 시간 투자</a:t>
            </a:r>
            <a:endPara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</a:endParaRPr>
          </a:p>
          <a:p>
            <a:pPr defTabSz="914400">
              <a:lnSpc>
                <a:spcPct val="85000"/>
              </a:lnSpc>
              <a:spcBef>
                <a:spcPts val="5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타 기업에 자사 기술을 라이선스 하여 수익 창출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spcBef>
                <a:spcPts val="15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클로록스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(Clorox)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와의 합작회사인 글래드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(Glad),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10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억달러 브랜드 달성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720090" defTabSz="914400">
              <a:spcBef>
                <a:spcPts val="15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→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-100" normalizeH="0" baseline="0" mc:Ignorable="hp" hp:hslEmbossed="0">
                <a:solidFill>
                  <a:srgbClr val="000000"/>
                </a:solidFill>
                <a:latin typeface="맑은 고딕"/>
              </a:rPr>
              <a:t>P&amp;G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-100" normalizeH="0" baseline="0" mc:Ignorable="hp" hp:hslEmbossed="0">
                <a:solidFill>
                  <a:srgbClr val="000000"/>
                </a:solidFill>
                <a:latin typeface="맑은 고딕"/>
              </a:rPr>
              <a:t>는 제조기술 제공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-10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-100" normalizeH="0" baseline="0" mc:Ignorable="hp" hp:hslEmbossed="0">
                <a:solidFill>
                  <a:srgbClr val="000000"/>
                </a:solidFill>
                <a:latin typeface="맑은 고딕"/>
              </a:rPr>
              <a:t> 클로록스는 브랜드와 제품제공으로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-100" normalizeH="0" baseline="0" mc:Ignorable="hp" hp:hslEmbossed="0">
                <a:solidFill>
                  <a:srgbClr val="000000"/>
                </a:solidFill>
                <a:latin typeface="맑은 고딕"/>
              </a:rPr>
              <a:t>10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-100" normalizeH="0" baseline="0" mc:Ignorable="hp" hp:hslEmbossed="0">
                <a:solidFill>
                  <a:srgbClr val="000000"/>
                </a:solidFill>
                <a:latin typeface="맑은 고딕"/>
              </a:rPr>
              <a:t>년 이상 파트너십 유지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-10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-10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endParaRPr xmlns:mc="http://schemas.openxmlformats.org/markup-compatibility/2006" xmlns:hp="http://schemas.haansoft.com/office/presentation/8.0" kumimoji="0" lang="en-US" altLang="ko-KR" sz="1600" b="0" i="0" u="none" strike="noStrike" kern="1200" cap="none" spc="-100" normalizeH="0" baseline="0" mc:Ignorable="hp" hp:hslEmbossed="0">
              <a:solidFill>
                <a:schemeClr val="tx1"/>
              </a:solidFill>
              <a:latin typeface="맑은 고딕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57"/>
            <a:ext cx="8731858" cy="4453838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3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오픈 이노베이션의 우수사례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)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P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&amp;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G :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연계개발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(Connect and Develop, C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&amp;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D)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도입 사례 </a:t>
            </a:r>
            <a:endPara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5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P&amp;G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의 오픈 이노베이션 제도 및 교훈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spcBef>
                <a:spcPts val="15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외부 기술을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조 브랜드로 만들기 위해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P&amp;G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의 브랜드 마케팅 활용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endPara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1008126" defTabSz="914400">
              <a:spcBef>
                <a:spcPts val="10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이익을 얻기 위해 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반드시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기술을 창출할 필요 없음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모든 신규 특허는 사내 사업부서가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9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개월 안에 신제품에 사용해야 한다고 제도화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endPara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1008126" defTabSz="914400">
              <a:spcBef>
                <a:spcPts val="1000"/>
              </a:spcBef>
              <a:buClr>
                <a:srgbClr val="000000"/>
              </a:buClr>
              <a:buNone/>
              <a:defRPr/>
            </a:pP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미사용된 내부기술을 경쟁사를 포함한 타인이 사용할 수 있게 하고</a:t>
            </a:r>
            <a:r>
              <a:rPr lang="en-US" altLang="ko-KR" sz="1600">
                <a:solidFill>
                  <a:srgbClr val="000000"/>
                </a:solidFill>
                <a:latin typeface="맑은 고딕"/>
              </a:rPr>
              <a:t>,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 </a:t>
            </a:r>
            <a:endParaRPr lang="ko-KR" altLang="en-US" sz="1600">
              <a:solidFill>
                <a:srgbClr val="000000"/>
              </a:solidFill>
              <a:latin typeface="맑은 고딕"/>
            </a:endParaRPr>
          </a:p>
          <a:p>
            <a:pPr marL="1008126" defTabSz="914400">
              <a:spcBef>
                <a:spcPts val="1000"/>
              </a:spcBef>
              <a:buClr>
                <a:srgbClr val="000000"/>
              </a:buClr>
              <a:buNone/>
              <a:defRPr/>
            </a:pP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다른 </a:t>
            </a:r>
            <a:r>
              <a:rPr lang="en-US" altLang="ko-KR" sz="1600">
                <a:solidFill>
                  <a:srgbClr val="000000"/>
                </a:solidFill>
                <a:latin typeface="맑은 고딕"/>
              </a:rPr>
              <a:t>1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조 블랜드를 만들도록 함</a:t>
            </a:r>
            <a:endParaRPr lang="ko-KR" altLang="en-US" sz="1600">
              <a:solidFill>
                <a:srgbClr val="000000"/>
              </a:solidFill>
              <a:latin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→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신기술을 사용하는 방법에 대해 내부적으로 더 많은 고민을 하도록 하며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endPara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spcBef>
                <a:spcPts val="10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       추가적으로 수익성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이 높은 라이선스 수입을 가져오고</a:t>
            </a:r>
            <a:r>
              <a:rPr lang="en-US" altLang="ko-KR" sz="1600">
                <a:solidFill>
                  <a:srgbClr val="000000"/>
                </a:solidFill>
                <a:latin typeface="맑은 고딕"/>
              </a:rPr>
              <a:t>,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 기술을 사용하기 위해</a:t>
            </a:r>
            <a:endParaRPr lang="ko-KR" altLang="en-US" sz="1600">
              <a:solidFill>
                <a:srgbClr val="000000"/>
              </a:solidFill>
              <a:latin typeface="맑은 고딕"/>
            </a:endParaRPr>
          </a:p>
          <a:p>
            <a:pPr defTabSz="914400">
              <a:spcBef>
                <a:spcPts val="1000"/>
              </a:spcBef>
              <a:buClr>
                <a:srgbClr val="000000"/>
              </a:buClr>
              <a:buNone/>
              <a:defRPr/>
            </a:pP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                  생각지도 못한 새로운 비즈니스 모델을 찾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아내게 함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57"/>
            <a:ext cx="8731858" cy="4720537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3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오픈 이노베이션의 우수사례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)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GE :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에코매지네이션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챌린지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(Ecomagination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Challenge)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프로그램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5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그린에너지와 재생에너지 시장에서 오픈 이노베이션 적용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spcBef>
                <a:spcPts val="15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GE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는 이미 규모가 큰 에너지 사업을 영위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대규모 유틸리티 기업이 주요 고객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한편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그린에너지와 재생에너지 분야에 대해서는 아는 것이 거의 없는 상태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1008126" defTabSz="914400">
              <a:spcBef>
                <a:spcPts val="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→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신재생에너지 사업을 시작할 아이디어 있는 기업가 유치위한 챌린지 발표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단독으로 챌린지를 운영할 수 있었지만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이 분야에 투자경험이 풍부한 벤처캐피털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</a:endParaRPr>
          </a:p>
          <a:p>
            <a:pPr marL="1008126" defTabSz="914400">
              <a:spcBef>
                <a:spcPts val="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네트워크가 </a:t>
            </a:r>
            <a:r>
              <a:rPr lang="ko-KR" altLang="en-US" sz="1600">
                <a:solidFill>
                  <a:schemeClr val="tx1"/>
                </a:solidFill>
                <a:latin typeface="맑은 고딕"/>
              </a:rPr>
              <a:t>있으며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이들로 부터 많은 것을 배울 수 있다는 사실을 깨달고 협업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3,800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개 이상의 제안서와 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7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만 명의 코멘트 확보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이를 내부 연구개발 팀이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</a:endParaRPr>
          </a:p>
          <a:p>
            <a:pPr defTabSz="914400">
              <a:lnSpc>
                <a:spcPct val="60000"/>
              </a:lnSpc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             검토하면서 </a:t>
            </a:r>
            <a:r>
              <a:rPr lang="ko-KR" altLang="en-US" sz="1600">
                <a:solidFill>
                  <a:schemeClr val="tx1"/>
                </a:solidFill>
                <a:latin typeface="맑은 고딕"/>
              </a:rPr>
              <a:t>신재생에너지에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대한 지식 확보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챌린지로 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23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개의 새로운 벤처기업이 투자를 받았으며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GE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는 이 경험으로 운송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</a:endParaRPr>
          </a:p>
          <a:p>
            <a:pPr marL="1044130" defTabSz="914400">
              <a:spcBef>
                <a:spcPts val="500"/>
              </a:spcBef>
              <a:buClr>
                <a:srgbClr val="000000"/>
              </a:buClr>
              <a:buNone/>
              <a:defRPr/>
            </a:pPr>
            <a:r>
              <a:rPr lang="ko-KR" altLang="en-US" sz="1600">
                <a:solidFill>
                  <a:schemeClr val="tx1"/>
                </a:solidFill>
                <a:latin typeface="맑은 고딕"/>
              </a:rPr>
              <a:t>핼스케어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등 다른 </a:t>
            </a:r>
            <a:r>
              <a:rPr lang="ko-KR" altLang="en-US" sz="1600">
                <a:solidFill>
                  <a:schemeClr val="tx1"/>
                </a:solidFill>
                <a:latin typeface="맑은 고딕"/>
              </a:rPr>
              <a:t>사업분야에서도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챌린지를 시작 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56"/>
            <a:ext cx="8731858" cy="408236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3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오픈 이노베이션의 우수사례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)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GE :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에코매지네이션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챌린지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(Ecomagination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Challenge)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프로그램</a:t>
            </a:r>
            <a:endPara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5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GE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의 오픈 이노베이션 제도 및 교훈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spcBef>
                <a:spcPts val="15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아무리 크고 성공한 기업이어도 외부에서 많은 가르침을 얻을 수 있음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새로운 사업영역을 개척할 때는 외부인에게 아이디어를 물어 봄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그 아이디어를 다른 외부인에게 보여주고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어떤 것을 가장 마음에 들어 하는지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</a:endParaRPr>
          </a:p>
          <a:p>
            <a:pPr marL="1008126" defTabSz="914400">
              <a:spcBef>
                <a:spcPts val="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확인 함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</a:t>
            </a:r>
            <a:r>
              <a:rPr lang="ko-KR" altLang="en-US" sz="1600">
                <a:solidFill>
                  <a:schemeClr val="tx1"/>
                </a:solidFill>
                <a:latin typeface="맑은 고딕"/>
              </a:rPr>
              <a:t>내부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연구개발 직원에게 외부 아이디어를 검토하게 함으로써 가르침을 얻게 한다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.</a:t>
            </a:r>
            <a:endPara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 핵심사업과 거리가 먼 신규 사업분야에 대해서는 때로 형세를 잘 아는 사람과 함께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</a:endParaRPr>
          </a:p>
          <a:p>
            <a:pPr marL="1008126" defTabSz="914400">
              <a:spcBef>
                <a:spcPts val="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</a:rPr>
              <a:t>투자하는 것이 더 나음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55"/>
            <a:ext cx="8922357" cy="203449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4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국내 사례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)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한화시스템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,‘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커넥트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H’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오픈 이노베이션 프로그램 추진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(2021.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9.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8.)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r>
              <a:rPr lang="en-US" altLang="ko-KR" sz="1600" baseline="30000">
                <a:solidFill>
                  <a:srgbClr val="000000"/>
                </a:solidFill>
                <a:latin typeface="HY헤드라인M"/>
                <a:ea typeface="HY헤드라인M"/>
              </a:rPr>
              <a:t>15)</a:t>
            </a:r>
            <a:endParaRPr lang="en-US" altLang="ko-KR" sz="1600" baseline="3000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5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국방기술 혁신 스타트업을 발굴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·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육성하고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상생협력 네트워크 구축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spcBef>
                <a:spcPts val="10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성장 가속화를 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위한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컨설팅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전문교육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사업화 지원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후속투자 기회 등 사업육성 지원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spcBef>
                <a:spcPts val="10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공동기술 개발 및 미래 도전 국방기술개발사업 협력 등 다양한 프로젝트 진행 예정</a:t>
            </a:r>
            <a:endParaRPr xmlns:mc="http://schemas.openxmlformats.org/markup-compatibility/2006" xmlns:hp="http://schemas.haansoft.com/office/presentation/8.0" kumimoji="0" lang="en-US" altLang="ko-KR" sz="1600" b="0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103790" y="6449093"/>
            <a:ext cx="5878286" cy="21650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strike="noStrike" kern="1200" cap="none" spc="0" normalizeH="0" baseline="0" mc:Ignorable="hp" hp:hslEmbossed="0">
                <a:solidFill>
                  <a:schemeClr val="tx1"/>
                </a:solidFill>
                <a:effectLst/>
                <a:latin typeface="맑은 고딕"/>
              </a:rPr>
              <a:t>15)</a:t>
            </a:r>
            <a:r>
              <a:rPr xmlns:mc="http://schemas.openxmlformats.org/markup-compatibility/2006" xmlns:hp="http://schemas.haansoft.com/office/presentation/8.0" kumimoji="0" lang="ko-KR" altLang="en-US" sz="1000" b="0" i="0" strike="noStrike" kern="1200" cap="none" spc="0" normalizeH="0" baseline="0" mc:Ignorable="hp" hp:hslEmbossed="0">
                <a:solidFill>
                  <a:schemeClr val="tx1"/>
                </a:solidFill>
                <a:effectLst/>
                <a:latin typeface="맑은 고딕"/>
              </a:rPr>
              <a:t> 한화시스템</a:t>
            </a:r>
            <a:r>
              <a:rPr xmlns:mc="http://schemas.openxmlformats.org/markup-compatibility/2006" xmlns:hp="http://schemas.haansoft.com/office/presentation/8.0" kumimoji="0" lang="en-US" altLang="ko-KR" sz="1000" b="0" i="0" strike="noStrike" kern="1200" cap="none" spc="0" normalizeH="0" baseline="0" mc:Ignorable="hp" hp:hslEmbossed="0">
                <a:solidFill>
                  <a:schemeClr val="tx1"/>
                </a:solidFill>
                <a:effectLst/>
                <a:latin typeface="맑은 고딕"/>
              </a:rPr>
              <a:t>(www. discoverynews.kr/news/asticleView.html?idxn0=640639)</a:t>
            </a:r>
            <a:endParaRPr xmlns:mc="http://schemas.openxmlformats.org/markup-compatibility/2006" xmlns:hp="http://schemas.haansoft.com/office/presentation/8.0" kumimoji="0" lang="en-US" altLang="ko-KR" sz="1000" b="0" i="0" strike="noStrike" kern="1200" cap="none" spc="0" normalizeH="0" baseline="0" mc:Ignorable="hp" hp:hslEmbossed="0">
              <a:solidFill>
                <a:schemeClr val="tx1"/>
              </a:solidFill>
              <a:effectLst/>
              <a:latin typeface="맑은 고딕"/>
            </a:endParaRPr>
          </a:p>
        </p:txBody>
      </p:sp>
      <p:cxnSp>
        <p:nvCxnSpPr>
          <p:cNvPr id="22" name=""/>
          <p:cNvCxnSpPr/>
          <p:nvPr/>
        </p:nvCxnSpPr>
        <p:spPr>
          <a:xfrm>
            <a:off x="3151906" y="6401468"/>
            <a:ext cx="5820511" cy="0"/>
          </a:xfrm>
          <a:prstGeom prst="line">
            <a:avLst/>
          </a:prstGeom>
          <a:noFill/>
          <a:ln w="12700" cap="flat" cmpd="sng" algn="ctr">
            <a:solidFill>
              <a:srgbClr val="808080">
                <a:alpha val="100000"/>
              </a:srgbClr>
            </a:solidFill>
            <a:prstDash val="solid"/>
          </a:ln>
        </p:spPr>
      </p:cxnSp>
      <p:graphicFrame>
        <p:nvGraphicFramePr>
          <p:cNvPr id="23" name=""/>
          <p:cNvGraphicFramePr>
            <a:graphicFrameLocks noGrp="1"/>
          </p:cNvGraphicFramePr>
          <p:nvPr/>
        </p:nvGraphicFramePr>
        <p:xfrm>
          <a:off x="466818" y="3409950"/>
          <a:ext cx="8286563" cy="2914650"/>
        </p:xfrm>
        <a:graphic>
          <a:graphicData uri="http://schemas.openxmlformats.org/drawingml/2006/table">
            <a:tbl>
              <a:tblPr firstRow="1" bandRow="1">
                <a:tableStyle styleId="{01A66EDD-3DAB-4C5B-A090-DC80EC1FD486}" styleName="Normal Style 1 - Accent 1">
                  <a:wholeTbl>
                    <a:tcTxStyle>
                      <a:fontRef idx="minor">
                        <a:prstClr val="black"/>
                      </a:fontRef>
                      <a:schemeClr val="dk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lt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lt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lt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lt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lt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lt1"/>
                            </a:solidFill>
                          </a:ln>
                        </a:insideV>
                      </a:tcBdr>
                      <a:fill>
                        <a:solidFill>
                          <a:schemeClr val="accent1">
                            <a:lum val="90000"/>
                          </a:schemeClr>
                        </a:solidFill>
                      </a:fill>
                    </a:tcStyle>
                  </a:wholeTbl>
                  <a:band1H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H>
                  <a:band2H>
                    <a:tcTxStyle/>
                    <a:tcStyle>
                      <a:tcBdr/>
                    </a:tcStyle>
                  </a:band2H>
                  <a:band1V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V>
                  <a:band2V>
                    <a:tcTxStyle/>
                    <a:tcStyle>
                      <a:tcBdr/>
                    </a:tcStyle>
                  </a:band2V>
                  <a:la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lastCol>
                  <a:fir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firstCol>
                  <a:la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top>
                          <a:ln w="38100" cmpd="sng">
                            <a:solidFill>
                              <a:schemeClr val="lt1"/>
                            </a:solidFill>
                          </a:ln>
                        </a:top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lastRow>
                  <a:fir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bottom>
                          <a:ln w="38100" cmpd="sng">
                            <a:solidFill>
                              <a:schemeClr val="lt1"/>
                            </a:solidFill>
                          </a:ln>
                        </a:bottom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firstRow>
                </a:tableStyle>
              </a:tblPr>
              <a:tblGrid>
                <a:gridCol w="648787"/>
                <a:gridCol w="1427085"/>
                <a:gridCol w="2190511"/>
                <a:gridCol w="4020178"/>
              </a:tblGrid>
              <a:tr h="194436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latin typeface="맑은 고딕"/>
                        </a:rPr>
                        <a:t>구분</a:t>
                      </a:r>
                      <a:endParaRPr lang="ko-KR" altLang="en-US" sz="13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latin typeface="맑은 고딕"/>
                        </a:rPr>
                        <a:t>회사명</a:t>
                      </a:r>
                      <a:endParaRPr lang="ko-KR" altLang="en-US" sz="13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latin typeface="맑은 고딕"/>
                        </a:rPr>
                        <a:t>보유기술</a:t>
                      </a:r>
                      <a:endParaRPr lang="ko-KR" altLang="en-US" sz="1300">
                        <a:solidFill>
                          <a:schemeClr val="dk1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협력분야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</a:tr>
              <a:tr h="194436">
                <a:tc rowSpan="4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latin typeface="맑은 고딕"/>
                        </a:rPr>
                        <a:t>무인</a:t>
                      </a:r>
                      <a:endParaRPr lang="ko-KR" altLang="en-US" sz="1300">
                        <a:latin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1300">
                          <a:latin typeface="맑은 고딕"/>
                        </a:rPr>
                        <a:t>자율</a:t>
                      </a:r>
                      <a:endParaRPr lang="ko-KR" altLang="en-US" sz="1300">
                        <a:latin typeface="맑은 고딕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latin typeface="맑은 고딕"/>
                        </a:rPr>
                        <a:t>파블로 항공</a:t>
                      </a:r>
                      <a:endParaRPr lang="ko-KR" altLang="en-US" sz="1300"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latin typeface="맑은 고딕"/>
                        </a:rPr>
                        <a:t>군집비행</a:t>
                      </a:r>
                      <a:r>
                        <a:rPr lang="en-US" altLang="ko-KR" sz="1300">
                          <a:latin typeface="맑은 고딕"/>
                        </a:rPr>
                        <a:t>,</a:t>
                      </a:r>
                      <a:r>
                        <a:rPr lang="ko-KR" altLang="en-US" sz="1300">
                          <a:latin typeface="맑은 고딕"/>
                        </a:rPr>
                        <a:t> 원격제어</a:t>
                      </a:r>
                      <a:endParaRPr lang="ko-KR" altLang="en-US" sz="1300"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300">
                          <a:latin typeface="맑은 고딕"/>
                        </a:rPr>
                        <a:t>드론기체를 활용한 정보수집 및 기체제어 기술</a:t>
                      </a:r>
                      <a:endParaRPr lang="ko-KR" altLang="en-US" sz="1300"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09824">
                <a:tc vMerge="1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링크플로우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넥밴드 카메라 등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넥밴트형 웨어러블 카메라 및 파노라마 영상합성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194436">
                <a:tc vMerge="1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레티널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스마트글래스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HMD(Head Mounted Display)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 개발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194436">
                <a:tc vMerge="1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씨드로닉스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자율운항 시스템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함정 자율 진수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,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 운항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,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 접안 분야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09824">
                <a:tc row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UAM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서울로보틱스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차원 영상정보 신호처리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UAM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LiDAR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용 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차원 영상 합성 및 객체인식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194436">
                <a:tc vMerge="1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람다이노비전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LiDAR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센서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UAM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 및 관제용 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LiDAR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센서 개발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194436">
                <a:tc rowSpan="3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인공지능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슈퍼브에이아이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자기지도학습 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AI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딥러닝 학습용 데이터 라벨링 등 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AI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 데이터 가공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194436">
                <a:tc vMerge="1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유엑스팩토리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AI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 반도체개발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AI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 인공지능 플랫폼 개발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09824">
                <a:tc vMerge="1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 anchor="ctr" anchorCtr="1"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노타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딥러닝 기반 경량화 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AI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indent="0" defTabSz="914400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AI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 모델 경량화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ctr" anchorCtr="1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54"/>
            <a:ext cx="8922357" cy="321559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4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국내 사례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)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KCC,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우수 스타트업 지원 및 육성을 위한 오픈 이노베이션 추진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(2021.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8.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19.)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r>
              <a:rPr lang="en-US" altLang="ko-KR" sz="1600" baseline="30000">
                <a:solidFill>
                  <a:srgbClr val="000000"/>
                </a:solidFill>
                <a:latin typeface="HY헤드라인M"/>
                <a:ea typeface="HY헤드라인M"/>
              </a:rPr>
              <a:t>16)</a:t>
            </a:r>
            <a:endParaRPr lang="en-US" altLang="ko-KR" sz="1600" baseline="3000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5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서울창조경제혁신선터와 스타트업 지원 및 창업 생태계 활성화를 위한 업무협약 체결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spcBef>
                <a:spcPts val="15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국내 스타트업 정보 교류와 우수 스타트업 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발굴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사업화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기술공동개발 등 다양한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marL="1044130" defTabSz="914400">
              <a:spcBef>
                <a:spcPts val="5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협업 프로그램을 기획하고 실행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국내 창업 생테게의 상생 협력 구조 구축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spcBef>
                <a:spcPts val="1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향후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KCC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는 주력 사업분야인 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건축자재와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도료를 비롯해 친환경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미래에너지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1008126" defTabSz="914400">
              <a:spcBef>
                <a:spcPts val="500"/>
              </a:spcBef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신소재 등의 분야에서 오픈 </a:t>
            </a:r>
            <a:r>
              <a:rPr lang="ko-KR" altLang="en-US" sz="1600">
                <a:solidFill>
                  <a:srgbClr val="000000"/>
                </a:solidFill>
                <a:latin typeface="맑은 고딕"/>
              </a:rPr>
              <a:t>이노베이션에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참여할 스타트업 모집 예정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103790" y="6449093"/>
            <a:ext cx="5878286" cy="21650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16) KCC(http://www.wikileaks-kr.org/news/articleView.html?idxno=113111)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  <p:cxnSp>
        <p:nvCxnSpPr>
          <p:cNvPr id="22" name=""/>
          <p:cNvCxnSpPr/>
          <p:nvPr/>
        </p:nvCxnSpPr>
        <p:spPr>
          <a:xfrm>
            <a:off x="3151906" y="6401468"/>
            <a:ext cx="5820511" cy="0"/>
          </a:xfrm>
          <a:prstGeom prst="line">
            <a:avLst/>
          </a:prstGeom>
          <a:noFill/>
          <a:ln w="12700" cap="flat" cmpd="sng" algn="ctr">
            <a:solidFill>
              <a:srgbClr val="808080">
                <a:alpha val="100000"/>
              </a:srgbClr>
            </a:solidFill>
            <a:prstDash val="solid"/>
          </a:ln>
        </p:spPr>
      </p:cxnSp>
      <p:sp>
        <p:nvSpPr>
          <p:cNvPr id="24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21643" y="1297354"/>
            <a:ext cx="8922357" cy="240596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  <a:cs typeface="맑은 고딕"/>
              </a:rPr>
              <a:t>4</a:t>
            </a: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3057b9"/>
                </a:solidFill>
                <a:latin typeface="HY헤드라인M"/>
                <a:ea typeface="HY헤드라인M"/>
              </a:rPr>
              <a:t>. 국내 사례</a:t>
            </a: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3057b9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   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3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  <a:cs typeface="Arial"/>
              </a:rPr>
              <a:t>)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현대모비스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미래 대응 역량을 높이기 위해 오픈 이노베이션 적극 추진 </a:t>
            </a:r>
            <a:r>
              <a:rPr lang="en-US" altLang="ko-KR" sz="1600" baseline="30000">
                <a:solidFill>
                  <a:srgbClr val="000000"/>
                </a:solidFill>
                <a:latin typeface="HY헤드라인M"/>
                <a:ea typeface="HY헤드라인M"/>
              </a:rPr>
              <a:t>17)</a:t>
            </a:r>
            <a:endParaRPr lang="en-US" altLang="ko-KR" sz="1600" baseline="3000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marL="0" indent="0" algn="l" defTabSz="914400" rtl="0" eaLnBrk="1" latinLnBrk="1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HY헤드라인M"/>
                <a:ea typeface="HY헤드라인M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85000"/>
              </a:lnSpc>
              <a:spcBef>
                <a:spcPts val="5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■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국내외 기업과 대학 등 협력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스타트업 발굴과 투자확대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ICT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혁신기업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M&amp;A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등 추진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defTabSz="914400">
              <a:spcBef>
                <a:spcPts val="1000"/>
              </a:spcBef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맑은 고딕"/>
              </a:rPr>
              <a:t>⚫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-100" normalizeH="0" baseline="0" mc:Ignorable="hp" hp:hslEmbossed="0">
                <a:solidFill>
                  <a:srgbClr val="000000"/>
                </a:solidFill>
                <a:latin typeface="맑은 고딕"/>
              </a:rPr>
              <a:t>2018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-100" normalizeH="0" baseline="0" mc:Ignorable="hp" hp:hslEmbossed="0">
                <a:solidFill>
                  <a:srgbClr val="000000"/>
                </a:solidFill>
                <a:latin typeface="맑은 고딕"/>
              </a:rPr>
              <a:t>년 국내</a:t>
            </a:r>
            <a:r>
              <a:rPr lang="ko-KR" altLang="en-US" sz="1600" spc="-100">
                <a:solidFill>
                  <a:srgbClr val="000000"/>
                </a:solidFill>
                <a:latin typeface="맑은 고딕"/>
              </a:rPr>
              <a:t>에 오픈 이노베이션 조직 신설</a:t>
            </a:r>
            <a:r>
              <a:rPr lang="en-US" altLang="ko-KR" sz="1600" spc="-100">
                <a:solidFill>
                  <a:srgbClr val="000000"/>
                </a:solidFill>
                <a:latin typeface="맑은 고딕"/>
              </a:rPr>
              <a:t>,</a:t>
            </a:r>
            <a:r>
              <a:rPr lang="ko-KR" altLang="en-US" sz="1600" spc="-100">
                <a:solidFill>
                  <a:srgbClr val="000000"/>
                </a:solidFill>
                <a:latin typeface="맑은 고딕"/>
              </a:rPr>
              <a:t> 미국 실리콘밸리에 오픈 이노베이션 센터 개소</a:t>
            </a:r>
            <a:endParaRPr lang="ko-KR" altLang="en-US" sz="1600" spc="0">
              <a:solidFill>
                <a:srgbClr val="000000"/>
              </a:solidFill>
              <a:latin typeface="맑은 고딕"/>
            </a:endParaRPr>
          </a:p>
          <a:p>
            <a:pPr defTabSz="914400">
              <a:spcBef>
                <a:spcPts val="1000"/>
              </a:spcBef>
              <a:buClr>
                <a:srgbClr val="000000"/>
              </a:buClr>
              <a:buNone/>
              <a:defRPr/>
            </a:pPr>
            <a:r>
              <a:rPr lang="ko-KR" altLang="en-US" sz="1600" spc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lang="ko-KR" altLang="en-US" sz="1600" spc="0">
                <a:solidFill>
                  <a:srgbClr val="808080"/>
                </a:solidFill>
                <a:latin typeface="맑은 고딕"/>
              </a:rPr>
              <a:t>⚫</a:t>
            </a:r>
            <a:r>
              <a:rPr lang="ko-KR" altLang="en-US" sz="1600" spc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altLang="ko-KR" sz="1600" spc="0">
                <a:solidFill>
                  <a:srgbClr val="000000"/>
                </a:solidFill>
                <a:latin typeface="맑은 고딕"/>
              </a:rPr>
              <a:t>2019</a:t>
            </a:r>
            <a:r>
              <a:rPr lang="ko-KR" altLang="en-US" sz="1600" spc="0">
                <a:solidFill>
                  <a:srgbClr val="000000"/>
                </a:solidFill>
                <a:latin typeface="맑은 고딕"/>
              </a:rPr>
              <a:t>년 중국 심천에 인공지능 기반 특화기술 소싱 거점 운영</a:t>
            </a:r>
            <a:endParaRPr lang="ko-KR" altLang="en-US" sz="1600" spc="0">
              <a:solidFill>
                <a:srgbClr val="000000"/>
              </a:solidFill>
              <a:latin typeface="맑은 고딕"/>
            </a:endParaRPr>
          </a:p>
          <a:p>
            <a:pPr defTabSz="914400">
              <a:spcBef>
                <a:spcPts val="1000"/>
              </a:spcBef>
              <a:buClr>
                <a:srgbClr val="000000"/>
              </a:buClr>
              <a:buNone/>
              <a:defRPr/>
            </a:pPr>
            <a:r>
              <a:rPr lang="ko-KR" altLang="en-US" sz="1600" spc="0">
                <a:solidFill>
                  <a:srgbClr val="000000"/>
                </a:solidFill>
                <a:latin typeface="맑은 고딕"/>
              </a:rPr>
              <a:t>           </a:t>
            </a:r>
            <a:r>
              <a:rPr lang="ko-KR" altLang="en-US" sz="1600" spc="0">
                <a:solidFill>
                  <a:srgbClr val="808080"/>
                </a:solidFill>
                <a:latin typeface="맑은 고딕"/>
              </a:rPr>
              <a:t>⚫</a:t>
            </a:r>
            <a:r>
              <a:rPr lang="ko-KR" altLang="en-US" sz="1600" spc="0">
                <a:solidFill>
                  <a:srgbClr val="000000"/>
                </a:solidFill>
                <a:latin typeface="맑은 고딕"/>
              </a:rPr>
              <a:t> 자율주행</a:t>
            </a:r>
            <a:r>
              <a:rPr lang="en-US" altLang="ko-KR" sz="1600" spc="0">
                <a:solidFill>
                  <a:srgbClr val="000000"/>
                </a:solidFill>
                <a:latin typeface="맑은 고딕"/>
              </a:rPr>
              <a:t>,</a:t>
            </a:r>
            <a:r>
              <a:rPr lang="ko-KR" altLang="en-US" sz="1600" spc="0">
                <a:solidFill>
                  <a:srgbClr val="000000"/>
                </a:solidFill>
                <a:latin typeface="맑은 고딕"/>
              </a:rPr>
              <a:t> 커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넥티비티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인공지능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빅데이터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차량 보안 등 신기술 스타트업 발굴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투자 </a:t>
            </a:r>
            <a:endParaRPr xmlns:mc="http://schemas.openxmlformats.org/markup-compatibility/2006" xmlns:hp="http://schemas.haansoft.com/office/presentation/8.0" kumimoji="0" lang="ko-KR" altLang="en-US" sz="160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103790" y="6449093"/>
            <a:ext cx="5878286" cy="21650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17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현대모비스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(www.mobis.co.kr/contentsid/37123index.do)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  <p:cxnSp>
        <p:nvCxnSpPr>
          <p:cNvPr id="22" name=""/>
          <p:cNvCxnSpPr/>
          <p:nvPr/>
        </p:nvCxnSpPr>
        <p:spPr>
          <a:xfrm>
            <a:off x="3151906" y="6401468"/>
            <a:ext cx="5820511" cy="0"/>
          </a:xfrm>
          <a:prstGeom prst="line">
            <a:avLst/>
          </a:prstGeom>
          <a:noFill/>
          <a:ln w="12700" cap="flat" cmpd="sng" algn="ctr">
            <a:solidFill>
              <a:srgbClr val="808080">
                <a:alpha val="100000"/>
              </a:srgbClr>
            </a:solidFill>
            <a:prstDash val="solid"/>
          </a:ln>
        </p:spPr>
      </p:cxnSp>
      <p:pic>
        <p:nvPicPr>
          <p:cNvPr id="2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78676" y="3750945"/>
            <a:ext cx="6789420" cy="2369820"/>
          </a:xfrm>
          <a:prstGeom prst="rect">
            <a:avLst/>
          </a:prstGeom>
        </p:spPr>
      </p:pic>
      <p:sp>
        <p:nvSpPr>
          <p:cNvPr id="25" name=""/>
          <p:cNvSpPr txBox="1"/>
          <p:nvPr/>
        </p:nvSpPr>
        <p:spPr>
          <a:xfrm>
            <a:off x="2198652" y="6157283"/>
            <a:ext cx="4639618" cy="26066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914400" rtl="0" eaLnBrk="1" latinLnBrk="1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&lt; 표 </a:t>
            </a:r>
            <a:r>
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7</a:t>
            </a: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&gt; 현대모비스 미래차 개발 오픈 이노베이션 현황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제2장  오픈 이노베이션 적용 사례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193068" y="1440228"/>
            <a:ext cx="8922357" cy="466339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defTabSz="914400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en-US" altLang="ko-KR" sz="1600">
                <a:solidFill>
                  <a:schemeClr val="tx1"/>
                </a:solidFill>
                <a:latin typeface="HY헤드라인M"/>
                <a:ea typeface="HY헤드라인M"/>
                <a:cs typeface="맑은 고딕"/>
              </a:rPr>
              <a:t>1</a:t>
            </a:r>
            <a:r>
              <a:rPr lang="ko-KR" altLang="en-US" sz="1600">
                <a:solidFill>
                  <a:schemeClr val="tx1"/>
                </a:solidFill>
                <a:latin typeface="HY헤드라인M"/>
                <a:ea typeface="HY헤드라인M"/>
              </a:rPr>
              <a:t>. 대부분 기업들이 </a:t>
            </a:r>
            <a:r>
              <a:rPr lang="en-US" altLang="ko-KR" sz="1600">
                <a:solidFill>
                  <a:schemeClr val="tx1"/>
                </a:solidFill>
                <a:latin typeface="HY헤드라인M"/>
                <a:ea typeface="HY헤드라인M"/>
              </a:rPr>
              <a:t>DIY(D0-It-All-Yourself)</a:t>
            </a:r>
            <a:r>
              <a:rPr lang="ko-KR" altLang="en-US" sz="1600">
                <a:solidFill>
                  <a:schemeClr val="tx1"/>
                </a:solidFill>
                <a:latin typeface="HY헤드라인M"/>
                <a:ea typeface="HY헤드라인M"/>
              </a:rPr>
              <a:t> 모델이나 폐쇄형 혁신 모델을 이용했지만</a:t>
            </a:r>
            <a:r>
              <a:rPr lang="en-US" altLang="ko-KR" sz="1600">
                <a:solidFill>
                  <a:schemeClr val="tx1"/>
                </a:solidFill>
                <a:latin typeface="HY헤드라인M"/>
                <a:ea typeface="HY헤드라인M"/>
              </a:rPr>
              <a:t>,</a:t>
            </a:r>
            <a:endParaRPr lang="en-US" altLang="ko-KR" sz="1600">
              <a:solidFill>
                <a:schemeClr val="tx1"/>
              </a:solidFill>
              <a:latin typeface="HY헤드라인M"/>
              <a:ea typeface="HY헤드라인M"/>
            </a:endParaRPr>
          </a:p>
          <a:p>
            <a:pPr marL="216027" defTabSz="914400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ko-KR" altLang="en-US" sz="1600">
                <a:solidFill>
                  <a:schemeClr val="tx1"/>
                </a:solidFill>
                <a:latin typeface="HY헤드라인M"/>
                <a:ea typeface="HY헤드라인M"/>
              </a:rPr>
              <a:t>오늘날 많은 기업에서 오픈 이노베이션을 적용 중 임을 확인</a:t>
            </a:r>
            <a:endParaRPr lang="ko-KR" altLang="en-US" sz="1600">
              <a:solidFill>
                <a:schemeClr val="tx1"/>
              </a:solidFill>
              <a:latin typeface="HY헤드라인M"/>
              <a:ea typeface="HY헤드라인M"/>
            </a:endParaRPr>
          </a:p>
          <a:p>
            <a:pPr marL="216027" defTabSz="914400">
              <a:lnSpc>
                <a:spcPct val="125000"/>
              </a:lnSpc>
              <a:spcBef>
                <a:spcPts val="0"/>
              </a:spcBef>
              <a:buNone/>
              <a:defRPr/>
            </a:pPr>
            <a:endParaRPr lang="ko-KR" altLang="en-US" sz="1600">
              <a:solidFill>
                <a:schemeClr val="tx1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en-US" altLang="ko-KR" sz="1600">
                <a:solidFill>
                  <a:schemeClr val="tx1"/>
                </a:solidFill>
                <a:latin typeface="HY헤드라인M"/>
                <a:ea typeface="HY헤드라인M"/>
              </a:rPr>
              <a:t>2.</a:t>
            </a:r>
            <a:r>
              <a:rPr lang="ko-KR" altLang="en-US" sz="1600">
                <a:solidFill>
                  <a:schemeClr val="tx1"/>
                </a:solidFill>
                <a:latin typeface="HY헤드라인M"/>
                <a:ea typeface="HY헤드라인M"/>
              </a:rPr>
              <a:t> 오픈 이노베이션은 조직의 경계를 넘는 지식의 유입과 유출을 활용해 새로운 기회를 발견하고</a:t>
            </a:r>
            <a:endParaRPr lang="ko-KR" altLang="en-US" sz="1600">
              <a:solidFill>
                <a:schemeClr val="tx1"/>
              </a:solidFill>
              <a:latin typeface="HY헤드라인M"/>
              <a:ea typeface="HY헤드라인M"/>
            </a:endParaRPr>
          </a:p>
          <a:p>
            <a:pPr marL="216027" defTabSz="914400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ko-KR" altLang="en-US" sz="1600">
                <a:solidFill>
                  <a:schemeClr val="tx1"/>
                </a:solidFill>
                <a:latin typeface="HY헤드라인M"/>
                <a:ea typeface="HY헤드라인M"/>
              </a:rPr>
              <a:t>시간과 비용을 절약하며 혁신의 위험을 나누어 부담함</a:t>
            </a:r>
            <a:endParaRPr lang="ko-KR" altLang="en-US" sz="1600">
              <a:solidFill>
                <a:schemeClr val="tx1"/>
              </a:solidFill>
              <a:latin typeface="HY헤드라인M"/>
              <a:ea typeface="HY헤드라인M"/>
            </a:endParaRPr>
          </a:p>
          <a:p>
            <a:pPr marL="216027" defTabSz="914400">
              <a:lnSpc>
                <a:spcPct val="125000"/>
              </a:lnSpc>
              <a:spcBef>
                <a:spcPts val="0"/>
              </a:spcBef>
              <a:buNone/>
              <a:defRPr/>
            </a:pPr>
            <a:endParaRPr lang="ko-KR" altLang="en-US" sz="1600">
              <a:solidFill>
                <a:schemeClr val="tx1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en-US" altLang="ko-KR" sz="1600">
                <a:solidFill>
                  <a:schemeClr val="tx1"/>
                </a:solidFill>
                <a:latin typeface="HY헤드라인M"/>
                <a:ea typeface="HY헤드라인M"/>
              </a:rPr>
              <a:t>3.</a:t>
            </a:r>
            <a:r>
              <a:rPr lang="ko-KR" altLang="en-US" sz="1600">
                <a:solidFill>
                  <a:schemeClr val="tx1"/>
                </a:solidFill>
                <a:latin typeface="HY헤드라인M"/>
                <a:ea typeface="HY헤드라인M"/>
              </a:rPr>
              <a:t> 기업 내에서 기술을 창출</a:t>
            </a:r>
            <a:r>
              <a:rPr lang="en-US" altLang="ko-KR" sz="1600">
                <a:solidFill>
                  <a:schemeClr val="tx1"/>
                </a:solidFill>
                <a:latin typeface="HY헤드라인M"/>
                <a:ea typeface="HY헤드라인M"/>
              </a:rPr>
              <a:t>,</a:t>
            </a:r>
            <a:r>
              <a:rPr lang="ko-KR" altLang="en-US" sz="1600">
                <a:solidFill>
                  <a:schemeClr val="tx1"/>
                </a:solidFill>
                <a:latin typeface="HY헤드라인M"/>
                <a:ea typeface="HY헤드라인M"/>
              </a:rPr>
              <a:t> 보급</a:t>
            </a:r>
            <a:r>
              <a:rPr lang="en-US" altLang="ko-KR" sz="1600">
                <a:solidFill>
                  <a:schemeClr val="tx1"/>
                </a:solidFill>
                <a:latin typeface="HY헤드라인M"/>
                <a:ea typeface="HY헤드라인M"/>
              </a:rPr>
              <a:t>,</a:t>
            </a:r>
            <a:r>
              <a:rPr lang="ko-KR" altLang="en-US" sz="1600">
                <a:solidFill>
                  <a:schemeClr val="tx1"/>
                </a:solidFill>
                <a:latin typeface="HY헤드라인M"/>
                <a:ea typeface="HY헤드라인M"/>
              </a:rPr>
              <a:t> 흡수하려면 기술 개발 외에도 비즈니스 모델을 적절히 설계</a:t>
            </a:r>
            <a:endParaRPr lang="ko-KR" altLang="en-US" sz="1600">
              <a:solidFill>
                <a:schemeClr val="tx1"/>
              </a:solidFill>
              <a:latin typeface="HY헤드라인M"/>
              <a:ea typeface="HY헤드라인M"/>
            </a:endParaRPr>
          </a:p>
          <a:p>
            <a:pPr marL="216027" defTabSz="914400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ko-KR" altLang="en-US" sz="1600">
                <a:solidFill>
                  <a:schemeClr val="tx1"/>
                </a:solidFill>
                <a:latin typeface="HY헤드라인M"/>
                <a:ea typeface="HY헤드라인M"/>
              </a:rPr>
              <a:t>하고 배치해야 함</a:t>
            </a:r>
            <a:endParaRPr lang="ko-KR" altLang="en-US" sz="1600">
              <a:solidFill>
                <a:schemeClr val="tx1"/>
              </a:solidFill>
              <a:latin typeface="HY헤드라인M"/>
              <a:ea typeface="HY헤드라인M"/>
            </a:endParaRPr>
          </a:p>
          <a:p>
            <a:pPr marL="216027" defTabSz="914400">
              <a:lnSpc>
                <a:spcPct val="125000"/>
              </a:lnSpc>
              <a:spcBef>
                <a:spcPts val="0"/>
              </a:spcBef>
              <a:buNone/>
              <a:defRPr/>
            </a:pPr>
            <a:endParaRPr lang="ko-KR" altLang="en-US" sz="1600">
              <a:solidFill>
                <a:schemeClr val="tx1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en-US" altLang="ko-KR" sz="1600">
                <a:solidFill>
                  <a:schemeClr val="tx1"/>
                </a:solidFill>
                <a:latin typeface="HY헤드라인M"/>
                <a:ea typeface="HY헤드라인M"/>
              </a:rPr>
              <a:t>4.</a:t>
            </a:r>
            <a:r>
              <a:rPr lang="ko-KR" altLang="en-US" sz="1600">
                <a:solidFill>
                  <a:schemeClr val="tx1"/>
                </a:solidFill>
                <a:latin typeface="HY헤드라인M"/>
                <a:ea typeface="HY헤드라인M"/>
              </a:rPr>
              <a:t> 오픈 이노베이션은 개별 조직 간의 단일한 협력에서 시작해 이제는 주로 플랫폼을 통해</a:t>
            </a:r>
            <a:endParaRPr lang="ko-KR" altLang="en-US" sz="1600">
              <a:solidFill>
                <a:schemeClr val="tx1"/>
              </a:solidFill>
              <a:latin typeface="HY헤드라인M"/>
              <a:ea typeface="HY헤드라인M"/>
            </a:endParaRPr>
          </a:p>
          <a:p>
            <a:pPr marL="216027" defTabSz="914400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ko-KR" altLang="en-US" sz="1600">
                <a:solidFill>
                  <a:schemeClr val="tx1"/>
                </a:solidFill>
                <a:latin typeface="HY헤드라인M"/>
                <a:ea typeface="HY헤드라인M"/>
              </a:rPr>
              <a:t>협력이 이루지는 조직 네크워크와 생태계로 옮겨가고 있음</a:t>
            </a:r>
            <a:endParaRPr lang="ko-KR" altLang="en-US" sz="1600">
              <a:solidFill>
                <a:schemeClr val="tx1"/>
              </a:solidFill>
              <a:latin typeface="HY헤드라인M"/>
              <a:ea typeface="HY헤드라인M"/>
            </a:endParaRPr>
          </a:p>
          <a:p>
            <a:pPr marL="216027" defTabSz="914400">
              <a:lnSpc>
                <a:spcPct val="125000"/>
              </a:lnSpc>
              <a:spcBef>
                <a:spcPts val="0"/>
              </a:spcBef>
              <a:buNone/>
              <a:defRPr/>
            </a:pPr>
            <a:endParaRPr lang="ko-KR" altLang="en-US" sz="1600">
              <a:solidFill>
                <a:schemeClr val="tx1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en-US" altLang="ko-KR" sz="1600">
                <a:solidFill>
                  <a:schemeClr val="tx1"/>
                </a:solidFill>
                <a:latin typeface="HY헤드라인M"/>
                <a:ea typeface="HY헤드라인M"/>
              </a:rPr>
              <a:t>5.</a:t>
            </a:r>
            <a:r>
              <a:rPr lang="ko-KR" altLang="en-US" sz="1600">
                <a:solidFill>
                  <a:schemeClr val="tx1"/>
                </a:solidFill>
                <a:latin typeface="HY헤드라인M"/>
                <a:ea typeface="HY헤드라인M"/>
              </a:rPr>
              <a:t> 오픈 이노베이션을 제대로만 다룬다면 강력한 성장 엔진이 될 수 있음</a:t>
            </a:r>
            <a:endParaRPr lang="ko-KR" altLang="en-US" sz="1600">
              <a:solidFill>
                <a:schemeClr val="tx1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125000"/>
              </a:lnSpc>
              <a:spcBef>
                <a:spcPts val="0"/>
              </a:spcBef>
              <a:buNone/>
              <a:defRPr/>
            </a:pPr>
            <a:endParaRPr lang="ko-KR" altLang="en-US" sz="1600">
              <a:solidFill>
                <a:schemeClr val="tx1"/>
              </a:solidFill>
              <a:latin typeface="HY헤드라인M"/>
              <a:ea typeface="HY헤드라인M"/>
            </a:endParaRPr>
          </a:p>
          <a:p>
            <a:pPr defTabSz="914400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en-US" altLang="ko-KR" sz="1600">
                <a:solidFill>
                  <a:schemeClr val="tx1"/>
                </a:solidFill>
                <a:latin typeface="HY헤드라인M"/>
                <a:ea typeface="HY헤드라인M"/>
              </a:rPr>
              <a:t>6.</a:t>
            </a:r>
            <a:r>
              <a:rPr lang="ko-KR" altLang="en-US" sz="1600">
                <a:solidFill>
                  <a:schemeClr val="tx1"/>
                </a:solidFill>
                <a:latin typeface="HY헤드라인M"/>
                <a:ea typeface="HY헤드라인M"/>
              </a:rPr>
              <a:t> 오픈 이노베이션은 새로운 도전이자 기회</a:t>
            </a:r>
            <a:r>
              <a:rPr lang="en-US" altLang="ko-KR" sz="1600">
                <a:solidFill>
                  <a:schemeClr val="tx1"/>
                </a:solidFill>
                <a:latin typeface="HY헤드라인M"/>
                <a:ea typeface="HY헤드라인M"/>
              </a:rPr>
              <a:t>,</a:t>
            </a:r>
            <a:r>
              <a:rPr lang="ko-KR" altLang="en-US" sz="1600">
                <a:solidFill>
                  <a:schemeClr val="tx1"/>
                </a:solidFill>
                <a:latin typeface="HY헤드라인M"/>
                <a:ea typeface="HY헤드라인M"/>
              </a:rPr>
              <a:t> 이를 활성화할 수 있는 정부의 정책 뒷받침 필요</a:t>
            </a:r>
            <a:endParaRPr lang="ko-KR" altLang="en-US" sz="1600">
              <a:solidFill>
                <a:schemeClr val="tx1"/>
              </a:solidFill>
              <a:latin typeface="HY헤드라인M"/>
              <a:ea typeface="HY헤드라인M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제</a:t>
            </a:r>
            <a:r>
              <a:rPr xmlns:mc="http://schemas.openxmlformats.org/markup-compatibility/2006" xmlns:hp="http://schemas.haansoft.com/office/presentation/8.0" kumimoji="0" lang="en-US" altLang="ko-KR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3</a:t>
            </a: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장  결  론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 txBox="1"/>
          <p:nvPr/>
        </p:nvSpPr>
        <p:spPr>
          <a:xfrm>
            <a:off x="127903" y="345016"/>
            <a:ext cx="6625322" cy="38650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6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</a:rPr>
              <a:t>참고문헌</a:t>
            </a:r>
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27903" y="1260084"/>
            <a:ext cx="8801084" cy="4967361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indent="0" algn="l" defTabSz="914400" rtl="0" eaLnBrk="1" latinLnBrk="1" hangingPunct="1">
              <a:lnSpc>
                <a:spcPct val="14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1) 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Henry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W. 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Chesbrough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오픈 이노베이션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혁신을 추구하는 기업의 선택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)”,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에딧더월드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2021.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14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2) 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박송이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개방형 혁신과 기업성과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국내 방위산업체를 중심으로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)”,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성균관대학교 대학원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2014.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14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3) “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오픈 이노베이션의 개념과 성공사례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IT 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R&amp;D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정책 동향 전문가 좌담회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정보통신기획평가원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2011.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>
              <a:lnSpc>
                <a:spcPct val="145000"/>
              </a:lnSpc>
              <a:buClr>
                <a:srgbClr val="000000"/>
              </a:buClr>
              <a:buNone/>
              <a:defRPr/>
            </a:pPr>
            <a:r>
              <a:rPr lang="en-US" altLang="ko-KR" sz="1200">
                <a:solidFill>
                  <a:srgbClr val="000000"/>
                </a:solidFill>
                <a:effectLst/>
                <a:latin typeface="맑은 고딕"/>
              </a:rPr>
              <a:t>4) “</a:t>
            </a:r>
            <a:r>
              <a:rPr lang="ko-KR" altLang="en-US" sz="1200">
                <a:solidFill>
                  <a:srgbClr val="000000"/>
                </a:solidFill>
                <a:effectLst/>
                <a:latin typeface="맑은 고딕"/>
              </a:rPr>
              <a:t>글로벌 대기업과 스타트업의 오픈 이노베이션 현황 및 시사점</a:t>
            </a:r>
            <a:r>
              <a:rPr lang="en-US" altLang="ko-KR" sz="1200">
                <a:solidFill>
                  <a:srgbClr val="000000"/>
                </a:solidFill>
                <a:effectLst/>
                <a:latin typeface="맑은 고딕"/>
              </a:rPr>
              <a:t>”,</a:t>
            </a:r>
            <a:r>
              <a:rPr lang="ko-KR" altLang="en-US" sz="1200">
                <a:solidFill>
                  <a:srgbClr val="000000"/>
                </a:solidFill>
                <a:effectLst/>
                <a:latin typeface="맑은 고딕"/>
              </a:rPr>
              <a:t> 한국무역협회 국제무역연구원</a:t>
            </a:r>
            <a:r>
              <a:rPr lang="en-US" altLang="ko-KR" sz="1200">
                <a:solidFill>
                  <a:srgbClr val="000000"/>
                </a:solidFill>
                <a:effectLst/>
                <a:latin typeface="맑은 고딕"/>
              </a:rPr>
              <a:t>,</a:t>
            </a:r>
            <a:r>
              <a:rPr lang="ko-KR" altLang="en-US" sz="120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lang="en-US" altLang="ko-KR" sz="1200">
                <a:solidFill>
                  <a:srgbClr val="000000"/>
                </a:solidFill>
                <a:effectLst/>
                <a:latin typeface="맑은 고딕"/>
              </a:rPr>
              <a:t>2019.</a:t>
            </a:r>
            <a:endParaRPr lang="en-US" altLang="ko-KR" sz="1200">
              <a:solidFill>
                <a:srgbClr val="000000"/>
              </a:solidFill>
              <a:effectLst/>
              <a:latin typeface="맑은 고딕"/>
            </a:endParaRPr>
          </a:p>
          <a:p>
            <a:pPr>
              <a:lnSpc>
                <a:spcPct val="145000"/>
              </a:lnSpc>
              <a:buClr>
                <a:srgbClr val="000000"/>
              </a:buClr>
              <a:buNone/>
              <a:defRPr/>
            </a:pPr>
            <a:r>
              <a:rPr lang="en-US" altLang="ko-KR" sz="1200">
                <a:solidFill>
                  <a:srgbClr val="000000"/>
                </a:solidFill>
                <a:effectLst/>
                <a:latin typeface="맑은 고딕"/>
              </a:rPr>
              <a:t>5) Forbes Global 2000 랭킹의 세계 상장 대기업 500사</a:t>
            </a:r>
            <a:endParaRPr lang="en-US" altLang="ko-KR" sz="1200">
              <a:solidFill>
                <a:srgbClr val="000000"/>
              </a:solidFill>
              <a:effectLst/>
              <a:latin typeface="맑은 고딕"/>
            </a:endParaRPr>
          </a:p>
          <a:p>
            <a:pPr>
              <a:lnSpc>
                <a:spcPct val="145000"/>
              </a:lnSpc>
              <a:buClr>
                <a:srgbClr val="000000"/>
              </a:buClr>
              <a:buNone/>
              <a:defRPr/>
            </a:pPr>
            <a:r>
              <a:rPr lang="en-US" altLang="ko-KR" sz="1200">
                <a:solidFill>
                  <a:srgbClr val="000000"/>
                </a:solidFill>
                <a:effectLst/>
                <a:latin typeface="맑은 고딕"/>
              </a:rPr>
              <a:t>6) “500 startups, How do the World's Biggest Companies`Deal with the Startup Revolution?”, 2016.</a:t>
            </a:r>
            <a:endParaRPr lang="en-US" altLang="ko-KR" sz="1200">
              <a:solidFill>
                <a:srgbClr val="000000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14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7) 500Startups &amp; 노무라연구소, 스타트업과의 연계에 의한 이노베이션 실현, pp. 14, 2014.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14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8) 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조선비즈,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저성장 시대, R&amp;D센터 없애고 C&amp;D 하라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”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, 2016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.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9)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JOIC(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일본 오픈 이노베이션 협의회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14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10)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JP techcrunch, “We are on the verge of a consumer M&amp;A avalanche”, 2016. 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16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11)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JP techcrunc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h,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소비재 업계에서 일어나고 있는 M&amp;A 눈사태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”,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201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6.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14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12)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하나금융경영연구소, “제조업과 서비스업의 융합, Servitization”, 2018.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14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13)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zh-CN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  <a:ea typeface="맑은 고딕"/>
              </a:rPr>
              <a:t>日마이니찌신문,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“</a:t>
            </a:r>
            <a:r>
              <a:rPr xmlns:mc="http://schemas.openxmlformats.org/markup-compatibility/2006" xmlns:hp="http://schemas.haansoft.com/office/presentation/8.0" kumimoji="0" lang="zh-CN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  <a:ea typeface="맑은 고딕"/>
              </a:rPr>
              <a:t>공간 데이터의 협창 플랫폼 『CRESNECT』을 활용한 </a:t>
            </a:r>
            <a:r>
              <a:rPr xmlns:mc="http://schemas.openxmlformats.org/markup-compatibility/2006" xmlns:hp="http://schemas.haansoft.com/office/presentation/8.0" kumimoji="0" lang="zh-CN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｢</a:t>
            </a:r>
            <a:r>
              <a:rPr xmlns:mc="http://schemas.openxmlformats.org/markup-compatibility/2006" xmlns:hp="http://schemas.haansoft.com/office/presentation/8.0" kumimoji="0" lang="zh-CN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  <a:ea typeface="맑은 고딕"/>
              </a:rPr>
              <a:t>미래 오피스 공간</a:t>
            </a:r>
            <a:r>
              <a:rPr xmlns:mc="http://schemas.openxmlformats.org/markup-compatibility/2006" xmlns:hp="http://schemas.haansoft.com/office/presentation/8.0" kumimoji="0" lang="zh-CN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｣</a:t>
            </a:r>
            <a:r>
              <a:rPr xmlns:mc="http://schemas.openxmlformats.org/markup-compatibility/2006" xmlns:hp="http://schemas.haansoft.com/office/presentation/8.0" kumimoji="0" lang="zh-CN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조</a:t>
            </a:r>
            <a:r>
              <a:rPr xmlns:mc="http://schemas.openxmlformats.org/markup-compatibility/2006" xmlns:hp="http://schemas.haansoft.com/office/presentation/8.0" kumimoji="0" lang="zh-CN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  <a:ea typeface="맑은 고딕"/>
              </a:rPr>
              <a:t>성을 시작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”</a:t>
            </a:r>
            <a:r>
              <a:rPr xmlns:mc="http://schemas.openxmlformats.org/markup-compatibility/2006" xmlns:hp="http://schemas.haansoft.com/office/presentation/8.0" kumimoji="0" lang="zh-CN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  <a:ea typeface="맑은 고딕"/>
              </a:rPr>
              <a:t>, 2018.</a:t>
            </a:r>
            <a:endParaRPr xmlns:mc="http://schemas.openxmlformats.org/markup-compatibility/2006" xmlns:hp="http://schemas.haansoft.com/office/presentation/8.0" kumimoji="0" lang="zh-CN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  <a:ea typeface="맑은 고딕"/>
            </a:endParaRPr>
          </a:p>
          <a:p>
            <a:pPr marL="0" indent="0" algn="l" defTabSz="914400" rtl="0" eaLnBrk="1" latinLnBrk="1" hangingPunct="1">
              <a:lnSpc>
                <a:spcPct val="14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14) Larry Huston and Nabil Sakkab, “Connect and Develop. Inside Procter and Gamble’s New Model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for Innovation”, 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14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    Harvard Business Review, 2006.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14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strike="noStrike" kern="1200" cap="none" spc="0" normalizeH="0" baseline="0" mc:Ignorable="hp" hp:hslEmbossed="0">
                <a:solidFill>
                  <a:schemeClr val="tx1"/>
                </a:solidFill>
                <a:effectLst/>
                <a:latin typeface="맑은 고딕"/>
              </a:rPr>
              <a:t>15)</a:t>
            </a:r>
            <a:r>
              <a:rPr xmlns:mc="http://schemas.openxmlformats.org/markup-compatibility/2006" xmlns:hp="http://schemas.haansoft.com/office/presentation/8.0" kumimoji="0" lang="ko-KR" altLang="en-US" sz="1200" b="0" i="0" strike="noStrike" kern="1200" cap="none" spc="0" normalizeH="0" baseline="0" mc:Ignorable="hp" hp:hslEmbossed="0">
                <a:solidFill>
                  <a:schemeClr val="tx1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200" b="0" i="0" strike="noStrike" kern="1200" cap="none" spc="-100" normalizeH="0" baseline="0" mc:Ignorable="hp" hp:hslEmbossed="0">
                <a:solidFill>
                  <a:schemeClr val="tx1"/>
                </a:solidFill>
                <a:effectLst/>
                <a:latin typeface="맑은 고딕"/>
              </a:rPr>
              <a:t>한화시스템</a:t>
            </a:r>
            <a:r>
              <a:rPr xmlns:mc="http://schemas.openxmlformats.org/markup-compatibility/2006" xmlns:hp="http://schemas.haansoft.com/office/presentation/8.0" kumimoji="0" lang="en-US" altLang="ko-KR" sz="1200" b="0" i="0" strike="noStrike" kern="1200" cap="none" spc="-100" normalizeH="0" baseline="0" mc:Ignorable="hp" hp:hslEmbossed="0">
                <a:solidFill>
                  <a:schemeClr val="tx1"/>
                </a:solidFill>
                <a:effectLst/>
                <a:latin typeface="맑은 고딕"/>
              </a:rPr>
              <a:t>(www. discoverynews.kr/news/asticleView.html?idxn0=640639),</a:t>
            </a:r>
            <a:r>
              <a:rPr xmlns:mc="http://schemas.openxmlformats.org/markup-compatibility/2006" xmlns:hp="http://schemas.haansoft.com/office/presentation/8.0" kumimoji="0" lang="ko-KR" altLang="en-US" sz="1200" b="0" i="0" strike="noStrike" kern="1200" cap="none" spc="-100" normalizeH="0" baseline="0" mc:Ignorable="hp" hp:hslEmbossed="0">
                <a:solidFill>
                  <a:schemeClr val="tx1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200" b="0" i="0" strike="noStrike" kern="1200" cap="none" spc="-100" normalizeH="0" baseline="0" mc:Ignorable="hp" hp:hslEmbossed="0">
                <a:solidFill>
                  <a:schemeClr val="tx1"/>
                </a:solidFill>
                <a:effectLst/>
                <a:latin typeface="맑은 고딕"/>
              </a:rPr>
              <a:t>“</a:t>
            </a:r>
            <a:r>
              <a:rPr xmlns:mc="http://schemas.openxmlformats.org/markup-compatibility/2006" xmlns:hp="http://schemas.haansoft.com/office/presentation/8.0" kumimoji="0" lang="ko-KR" altLang="en-US" sz="1200" b="0" i="0" strike="noStrike" kern="1200" cap="none" spc="-100" normalizeH="0" baseline="0" mc:Ignorable="hp" hp:hslEmbossed="0">
                <a:solidFill>
                  <a:schemeClr val="tx1"/>
                </a:solidFill>
                <a:effectLst/>
                <a:latin typeface="맑은 고딕"/>
              </a:rPr>
              <a:t>커넥트 H’오픈 이노베이션 프로그램 추진</a:t>
            </a:r>
            <a:r>
              <a:rPr xmlns:mc="http://schemas.openxmlformats.org/markup-compatibility/2006" xmlns:hp="http://schemas.haansoft.com/office/presentation/8.0" kumimoji="0" lang="en-US" altLang="ko-KR" sz="1200" b="0" i="0" strike="noStrike" kern="1200" cap="none" spc="-100" normalizeH="0" baseline="0" mc:Ignorable="hp" hp:hslEmbossed="0">
                <a:solidFill>
                  <a:schemeClr val="tx1"/>
                </a:solidFill>
                <a:effectLst/>
                <a:latin typeface="맑은 고딕"/>
              </a:rPr>
              <a:t>”,</a:t>
            </a:r>
            <a:r>
              <a:rPr xmlns:mc="http://schemas.openxmlformats.org/markup-compatibility/2006" xmlns:hp="http://schemas.haansoft.com/office/presentation/8.0" kumimoji="0" lang="ko-KR" altLang="en-US" sz="1200" b="0" i="0" strike="noStrike" kern="1200" cap="none" spc="-100" normalizeH="0" baseline="0" mc:Ignorable="hp" hp:hslEmbossed="0">
                <a:solidFill>
                  <a:schemeClr val="tx1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200" b="0" i="0" strike="noStrike" kern="1200" cap="none" spc="-100" normalizeH="0" baseline="0" mc:Ignorable="hp" hp:hslEmbossed="0">
                <a:solidFill>
                  <a:schemeClr val="tx1"/>
                </a:solidFill>
                <a:effectLst/>
                <a:latin typeface="맑은 고딕"/>
              </a:rPr>
              <a:t>2021.</a:t>
            </a:r>
            <a:endParaRPr xmlns:mc="http://schemas.openxmlformats.org/markup-compatibility/2006" xmlns:hp="http://schemas.haansoft.com/office/presentation/8.0" kumimoji="0" lang="en-US" altLang="ko-KR" sz="1200" b="0" i="0" strike="noStrike" kern="1200" cap="none" spc="-100" normalizeH="0" baseline="0" mc:Ignorable="hp" hp:hslEmbossed="0">
              <a:solidFill>
                <a:schemeClr val="tx1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14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16)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-10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KCC(http://www.wikileaks-kr.org/news/articleView.html?idxno=113111), ”KCC, 우수 스타트업 지원 및 육성을 위한 오픈 이노베이션 추진”, 2021.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-10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  <a:p>
            <a:pPr marL="0" indent="0" algn="l" defTabSz="914400" rtl="0" eaLnBrk="1" latinLnBrk="1" hangingPunct="1">
              <a:lnSpc>
                <a:spcPct val="145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17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-10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현대모비스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-10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(www.mobis.co.kr/contentsid/37123index.do), “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-10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현대모비스, 미래 대응 역량을 높이기 위해 오픈 이노베이션 적극 추진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-100" normalizeH="0" baseline="0" mc:Ignorable="hp" hp:hslEmbossed="0">
                <a:solidFill>
                  <a:srgbClr val="000000"/>
                </a:solidFill>
                <a:effectLst/>
                <a:latin typeface="맑은 고딕"/>
              </a:rPr>
              <a:t>”, 2021. 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-100" normalizeH="0" baseline="0" mc:Ignorable="hp" hp:hslEmbossed="0">
              <a:solidFill>
                <a:srgbClr val="000000"/>
              </a:solidFill>
              <a:effectLst/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3179</ep:Words>
  <ep:PresentationFormat>화면 슬라이드 쇼(4:3)</ep:PresentationFormat>
  <ep:Paragraphs>382</ep:Paragraphs>
  <ep:Slides>29</ep:Slides>
  <ep:Notes>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ep:HeadingPairs>
  <ep:TitlesOfParts>
    <vt:vector size="30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2021-10-01T06:45:10.834</dcterms:created>
  <dc:creator>LEE.BYEONGHO</dc:creator>
  <cp:lastModifiedBy>LEE.BYEONGHO</cp:lastModifiedBy>
  <dcterms:modified xsi:type="dcterms:W3CDTF">2021-10-04T11:03:37.297</dcterms:modified>
  <cp:revision>191</cp:revision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