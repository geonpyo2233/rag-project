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6" d="100"/>
          <a:sy n="86" d="100"/>
        </p:scale>
        <p:origin x="-1308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8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A8C73-D707-4595-AE31-EDF5E1499C48}" type="datetimeFigureOut">
              <a:rPr lang="ko-KR" altLang="en-US" smtClean="0"/>
              <a:t>2016-08-04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1CF27-9424-4FB6-92B5-8D4F9602E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26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1CF27-9424-4FB6-92B5-8D4F9602E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083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1CF27-9424-4FB6-92B5-8D4F9602E7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083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B0097-27CB-4B8A-9388-848DEF1E272E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1917" y="255940"/>
            <a:ext cx="265649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 smtClean="0">
                <a:latin typeface="+mj-ea"/>
                <a:ea typeface="+mj-ea"/>
              </a:rPr>
              <a:t>기획서의 </a:t>
            </a:r>
            <a:r>
              <a:rPr lang="ko-KR" altLang="en-US" dirty="0" smtClean="0">
                <a:latin typeface="+mj-ea"/>
                <a:ea typeface="+mj-ea"/>
              </a:rPr>
              <a:t>구조설계 </a:t>
            </a:r>
            <a:r>
              <a:rPr lang="ko-KR" altLang="en-US" dirty="0" smtClean="0">
                <a:latin typeface="+mj-ea"/>
                <a:ea typeface="+mj-ea"/>
              </a:rPr>
              <a:t>개념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7000" y="101600"/>
            <a:ext cx="6604000" cy="8915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408912" y="251520"/>
            <a:ext cx="3892296" cy="432604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482578" y="1130393"/>
            <a:ext cx="5976664" cy="3590199"/>
            <a:chOff x="309860" y="1185478"/>
            <a:chExt cx="5976664" cy="3590199"/>
          </a:xfrm>
        </p:grpSpPr>
        <p:sp>
          <p:nvSpPr>
            <p:cNvPr id="63" name="직사각형 62"/>
            <p:cNvSpPr/>
            <p:nvPr/>
          </p:nvSpPr>
          <p:spPr>
            <a:xfrm>
              <a:off x="2110060" y="3765903"/>
              <a:ext cx="3744416" cy="100977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latinLnBrk="0">
                <a:lnSpc>
                  <a:spcPct val="150000"/>
                </a:lnSpc>
                <a:spcBef>
                  <a:spcPct val="50000"/>
                </a:spcBef>
              </a:pPr>
              <a:r>
                <a:rPr lang="ko-KR" altLang="en-US" sz="1400" spc="50" dirty="0">
                  <a:ln w="11430"/>
                  <a:solidFill>
                    <a:schemeClr val="tx1">
                      <a:lumMod val="85000"/>
                      <a:lumOff val="1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하나의 문서로 자신의 의견에 대해 다른 사람의 동의를 구하기 위하여 작성되는 것</a:t>
              </a:r>
            </a:p>
          </p:txBody>
        </p:sp>
        <p:sp>
          <p:nvSpPr>
            <p:cNvPr id="64" name="오각형 63"/>
            <p:cNvSpPr/>
            <p:nvPr/>
          </p:nvSpPr>
          <p:spPr>
            <a:xfrm>
              <a:off x="743651" y="3765903"/>
              <a:ext cx="1287708" cy="1009774"/>
            </a:xfrm>
            <a:prstGeom prst="homePlate">
              <a:avLst>
                <a:gd name="adj" fmla="val 11191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en-US" altLang="ko-KR" sz="1400" spc="50" dirty="0" smtClean="0">
                  <a:ln w="11430"/>
                  <a:solidFill>
                    <a:schemeClr val="tx1">
                      <a:lumMod val="85000"/>
                      <a:lumOff val="1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Biz </a:t>
              </a:r>
              <a:r>
                <a:rPr lang="ko-KR" altLang="en-US" sz="1400" spc="50" dirty="0" smtClean="0">
                  <a:ln w="11430"/>
                  <a:solidFill>
                    <a:schemeClr val="tx1">
                      <a:lumMod val="85000"/>
                      <a:lumOff val="1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문서란 </a:t>
              </a:r>
              <a:r>
                <a:rPr lang="en-US" altLang="ko-KR" sz="1400" spc="50" dirty="0" smtClean="0">
                  <a:ln w="11430"/>
                  <a:solidFill>
                    <a:schemeClr val="tx1">
                      <a:lumMod val="85000"/>
                      <a:lumOff val="15000"/>
                    </a:schemeClr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?</a:t>
              </a:r>
              <a:endParaRPr lang="ko-KR" altLang="en-US" sz="1400" spc="50" dirty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8" name="AutoShape 117"/>
            <p:cNvSpPr>
              <a:spLocks noChangeArrowheads="1"/>
            </p:cNvSpPr>
            <p:nvPr/>
          </p:nvSpPr>
          <p:spPr bwMode="auto">
            <a:xfrm>
              <a:off x="2384259" y="2627484"/>
              <a:ext cx="1829609" cy="1160543"/>
            </a:xfrm>
            <a:prstGeom prst="upArrow">
              <a:avLst>
                <a:gd name="adj1" fmla="val 85407"/>
                <a:gd name="adj2" fmla="val 32181"/>
              </a:avLst>
            </a:prstGeom>
            <a:gradFill rotWithShape="1">
              <a:gsLst>
                <a:gs pos="0">
                  <a:srgbClr val="777777"/>
                </a:gs>
                <a:gs pos="100000">
                  <a:srgbClr val="777777">
                    <a:gamma/>
                    <a:shade val="46275"/>
                    <a:invGamma/>
                    <a:alpha val="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9" name="오각형 58"/>
            <p:cNvSpPr/>
            <p:nvPr/>
          </p:nvSpPr>
          <p:spPr>
            <a:xfrm flipH="1">
              <a:off x="3694236" y="1185478"/>
              <a:ext cx="2592288" cy="864096"/>
            </a:xfrm>
            <a:prstGeom prst="homePlate">
              <a:avLst>
                <a:gd name="adj" fmla="val 26064"/>
              </a:avLst>
            </a:prstGeom>
            <a:solidFill>
              <a:srgbClr val="FFFF00">
                <a:alpha val="30000"/>
              </a:srgbClr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>
                <a:spcBef>
                  <a:spcPts val="0"/>
                </a:spcBef>
              </a:pPr>
              <a:r>
                <a:rPr lang="ko-KR" altLang="en-US" sz="1400" spc="50" dirty="0" smtClean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  그 </a:t>
              </a:r>
              <a:r>
                <a:rPr lang="ko-KR" altLang="en-US" sz="1400" spc="50" dirty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내용을 어떤 순서로 </a:t>
              </a:r>
              <a:endParaRPr lang="en-US" altLang="ko-KR" sz="1400" spc="50" dirty="0" smtClean="0">
                <a:ln w="11430"/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400" spc="50" dirty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en-US" altLang="ko-KR" sz="1400" spc="50" dirty="0" smtClean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</a:t>
              </a:r>
              <a:r>
                <a:rPr lang="ko-KR" altLang="en-US" sz="1400" spc="50" dirty="0" smtClean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나열할 </a:t>
              </a:r>
              <a:r>
                <a:rPr lang="ko-KR" altLang="en-US" sz="1400" spc="50" dirty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것인가</a:t>
              </a:r>
              <a:r>
                <a:rPr lang="en-US" altLang="ko-KR" sz="1400" spc="50" dirty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?</a:t>
              </a:r>
            </a:p>
          </p:txBody>
        </p:sp>
        <p:sp>
          <p:nvSpPr>
            <p:cNvPr id="60" name="오각형 59"/>
            <p:cNvSpPr/>
            <p:nvPr/>
          </p:nvSpPr>
          <p:spPr>
            <a:xfrm>
              <a:off x="309860" y="1185478"/>
              <a:ext cx="2592288" cy="864096"/>
            </a:xfrm>
            <a:prstGeom prst="homePlate">
              <a:avLst>
                <a:gd name="adj" fmla="val 26064"/>
              </a:avLst>
            </a:prstGeom>
            <a:solidFill>
              <a:srgbClr val="FFCCFF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>
                <a:spcBef>
                  <a:spcPts val="0"/>
                </a:spcBef>
              </a:pPr>
              <a:r>
                <a:rPr lang="ko-KR" altLang="en-US" sz="1400" spc="50" dirty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어떤 내용을 포함시키고 </a:t>
              </a:r>
              <a:endParaRPr lang="en-US" altLang="ko-KR" sz="1400" spc="50" dirty="0" smtClean="0">
                <a:ln w="11430"/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spcBef>
                  <a:spcPts val="0"/>
                </a:spcBef>
              </a:pPr>
              <a:r>
                <a:rPr lang="ko-KR" altLang="en-US" sz="1400" spc="50" dirty="0" smtClean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어떤 </a:t>
              </a:r>
              <a:r>
                <a:rPr lang="ko-KR" altLang="en-US" sz="1400" spc="50" dirty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내용을 제외시킬 </a:t>
              </a:r>
              <a:endParaRPr lang="en-US" altLang="ko-KR" sz="1400" spc="50" dirty="0" smtClean="0">
                <a:ln w="11430"/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spcBef>
                  <a:spcPts val="0"/>
                </a:spcBef>
              </a:pPr>
              <a:r>
                <a:rPr lang="ko-KR" altLang="en-US" sz="1400" spc="50" dirty="0" smtClean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것인가</a:t>
              </a:r>
              <a:r>
                <a:rPr lang="en-US" altLang="ko-KR" sz="1400" spc="50" dirty="0">
                  <a:ln w="11430"/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?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745069" y="3119504"/>
              <a:ext cx="10310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ko-KR" altLang="en-US" sz="1600" spc="50" dirty="0" smtClean="0">
                  <a:ln w="11430"/>
                  <a:solidFill>
                    <a:schemeClr val="tx1">
                      <a:lumMod val="85000"/>
                      <a:lumOff val="15000"/>
                    </a:schemeClr>
                  </a:solidFill>
                  <a:ea typeface="HY헤드라인M" panose="02030600000101010101" pitchFamily="18" charset="-127"/>
                </a:rPr>
                <a:t>구조설계</a:t>
              </a:r>
              <a:endParaRPr lang="ko-KR" altLang="en-US" sz="1600" spc="50" dirty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a typeface="HY헤드라인M" panose="02030600000101010101" pitchFamily="18" charset="-127"/>
              </a:endParaRPr>
            </a:p>
          </p:txBody>
        </p:sp>
      </p:grpSp>
      <p:sp>
        <p:nvSpPr>
          <p:cNvPr id="61" name="타원 60"/>
          <p:cNvSpPr/>
          <p:nvPr/>
        </p:nvSpPr>
        <p:spPr>
          <a:xfrm>
            <a:off x="2749409" y="878365"/>
            <a:ext cx="1368000" cy="1368152"/>
          </a:xfrm>
          <a:prstGeom prst="ellipse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  <a:scene3d>
            <a:camera prst="orthographicFront"/>
            <a:lightRig rig="soft" dir="tl">
              <a:rot lat="0" lon="0" rev="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spcBef>
                <a:spcPts val="0"/>
              </a:spcBef>
            </a:pPr>
            <a:r>
              <a:rPr lang="en-US" altLang="ko-KR" sz="1400" spc="50" dirty="0" smtClean="0">
                <a:ln w="11430"/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1400" spc="50" dirty="0" smtClean="0">
                <a:ln w="11430"/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가지 </a:t>
            </a:r>
            <a:endParaRPr lang="en-US" altLang="ko-KR" sz="1400" spc="50" dirty="0" smtClean="0">
              <a:ln w="11430"/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>
              <a:spcBef>
                <a:spcPts val="0"/>
              </a:spcBef>
            </a:pPr>
            <a:r>
              <a:rPr lang="ko-KR" altLang="en-US" sz="1400" spc="50" dirty="0" smtClean="0">
                <a:ln w="11430"/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고려 </a:t>
            </a:r>
            <a:endParaRPr lang="en-US" altLang="ko-KR" sz="1400" spc="50" dirty="0" smtClean="0">
              <a:ln w="11430"/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>
              <a:spcBef>
                <a:spcPts val="0"/>
              </a:spcBef>
            </a:pPr>
            <a:r>
              <a:rPr lang="ko-KR" altLang="en-US" sz="1400" spc="50" dirty="0" smtClean="0">
                <a:ln w="11430"/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사항</a:t>
            </a:r>
            <a:endParaRPr lang="ko-KR" altLang="en-US" sz="1400" spc="50" dirty="0">
              <a:ln w="11430"/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9657" y="4860032"/>
            <a:ext cx="6357831" cy="4228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 smtClean="0">
                <a:latin typeface="+mj-ea"/>
                <a:ea typeface="+mj-ea"/>
              </a:rPr>
              <a:t>기획서의 </a:t>
            </a:r>
            <a:r>
              <a:rPr lang="ko-KR" altLang="en-US" sz="1200" dirty="0">
                <a:latin typeface="+mj-ea"/>
                <a:ea typeface="+mj-ea"/>
              </a:rPr>
              <a:t>목적은 자신의 의견에 대해 다른 사람의 동의를 구하기 위해 </a:t>
            </a:r>
            <a:r>
              <a:rPr lang="ko-KR" altLang="en-US" sz="1200" dirty="0" smtClean="0">
                <a:latin typeface="+mj-ea"/>
                <a:ea typeface="+mj-ea"/>
              </a:rPr>
              <a:t>작성되는 </a:t>
            </a:r>
            <a:r>
              <a:rPr lang="ko-KR" altLang="en-US" sz="1200" dirty="0">
                <a:latin typeface="+mj-ea"/>
                <a:ea typeface="+mj-ea"/>
              </a:rPr>
              <a:t>것입니다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  <a:ea typeface="+mj-ea"/>
              </a:rPr>
              <a:t>따라서 </a:t>
            </a:r>
            <a:r>
              <a:rPr lang="ko-KR" altLang="en-US" sz="1200" dirty="0" smtClean="0">
                <a:latin typeface="+mj-ea"/>
                <a:ea typeface="+mj-ea"/>
              </a:rPr>
              <a:t>기획서는 글을 </a:t>
            </a:r>
            <a:r>
              <a:rPr lang="ko-KR" altLang="en-US" sz="1200" dirty="0">
                <a:latin typeface="+mj-ea"/>
                <a:ea typeface="+mj-ea"/>
              </a:rPr>
              <a:t>읽는 사람의 사고구조에 맞추어야 합니다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  <a:ea typeface="+mj-ea"/>
              </a:rPr>
              <a:t>이게 무슨 </a:t>
            </a:r>
            <a:r>
              <a:rPr lang="ko-KR" altLang="en-US" sz="1200" dirty="0" err="1">
                <a:latin typeface="+mj-ea"/>
                <a:ea typeface="+mj-ea"/>
              </a:rPr>
              <a:t>말이냐면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  <a:ea typeface="+mj-ea"/>
              </a:rPr>
              <a:t>불필요한 정보를 제공하거나 논리성이 떨어지면 이해와 납득을 </a:t>
            </a:r>
            <a:r>
              <a:rPr lang="ko-KR" altLang="en-US" sz="1200" dirty="0" smtClean="0">
                <a:latin typeface="+mj-ea"/>
                <a:ea typeface="+mj-ea"/>
              </a:rPr>
              <a:t>얻어내기 어렵습니다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  <a:ea typeface="+mj-ea"/>
              </a:rPr>
              <a:t>그래서 구조설계를 해야 하는데 구조설계는 </a:t>
            </a:r>
            <a:r>
              <a:rPr lang="en-US" altLang="ko-KR" sz="1200" dirty="0">
                <a:latin typeface="+mj-ea"/>
                <a:ea typeface="+mj-ea"/>
              </a:rPr>
              <a:t>2</a:t>
            </a:r>
            <a:r>
              <a:rPr lang="ko-KR" altLang="en-US" sz="1200" dirty="0">
                <a:latin typeface="+mj-ea"/>
                <a:ea typeface="+mj-ea"/>
              </a:rPr>
              <a:t>가지를 고려해야 합니다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  <a:ea typeface="+mj-ea"/>
              </a:rPr>
              <a:t>첫 번째는 어떤 내용을 포함시키고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어떤 내용을 제외시킬 것인지 잘 </a:t>
            </a:r>
            <a:r>
              <a:rPr lang="ko-KR" altLang="en-US" sz="1200" dirty="0" smtClean="0">
                <a:latin typeface="+mj-ea"/>
                <a:ea typeface="+mj-ea"/>
              </a:rPr>
              <a:t>선별하는 것이 중요</a:t>
            </a:r>
            <a:endParaRPr lang="en-US" altLang="ko-KR" sz="1200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 smtClean="0">
                <a:latin typeface="+mj-ea"/>
                <a:ea typeface="+mj-ea"/>
              </a:rPr>
              <a:t>합니다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  <a:ea typeface="+mj-ea"/>
              </a:rPr>
              <a:t>선별이 끝나고 나면 그 내용을 어떤 순서로 나열할 것인지를 결정해야 합니다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  <a:ea typeface="+mj-ea"/>
              </a:rPr>
              <a:t>나열은 매우 논리적으로 해야 합니다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  <a:ea typeface="+mj-ea"/>
              </a:rPr>
              <a:t>따라서 </a:t>
            </a:r>
            <a:r>
              <a:rPr lang="ko-KR" altLang="en-US" sz="1200" dirty="0" smtClean="0">
                <a:latin typeface="+mj-ea"/>
                <a:ea typeface="+mj-ea"/>
              </a:rPr>
              <a:t>기획서를 작성할 </a:t>
            </a:r>
            <a:r>
              <a:rPr lang="ko-KR" altLang="en-US" sz="1200" dirty="0">
                <a:latin typeface="+mj-ea"/>
                <a:ea typeface="+mj-ea"/>
              </a:rPr>
              <a:t>때 구조설계는 글을 쓰기 위한 사전 준비 </a:t>
            </a:r>
            <a:r>
              <a:rPr lang="ko-KR" altLang="en-US" sz="1200" dirty="0" smtClean="0">
                <a:latin typeface="+mj-ea"/>
                <a:ea typeface="+mj-ea"/>
              </a:rPr>
              <a:t>단계이며 가장 </a:t>
            </a:r>
            <a:r>
              <a:rPr lang="ko-KR" altLang="en-US" sz="1200" dirty="0">
                <a:latin typeface="+mj-ea"/>
                <a:ea typeface="+mj-ea"/>
              </a:rPr>
              <a:t>중요한 </a:t>
            </a:r>
            <a:endParaRPr lang="en-US" altLang="ko-KR" sz="1200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 smtClean="0">
                <a:latin typeface="+mj-ea"/>
                <a:ea typeface="+mj-ea"/>
              </a:rPr>
              <a:t>단계라고 </a:t>
            </a:r>
            <a:r>
              <a:rPr lang="ko-KR" altLang="en-US" sz="1200" dirty="0">
                <a:latin typeface="+mj-ea"/>
                <a:ea typeface="+mj-ea"/>
              </a:rPr>
              <a:t>할 수 </a:t>
            </a:r>
            <a:r>
              <a:rPr lang="ko-KR" altLang="en-US" sz="1200" dirty="0" smtClean="0">
                <a:latin typeface="+mj-ea"/>
                <a:ea typeface="+mj-ea"/>
              </a:rPr>
              <a:t>있습니다</a:t>
            </a:r>
            <a:endParaRPr lang="en-US" altLang="ko-KR" sz="1200" dirty="0" smtClean="0">
              <a:latin typeface="+mj-ea"/>
              <a:ea typeface="+mj-ea"/>
            </a:endParaRPr>
          </a:p>
          <a:p>
            <a:r>
              <a:rPr lang="ko-KR" altLang="en-US" sz="1200" dirty="0">
                <a:latin typeface="+mj-ea"/>
              </a:rPr>
              <a:t>보고서의 구조설계는 ‘</a:t>
            </a:r>
            <a:r>
              <a:rPr lang="en-US" altLang="ko-KR" sz="1200" dirty="0">
                <a:latin typeface="+mj-ea"/>
              </a:rPr>
              <a:t>Contents’</a:t>
            </a:r>
            <a:r>
              <a:rPr lang="ko-KR" altLang="en-US" sz="1200" dirty="0">
                <a:latin typeface="+mj-ea"/>
              </a:rPr>
              <a:t>와 ‘</a:t>
            </a:r>
            <a:r>
              <a:rPr lang="en-US" altLang="ko-KR" sz="1200" dirty="0">
                <a:latin typeface="+mj-ea"/>
              </a:rPr>
              <a:t>Structure’</a:t>
            </a:r>
            <a:r>
              <a:rPr lang="ko-KR" altLang="en-US" sz="1200" dirty="0">
                <a:latin typeface="+mj-ea"/>
              </a:rPr>
              <a:t>를 결정하는 것입니다</a:t>
            </a:r>
            <a:r>
              <a:rPr lang="en-US" altLang="ko-KR" sz="1200" dirty="0">
                <a:latin typeface="+mj-ea"/>
              </a:rPr>
              <a:t>. </a:t>
            </a:r>
          </a:p>
          <a:p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는 뭘 말합니까 </a:t>
            </a:r>
            <a:r>
              <a:rPr lang="en-US" altLang="ko-KR" sz="1200" dirty="0">
                <a:latin typeface="+mj-ea"/>
              </a:rPr>
              <a:t>?</a:t>
            </a:r>
          </a:p>
          <a:p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는 지금까지 조사한 내용을 말합니다</a:t>
            </a:r>
            <a:r>
              <a:rPr lang="en-US" altLang="ko-KR" sz="1200" dirty="0">
                <a:latin typeface="+mj-ea"/>
              </a:rPr>
              <a:t>.</a:t>
            </a:r>
          </a:p>
          <a:p>
            <a:r>
              <a:rPr lang="ko-KR" altLang="en-US" sz="1200" dirty="0">
                <a:latin typeface="+mj-ea"/>
              </a:rPr>
              <a:t>자 그럼 조사한 내용을 논리적인 순서로 나열하면 이해와 납득을 얻어 낼 </a:t>
            </a:r>
            <a:r>
              <a:rPr lang="ko-KR" altLang="en-US" sz="1200" dirty="0" smtClean="0">
                <a:latin typeface="+mj-ea"/>
              </a:rPr>
              <a:t>수 있을까요 </a:t>
            </a:r>
            <a:r>
              <a:rPr lang="en-US" altLang="ko-KR" sz="1200" dirty="0">
                <a:latin typeface="+mj-ea"/>
              </a:rPr>
              <a:t>?</a:t>
            </a:r>
          </a:p>
          <a:p>
            <a:r>
              <a:rPr lang="ko-KR" altLang="en-US" sz="1200" dirty="0">
                <a:latin typeface="+mj-ea"/>
              </a:rPr>
              <a:t>많은 사람들이 이 부분에서 착각을 일으킵니다</a:t>
            </a:r>
            <a:endParaRPr lang="en-US" altLang="ko-KR" sz="1200" dirty="0">
              <a:latin typeface="+mj-ea"/>
            </a:endParaRPr>
          </a:p>
          <a:p>
            <a:r>
              <a:rPr lang="ko-KR" altLang="en-US" sz="1200" dirty="0">
                <a:latin typeface="+mj-ea"/>
              </a:rPr>
              <a:t>답은 </a:t>
            </a:r>
            <a:r>
              <a:rPr lang="en-US" altLang="ko-KR" sz="1200" dirty="0">
                <a:latin typeface="+mj-ea"/>
              </a:rPr>
              <a:t>NO</a:t>
            </a:r>
            <a:r>
              <a:rPr lang="ko-KR" altLang="en-US" sz="1200" dirty="0">
                <a:latin typeface="+mj-ea"/>
              </a:rPr>
              <a:t>입니다</a:t>
            </a:r>
            <a:endParaRPr lang="en-US" altLang="ko-KR" sz="1200" dirty="0">
              <a:latin typeface="+mj-ea"/>
            </a:endParaRPr>
          </a:p>
          <a:p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를 </a:t>
            </a:r>
            <a:r>
              <a:rPr lang="en-US" altLang="ko-KR" sz="1200" dirty="0">
                <a:latin typeface="+mj-ea"/>
              </a:rPr>
              <a:t>Structure</a:t>
            </a:r>
            <a:r>
              <a:rPr lang="ko-KR" altLang="en-US" sz="1200" dirty="0">
                <a:latin typeface="+mj-ea"/>
              </a:rPr>
              <a:t>로 만들기 이전에 반드시 거쳐야 하는 과정이 있습니다</a:t>
            </a:r>
            <a:endParaRPr lang="en-US" altLang="ko-KR" sz="1200" dirty="0">
              <a:latin typeface="+mj-ea"/>
            </a:endParaRPr>
          </a:p>
          <a:p>
            <a:r>
              <a:rPr lang="ko-KR" altLang="en-US" sz="1200" dirty="0">
                <a:latin typeface="+mj-ea"/>
              </a:rPr>
              <a:t>그게 뭘까요 </a:t>
            </a:r>
            <a:r>
              <a:rPr lang="en-US" altLang="ko-KR" sz="1200" dirty="0" smtClean="0">
                <a:latin typeface="+mj-ea"/>
              </a:rPr>
              <a:t>?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endParaRPr lang="ko-KR" alt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27000" y="101600"/>
            <a:ext cx="6604000" cy="8915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9657" y="919214"/>
            <a:ext cx="6478055" cy="6961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보고서의 구조설계는 의사결정자가 보고서를 쉽게 받아 들이게 하면 됩니다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의사결정자가 나의 보고서를 받아 들인다는 것은 내 의도대로 생각하고 </a:t>
            </a:r>
            <a:r>
              <a:rPr lang="ko-KR" altLang="en-US" sz="1200" dirty="0" smtClean="0">
                <a:latin typeface="+mj-ea"/>
              </a:rPr>
              <a:t>행동하도록 </a:t>
            </a:r>
            <a:r>
              <a:rPr lang="ko-KR" altLang="en-US" sz="1200" dirty="0">
                <a:latin typeface="+mj-ea"/>
              </a:rPr>
              <a:t>만드는 </a:t>
            </a:r>
            <a:endParaRPr lang="en-US" altLang="ko-KR" sz="1200" dirty="0" smtClean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 smtClean="0">
                <a:latin typeface="+mj-ea"/>
              </a:rPr>
              <a:t>거죠 </a:t>
            </a:r>
            <a:r>
              <a:rPr lang="en-US" altLang="ko-KR" sz="1200" dirty="0">
                <a:latin typeface="+mj-ea"/>
              </a:rPr>
              <a:t>?  </a:t>
            </a:r>
            <a:r>
              <a:rPr lang="ko-KR" altLang="en-US" sz="1200" dirty="0">
                <a:latin typeface="+mj-ea"/>
              </a:rPr>
              <a:t>그게 보고서의 목적이죠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그러니까 목적에 따라 </a:t>
            </a:r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가 달라지겠죠 </a:t>
            </a:r>
            <a:r>
              <a:rPr lang="en-US" altLang="ko-KR" sz="1200" dirty="0">
                <a:latin typeface="+mj-ea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즉 </a:t>
            </a:r>
            <a:r>
              <a:rPr lang="en-US" altLang="ko-KR" sz="1200" dirty="0">
                <a:latin typeface="+mj-ea"/>
              </a:rPr>
              <a:t>Contents’</a:t>
            </a:r>
            <a:r>
              <a:rPr lang="ko-KR" altLang="en-US" sz="1200" dirty="0">
                <a:latin typeface="+mj-ea"/>
              </a:rPr>
              <a:t>와 ‘</a:t>
            </a:r>
            <a:r>
              <a:rPr lang="en-US" altLang="ko-KR" sz="1200" dirty="0">
                <a:latin typeface="+mj-ea"/>
              </a:rPr>
              <a:t>Structure’</a:t>
            </a:r>
            <a:r>
              <a:rPr lang="ko-KR" altLang="en-US" sz="1200" dirty="0">
                <a:latin typeface="+mj-ea"/>
              </a:rPr>
              <a:t>는 </a:t>
            </a:r>
            <a:r>
              <a:rPr lang="en-US" altLang="ko-KR" sz="1200" dirty="0">
                <a:latin typeface="+mj-ea"/>
              </a:rPr>
              <a:t>Objective</a:t>
            </a:r>
            <a:r>
              <a:rPr lang="ko-KR" altLang="en-US" sz="1200" dirty="0">
                <a:latin typeface="+mj-ea"/>
              </a:rPr>
              <a:t>에 의해서 결정됩니다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 smtClean="0">
                <a:latin typeface="+mj-ea"/>
              </a:rPr>
              <a:t>이와 </a:t>
            </a:r>
            <a:r>
              <a:rPr lang="ko-KR" altLang="en-US" sz="1200" dirty="0">
                <a:latin typeface="+mj-ea"/>
              </a:rPr>
              <a:t>같이 얻고자 하는 </a:t>
            </a:r>
            <a:r>
              <a:rPr lang="en-US" altLang="ko-KR" sz="1200" dirty="0">
                <a:latin typeface="+mj-ea"/>
              </a:rPr>
              <a:t>Objective, </a:t>
            </a:r>
            <a:r>
              <a:rPr lang="ko-KR" altLang="en-US" sz="1200" dirty="0">
                <a:latin typeface="+mj-ea"/>
              </a:rPr>
              <a:t>즉 목표에 따라 보고서에 담기게 되는 </a:t>
            </a:r>
            <a:r>
              <a:rPr lang="en-US" altLang="ko-KR" sz="1200" dirty="0" smtClean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가 </a:t>
            </a:r>
            <a:r>
              <a:rPr lang="ko-KR" altLang="en-US" sz="1200" dirty="0" smtClean="0">
                <a:latin typeface="+mj-ea"/>
              </a:rPr>
              <a:t>결정</a:t>
            </a:r>
            <a:endParaRPr lang="en-US" altLang="ko-KR" sz="1200" smtClean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smtClean="0">
                <a:latin typeface="+mj-ea"/>
              </a:rPr>
              <a:t>됩니다</a:t>
            </a:r>
            <a:r>
              <a:rPr lang="en-US" altLang="ko-KR" sz="1200" dirty="0">
                <a:latin typeface="+mj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+mj-ea"/>
              </a:rPr>
              <a:t>보고자는</a:t>
            </a:r>
            <a:r>
              <a:rPr lang="ko-KR" altLang="en-US" sz="1200" dirty="0">
                <a:latin typeface="+mj-ea"/>
              </a:rPr>
              <a:t> 자신의 </a:t>
            </a:r>
            <a:r>
              <a:rPr lang="en-US" altLang="ko-KR" sz="1200" dirty="0">
                <a:latin typeface="+mj-ea"/>
              </a:rPr>
              <a:t>Objective</a:t>
            </a:r>
            <a:r>
              <a:rPr lang="ko-KR" altLang="en-US" sz="1200" dirty="0">
                <a:latin typeface="+mj-ea"/>
              </a:rPr>
              <a:t>를 잘 검토하면 어떤 </a:t>
            </a:r>
            <a:r>
              <a:rPr lang="en-US" altLang="ko-KR" sz="1200" dirty="0">
                <a:latin typeface="+mj-ea"/>
              </a:rPr>
              <a:t>Content</a:t>
            </a:r>
            <a:r>
              <a:rPr lang="ko-KR" altLang="en-US" sz="1200" dirty="0">
                <a:latin typeface="+mj-ea"/>
              </a:rPr>
              <a:t>는 반드시 </a:t>
            </a:r>
            <a:r>
              <a:rPr lang="ko-KR" altLang="en-US" sz="1200" dirty="0" smtClean="0">
                <a:latin typeface="+mj-ea"/>
              </a:rPr>
              <a:t>포함되어야 되고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dirty="0">
                <a:latin typeface="+mj-ea"/>
              </a:rPr>
              <a:t>또 </a:t>
            </a:r>
            <a:endParaRPr lang="en-US" altLang="ko-KR" sz="1200" dirty="0" smtClean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 smtClean="0">
                <a:latin typeface="+mj-ea"/>
              </a:rPr>
              <a:t>어떤 </a:t>
            </a:r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는 제외되어야 하는지 정리할 수 있습니다</a:t>
            </a:r>
            <a:r>
              <a:rPr lang="en-US" altLang="ko-KR" sz="1200" dirty="0">
                <a:latin typeface="+mj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뿐만 아니라 어떤 </a:t>
            </a:r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가 강조되어야 하는지에 대해서도 판단이 가능한 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것입니다</a:t>
            </a:r>
            <a:r>
              <a:rPr lang="en-US" altLang="ko-KR" sz="1200" dirty="0">
                <a:latin typeface="+mj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200" dirty="0" smtClean="0">
                <a:latin typeface="+mj-ea"/>
              </a:rPr>
              <a:t>청년의 </a:t>
            </a:r>
            <a:r>
              <a:rPr lang="ko-KR" altLang="en-US" sz="1200" dirty="0">
                <a:latin typeface="+mj-ea"/>
              </a:rPr>
              <a:t>궁극적인 </a:t>
            </a:r>
            <a:r>
              <a:rPr lang="en-US" altLang="ko-KR" sz="1200" dirty="0">
                <a:latin typeface="+mj-ea"/>
              </a:rPr>
              <a:t>Objective</a:t>
            </a:r>
            <a:r>
              <a:rPr lang="ko-KR" altLang="en-US" sz="1200" dirty="0">
                <a:latin typeface="+mj-ea"/>
              </a:rPr>
              <a:t>는 그녀의 마음을 얻는 것입니다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그렇다고 불쑥 찾아가서 </a:t>
            </a:r>
            <a:r>
              <a:rPr lang="en-US" altLang="ko-KR" sz="1200" dirty="0">
                <a:latin typeface="+mj-ea"/>
              </a:rPr>
              <a:t>I Love You</a:t>
            </a:r>
            <a:r>
              <a:rPr lang="ko-KR" altLang="en-US" sz="1200" dirty="0">
                <a:latin typeface="+mj-ea"/>
              </a:rPr>
              <a:t>라고 하면 </a:t>
            </a:r>
            <a:r>
              <a:rPr lang="en-US" altLang="ko-KR" sz="1200" dirty="0">
                <a:latin typeface="+mj-ea"/>
              </a:rPr>
              <a:t>“Thank You”</a:t>
            </a:r>
            <a:r>
              <a:rPr lang="ko-KR" altLang="en-US" sz="1200" dirty="0">
                <a:latin typeface="+mj-ea"/>
              </a:rPr>
              <a:t>하고 내 마음을 받아줍니까 </a:t>
            </a:r>
            <a:r>
              <a:rPr lang="en-US" altLang="ko-KR" sz="1200" dirty="0">
                <a:latin typeface="+mj-ea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굉장히 당황하겠죠 </a:t>
            </a:r>
            <a:r>
              <a:rPr lang="en-US" altLang="ko-KR" sz="1200" dirty="0">
                <a:latin typeface="+mj-ea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사랑을 고백하려면 최소한 그녀가 뭘 좋아하는지 무엇에 관심이 있는지를 잘 파악을 해서 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감동을 줄 수 있는 멋진 고백해야 합니다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장미를 좋아하면 장미 </a:t>
            </a:r>
            <a:r>
              <a:rPr lang="en-US" altLang="ko-KR" sz="1200" dirty="0">
                <a:latin typeface="+mj-ea"/>
              </a:rPr>
              <a:t>1000</a:t>
            </a:r>
            <a:r>
              <a:rPr lang="ko-KR" altLang="en-US" sz="1200" dirty="0">
                <a:latin typeface="+mj-ea"/>
              </a:rPr>
              <a:t>송이를 기발한 방법으로 선물을 하면서 사랑을 고백하면 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맨손으로 하는 것 보다는 효과가 훨씬 좋을 것입니다</a:t>
            </a:r>
            <a:r>
              <a:rPr lang="en-US" altLang="ko-KR" sz="1200" dirty="0">
                <a:latin typeface="+mj-ea"/>
              </a:rPr>
              <a:t>. </a:t>
            </a:r>
            <a:r>
              <a:rPr lang="ko-KR" altLang="en-US" sz="1200" dirty="0">
                <a:latin typeface="+mj-ea"/>
              </a:rPr>
              <a:t>그렇죠 </a:t>
            </a:r>
            <a:r>
              <a:rPr lang="en-US" altLang="ko-KR" sz="1200" dirty="0">
                <a:latin typeface="+mj-ea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결국 그녀의 마음을 얻기 위해서는 내가 원하는 것만을 이야기 해서는 안되고 그녀의 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상황을 잘 고려하고 반영해야 합니다</a:t>
            </a:r>
            <a:r>
              <a:rPr lang="en-US" altLang="ko-KR" sz="1200" dirty="0">
                <a:latin typeface="+mj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이것이 </a:t>
            </a:r>
            <a:r>
              <a:rPr lang="en-US" altLang="ko-KR" sz="1200" dirty="0">
                <a:latin typeface="+mj-ea"/>
              </a:rPr>
              <a:t>Reader</a:t>
            </a:r>
            <a:r>
              <a:rPr lang="ko-KR" altLang="en-US" sz="1200" dirty="0">
                <a:latin typeface="+mj-ea"/>
              </a:rPr>
              <a:t>분석입니다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당연히 그런 것들이 </a:t>
            </a:r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에 포함되어야 하겠죠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 smtClean="0">
                <a:latin typeface="+mj-ea"/>
              </a:rPr>
              <a:t>이번에는 </a:t>
            </a:r>
            <a:r>
              <a:rPr lang="en-US" altLang="ko-KR" sz="1200" dirty="0">
                <a:latin typeface="+mj-ea"/>
              </a:rPr>
              <a:t>Structure</a:t>
            </a:r>
            <a:r>
              <a:rPr lang="ko-KR" altLang="en-US" sz="1200" dirty="0">
                <a:latin typeface="+mj-ea"/>
              </a:rPr>
              <a:t>에 대해서 생각해 보도록 하겠습니다</a:t>
            </a:r>
            <a:r>
              <a:rPr lang="en-US" altLang="ko-KR" sz="1200" dirty="0">
                <a:latin typeface="+mj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latin typeface="+mj-ea"/>
              </a:rPr>
              <a:t>Structure</a:t>
            </a:r>
            <a:r>
              <a:rPr lang="ko-KR" altLang="en-US" sz="1200" dirty="0">
                <a:latin typeface="+mj-ea"/>
              </a:rPr>
              <a:t>는 </a:t>
            </a:r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에 따라 결정이 됩니다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결정된 </a:t>
            </a:r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를 더 효과적으로 전달 할 수 있도록 논리적으로 글을 배열하는 것이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latin typeface="+mj-ea"/>
              </a:rPr>
              <a:t>Structure</a:t>
            </a:r>
            <a:r>
              <a:rPr lang="ko-KR" altLang="en-US" sz="1200" dirty="0">
                <a:latin typeface="+mj-ea"/>
              </a:rPr>
              <a:t>입니다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그런데 완벽하게 </a:t>
            </a:r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를 도출하고 나서 </a:t>
            </a:r>
            <a:r>
              <a:rPr lang="en-US" altLang="ko-KR" sz="1200" dirty="0">
                <a:latin typeface="+mj-ea"/>
              </a:rPr>
              <a:t>Structure</a:t>
            </a:r>
            <a:r>
              <a:rPr lang="ko-KR" altLang="en-US" sz="1200" dirty="0">
                <a:latin typeface="+mj-ea"/>
              </a:rPr>
              <a:t>를 작성하느냐 그건 아닙니다 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latin typeface="+mj-ea"/>
              </a:rPr>
              <a:t>Structure </a:t>
            </a:r>
            <a:r>
              <a:rPr lang="ko-KR" altLang="en-US" sz="1200" dirty="0">
                <a:latin typeface="+mj-ea"/>
              </a:rPr>
              <a:t>설계 단계에서 설득력을 높이는데 추가로 필요한 </a:t>
            </a:r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가 도출되기</a:t>
            </a:r>
            <a:endParaRPr lang="en-US" altLang="ko-KR" sz="1200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j-ea"/>
              </a:rPr>
              <a:t>도 하고 불필요한 </a:t>
            </a:r>
            <a:r>
              <a:rPr lang="en-US" altLang="ko-KR" sz="1200" dirty="0">
                <a:latin typeface="+mj-ea"/>
              </a:rPr>
              <a:t>Contents</a:t>
            </a:r>
            <a:r>
              <a:rPr lang="ko-KR" altLang="en-US" sz="1200" dirty="0">
                <a:latin typeface="+mj-ea"/>
              </a:rPr>
              <a:t>가 발견되기도 합니다</a:t>
            </a:r>
            <a:r>
              <a:rPr lang="en-US" altLang="ko-KR" sz="1200" dirty="0">
                <a:latin typeface="+mj-ea"/>
              </a:rPr>
              <a:t>. </a:t>
            </a:r>
          </a:p>
          <a:p>
            <a:pPr>
              <a:lnSpc>
                <a:spcPct val="120000"/>
              </a:lnSpc>
            </a:pPr>
            <a:endParaRPr lang="ko-KR" altLang="en-US" sz="1200" dirty="0">
              <a:latin typeface="+mj-ea"/>
            </a:endParaRPr>
          </a:p>
          <a:p>
            <a:pPr>
              <a:lnSpc>
                <a:spcPct val="120000"/>
              </a:lnSpc>
            </a:pPr>
            <a:endParaRPr lang="ko-KR" altLang="en-US" sz="1200" dirty="0">
              <a:latin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71917" y="255940"/>
            <a:ext cx="265649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 smtClean="0">
                <a:latin typeface="+mj-ea"/>
                <a:ea typeface="+mj-ea"/>
              </a:rPr>
              <a:t>기획서의 </a:t>
            </a:r>
            <a:r>
              <a:rPr lang="ko-KR" altLang="en-US" dirty="0" smtClean="0">
                <a:latin typeface="+mj-ea"/>
                <a:ea typeface="+mj-ea"/>
              </a:rPr>
              <a:t>구조설계 </a:t>
            </a:r>
            <a:r>
              <a:rPr lang="ko-KR" altLang="en-US" dirty="0" smtClean="0">
                <a:latin typeface="+mj-ea"/>
                <a:ea typeface="+mj-ea"/>
              </a:rPr>
              <a:t>개념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408912" y="251520"/>
            <a:ext cx="3892296" cy="432604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0578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450</Words>
  <Application>Microsoft Office PowerPoint</Application>
  <PresentationFormat>화면 슬라이드 쇼(4:3)</PresentationFormat>
  <Paragraphs>63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EOM</dc:creator>
  <cp:lastModifiedBy>엄장식</cp:lastModifiedBy>
  <cp:revision>25</cp:revision>
  <dcterms:created xsi:type="dcterms:W3CDTF">2014-10-07T02:57:57Z</dcterms:created>
  <dcterms:modified xsi:type="dcterms:W3CDTF">2016-08-04T10:18:23Z</dcterms:modified>
</cp:coreProperties>
</file>