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329" r:id="rId5"/>
    <p:sldId id="330" r:id="rId6"/>
    <p:sldId id="366" r:id="rId7"/>
    <p:sldId id="275" r:id="rId8"/>
    <p:sldId id="337" r:id="rId9"/>
    <p:sldId id="338" r:id="rId10"/>
    <p:sldId id="331" r:id="rId11"/>
    <p:sldId id="339" r:id="rId12"/>
    <p:sldId id="340" r:id="rId13"/>
    <p:sldId id="341" r:id="rId14"/>
    <p:sldId id="332" r:id="rId15"/>
    <p:sldId id="342" r:id="rId16"/>
    <p:sldId id="343" r:id="rId17"/>
    <p:sldId id="344" r:id="rId18"/>
    <p:sldId id="345" r:id="rId19"/>
    <p:sldId id="346" r:id="rId20"/>
    <p:sldId id="347" r:id="rId21"/>
    <p:sldId id="351" r:id="rId22"/>
    <p:sldId id="352" r:id="rId23"/>
    <p:sldId id="353" r:id="rId24"/>
    <p:sldId id="349" r:id="rId25"/>
    <p:sldId id="354" r:id="rId26"/>
    <p:sldId id="350" r:id="rId27"/>
    <p:sldId id="359" r:id="rId28"/>
    <p:sldId id="360" r:id="rId29"/>
    <p:sldId id="361" r:id="rId30"/>
    <p:sldId id="362" r:id="rId31"/>
    <p:sldId id="363" r:id="rId32"/>
    <p:sldId id="355" r:id="rId33"/>
    <p:sldId id="364" r:id="rId34"/>
    <p:sldId id="365" r:id="rId35"/>
  </p:sldIdLst>
  <p:sldSz cx="9144000" cy="6858000" type="screen4x3"/>
  <p:notesSz cx="6788150" cy="99171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CC"/>
    <a:srgbClr val="006600"/>
    <a:srgbClr val="FF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26" autoAdjust="0"/>
    <p:restoredTop sz="94660"/>
  </p:normalViewPr>
  <p:slideViewPr>
    <p:cSldViewPr snapToGrid="0">
      <p:cViewPr varScale="1">
        <p:scale>
          <a:sx n="79" d="100"/>
          <a:sy n="79" d="100"/>
        </p:scale>
        <p:origin x="-78" y="-7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2052" y="-102"/>
      </p:cViewPr>
      <p:guideLst>
        <p:guide orient="horz" pos="3125"/>
        <p:guide pos="2139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9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r">
              <a:defRPr sz="1200"/>
            </a:lvl1pPr>
          </a:lstStyle>
          <a:p>
            <a:fld id="{3D242011-AB3F-4860-BBD0-46C50B3228CD}" type="datetimeFigureOut">
              <a:rPr lang="ko-KR" altLang="en-US" smtClean="0"/>
              <a:pPr/>
              <a:t>08-14-Sunday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9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r">
              <a:defRPr sz="1200"/>
            </a:lvl1pPr>
          </a:lstStyle>
          <a:p>
            <a:fld id="{F8021D0A-0254-4728-98E1-160BE5C95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78057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9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r">
              <a:defRPr sz="1200"/>
            </a:lvl1pPr>
          </a:lstStyle>
          <a:p>
            <a:fld id="{995037A9-217D-4EBD-9590-DADA42C585E8}" type="datetimeFigureOut">
              <a:rPr lang="ko-KR" altLang="en-US" smtClean="0"/>
              <a:pPr/>
              <a:t>08-14-Sunday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2950"/>
            <a:ext cx="4959350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44" tIns="47721" rIns="95444" bIns="477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6" y="4710630"/>
            <a:ext cx="5430520" cy="4462702"/>
          </a:xfrm>
          <a:prstGeom prst="rect">
            <a:avLst/>
          </a:prstGeom>
        </p:spPr>
        <p:txBody>
          <a:bodyPr vert="horz" lIns="95444" tIns="47721" rIns="95444" bIns="47721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9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r">
              <a:defRPr sz="1200"/>
            </a:lvl1pPr>
          </a:lstStyle>
          <a:p>
            <a:fld id="{C5240C13-67AB-475F-B267-02F62F990A5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4834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0699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22322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 userDrawn="1"/>
        </p:nvGrpSpPr>
        <p:grpSpPr>
          <a:xfrm>
            <a:off x="71406" y="71414"/>
            <a:ext cx="9001156" cy="3857652"/>
            <a:chOff x="71406" y="71414"/>
            <a:chExt cx="8858315" cy="3997931"/>
          </a:xfrm>
        </p:grpSpPr>
        <p:sp>
          <p:nvSpPr>
            <p:cNvPr id="7" name="직사각형 6"/>
            <p:cNvSpPr/>
            <p:nvPr userDrawn="1"/>
          </p:nvSpPr>
          <p:spPr>
            <a:xfrm>
              <a:off x="71406" y="71414"/>
              <a:ext cx="5715040" cy="3500462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 userDrawn="1"/>
          </p:nvSpPr>
          <p:spPr>
            <a:xfrm>
              <a:off x="5857884" y="71414"/>
              <a:ext cx="3071834" cy="3500462"/>
            </a:xfrm>
            <a:prstGeom prst="rect">
              <a:avLst/>
            </a:prstGeom>
            <a:gradFill flip="none" rotWithShape="1">
              <a:gsLst>
                <a:gs pos="42000">
                  <a:schemeClr val="bg1">
                    <a:lumMod val="75000"/>
                    <a:tint val="66000"/>
                    <a:satMod val="160000"/>
                    <a:alpha val="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44500"/>
                    <a:satMod val="160000"/>
                  </a:schemeClr>
                </a:gs>
                <a:gs pos="61000">
                  <a:schemeClr val="bg1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 userDrawn="1"/>
          </p:nvSpPr>
          <p:spPr>
            <a:xfrm>
              <a:off x="704145" y="3625130"/>
              <a:ext cx="8225576" cy="4442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b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컴퓨터 보안과 암호</a:t>
              </a:r>
              <a:endParaRPr lang="ko-KR" altLang="en-US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6" name="직사각형 25"/>
          <p:cNvSpPr/>
          <p:nvPr userDrawn="1"/>
        </p:nvSpPr>
        <p:spPr>
          <a:xfrm>
            <a:off x="71406" y="3500438"/>
            <a:ext cx="571504" cy="4286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/>
          <p:cNvCxnSpPr/>
          <p:nvPr userDrawn="1"/>
        </p:nvCxnSpPr>
        <p:spPr>
          <a:xfrm>
            <a:off x="214282" y="3714752"/>
            <a:ext cx="285752" cy="1588"/>
          </a:xfrm>
          <a:prstGeom prst="straightConnector1">
            <a:avLst/>
          </a:prstGeom>
          <a:ln w="38100">
            <a:solidFill>
              <a:schemeClr val="bg1"/>
            </a:solidFill>
            <a:headEnd w="med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 userDrawn="1"/>
        </p:nvCxnSpPr>
        <p:spPr>
          <a:xfrm>
            <a:off x="0" y="6572272"/>
            <a:ext cx="9144000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457200" y="775063"/>
            <a:ext cx="4898571" cy="203780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673350" y="4737100"/>
            <a:ext cx="4494213" cy="879475"/>
          </a:xfrm>
        </p:spPr>
        <p:txBody>
          <a:bodyPr>
            <a:normAutofit/>
          </a:bodyPr>
          <a:lstStyle>
            <a:lvl1pPr algn="ctr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부제목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 anchor="ctr" anchorCtr="0"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32" y="6500810"/>
            <a:ext cx="8572560" cy="35719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000108"/>
            <a:ext cx="8229600" cy="5126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-32" y="-24"/>
            <a:ext cx="9144032" cy="78581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  <a:shade val="30000"/>
                  <a:satMod val="115000"/>
                </a:schemeClr>
              </a:gs>
              <a:gs pos="50000">
                <a:schemeClr val="accent3">
                  <a:lumMod val="50000"/>
                  <a:shade val="67500"/>
                  <a:satMod val="115000"/>
                </a:schemeClr>
              </a:gs>
              <a:gs pos="100000">
                <a:schemeClr val="accent3">
                  <a:lumMod val="5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572496" y="6500834"/>
            <a:ext cx="571504" cy="35716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 txBox="1">
            <a:spLocks/>
          </p:cNvSpPr>
          <p:nvPr/>
        </p:nvSpPr>
        <p:spPr>
          <a:xfrm>
            <a:off x="8572528" y="6572272"/>
            <a:ext cx="571504" cy="29368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73BE6-7C45-4BD7-97F4-BFB0B357CDB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제목 1"/>
          <p:cNvSpPr txBox="1">
            <a:spLocks/>
          </p:cNvSpPr>
          <p:nvPr userDrawn="1"/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png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457200" y="775063"/>
            <a:ext cx="5372100" cy="2037805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 smtClean="0"/>
              <a:t>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고전 암호 기법 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600" dirty="0" smtClean="0"/>
              <a:t>(Classical Encryption Techniques)</a:t>
            </a:r>
            <a:endParaRPr lang="ko-KR" altLang="en-US" sz="2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pPr marL="914400" lvl="1" indent="-457200">
              <a:buNone/>
            </a:pPr>
            <a:r>
              <a:rPr lang="en-US" altLang="ko-KR" b="1" dirty="0" smtClean="0"/>
              <a:t>2.1 </a:t>
            </a:r>
            <a:r>
              <a:rPr lang="ko-KR" altLang="en-US" b="1" dirty="0" smtClean="0"/>
              <a:t>대칭 암호 모델 </a:t>
            </a:r>
            <a:endParaRPr lang="en-US" altLang="ko-KR" b="1" dirty="0" smtClean="0"/>
          </a:p>
          <a:p>
            <a:pPr marL="914400" lvl="1" indent="-457200">
              <a:buNone/>
            </a:pPr>
            <a:r>
              <a:rPr lang="en-US" altLang="ko-KR" b="1" dirty="0" smtClean="0"/>
              <a:t>2.2 </a:t>
            </a:r>
            <a:r>
              <a:rPr lang="ko-KR" altLang="en-US" b="1" dirty="0" smtClean="0"/>
              <a:t>치환 기법 </a:t>
            </a:r>
            <a:endParaRPr lang="en-US" altLang="ko-KR" b="1" dirty="0" smtClean="0"/>
          </a:p>
          <a:p>
            <a:pPr marL="914400" lvl="1" indent="-457200">
              <a:buNone/>
            </a:pPr>
            <a:r>
              <a:rPr lang="en-US" altLang="ko-KR" b="1" dirty="0" smtClean="0"/>
              <a:t>2.3 </a:t>
            </a:r>
            <a:r>
              <a:rPr lang="ko-KR" altLang="en-US" b="1" dirty="0" smtClean="0"/>
              <a:t>전치 기법 </a:t>
            </a:r>
            <a:endParaRPr lang="en-US" altLang="ko-KR" b="1" dirty="0" smtClean="0"/>
          </a:p>
          <a:p>
            <a:pPr marL="914400" lvl="1" indent="-457200">
              <a:buNone/>
            </a:pPr>
            <a:r>
              <a:rPr lang="en-US" altLang="ko-KR" b="1" dirty="0" smtClean="0"/>
              <a:t>2.4 Rotor Machines 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  <a:p>
            <a:pPr marL="914400" lvl="1" indent="-457200">
              <a:buNone/>
            </a:pPr>
            <a:r>
              <a:rPr lang="en-US" altLang="ko-KR" b="1" dirty="0" smtClean="0"/>
              <a:t>2.5 </a:t>
            </a:r>
            <a:r>
              <a:rPr lang="ko-KR" altLang="en-US" b="1" dirty="0" err="1" smtClean="0"/>
              <a:t>스테가노그라피</a:t>
            </a:r>
            <a:endParaRPr lang="en-US" altLang="ko-KR" b="1" dirty="0" smtClean="0"/>
          </a:p>
          <a:p>
            <a:pPr marL="914400" lvl="1" indent="-457200">
              <a:buNone/>
            </a:pPr>
            <a:r>
              <a:rPr lang="ko-KR" altLang="en-US" dirty="0" smtClean="0"/>
              <a:t> 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핵심정</a:t>
            </a:r>
            <a:r>
              <a:rPr lang="ko-KR" altLang="en-US" dirty="0" smtClean="0"/>
              <a:t>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2200" dirty="0" smtClean="0"/>
              <a:t>대칭 암호는 암호화와 </a:t>
            </a:r>
            <a:r>
              <a:rPr lang="ko-KR" altLang="en-US" sz="2200" dirty="0" err="1" smtClean="0"/>
              <a:t>복호화</a:t>
            </a:r>
            <a:r>
              <a:rPr lang="ko-KR" altLang="en-US" sz="2200" dirty="0" smtClean="0"/>
              <a:t> 과정에 동일한 키를 사용하는 암호 시스템 형태를 의미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관용암호로 불리기도 함</a:t>
            </a:r>
            <a:endParaRPr lang="en-US" altLang="ko-KR" sz="2200" dirty="0" smtClean="0"/>
          </a:p>
          <a:p>
            <a:pPr>
              <a:buNone/>
            </a:pPr>
            <a:endParaRPr lang="en-US" altLang="ko-KR" sz="2200" dirty="0" smtClean="0"/>
          </a:p>
          <a:p>
            <a:r>
              <a:rPr lang="ko-KR" altLang="en-US" sz="2200" dirty="0" smtClean="0"/>
              <a:t>대칭 암호는 </a:t>
            </a:r>
            <a:r>
              <a:rPr lang="ko-KR" altLang="en-US" sz="2200" dirty="0" err="1" smtClean="0"/>
              <a:t>비밀키와</a:t>
            </a:r>
            <a:r>
              <a:rPr lang="ko-KR" altLang="en-US" sz="2200" dirty="0" smtClean="0"/>
              <a:t> 암호화 알고리즘을 사용하여 </a:t>
            </a:r>
            <a:r>
              <a:rPr lang="ko-KR" altLang="en-US" sz="2200" dirty="0" err="1" smtClean="0"/>
              <a:t>평문을</a:t>
            </a:r>
            <a:r>
              <a:rPr lang="ko-KR" altLang="en-US" sz="2200" dirty="0" smtClean="0"/>
              <a:t> 암호문으로 바꿈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또한 동일한 키와 </a:t>
            </a:r>
            <a:r>
              <a:rPr lang="ko-KR" altLang="en-US" sz="2200" dirty="0" err="1" smtClean="0"/>
              <a:t>복호화</a:t>
            </a:r>
            <a:r>
              <a:rPr lang="ko-KR" altLang="en-US" sz="2200" dirty="0" smtClean="0"/>
              <a:t> </a:t>
            </a:r>
            <a:r>
              <a:rPr lang="ko-KR" altLang="en-US" sz="2200" dirty="0" err="1" smtClean="0"/>
              <a:t>알고리듬을</a:t>
            </a:r>
            <a:r>
              <a:rPr lang="ko-KR" altLang="en-US" sz="2200" dirty="0" smtClean="0"/>
              <a:t> 사용하여 암호문으로부터 </a:t>
            </a:r>
            <a:r>
              <a:rPr lang="ko-KR" altLang="en-US" sz="2200" dirty="0" err="1" smtClean="0"/>
              <a:t>평문을</a:t>
            </a:r>
            <a:r>
              <a:rPr lang="ko-KR" altLang="en-US" sz="2200" dirty="0" smtClean="0"/>
              <a:t> 얻음</a:t>
            </a:r>
            <a:endParaRPr lang="en-US" altLang="ko-KR" sz="2200" dirty="0" smtClean="0"/>
          </a:p>
          <a:p>
            <a:endParaRPr lang="en-US" altLang="ko-KR" sz="2200" dirty="0" smtClean="0"/>
          </a:p>
          <a:p>
            <a:r>
              <a:rPr lang="ko-KR" altLang="en-US" sz="2200" dirty="0" smtClean="0"/>
              <a:t>암호 </a:t>
            </a:r>
            <a:r>
              <a:rPr lang="ko-KR" altLang="en-US" sz="2200" dirty="0" err="1" smtClean="0"/>
              <a:t>알고리듬의</a:t>
            </a:r>
            <a:r>
              <a:rPr lang="ko-KR" altLang="en-US" sz="2200" dirty="0" smtClean="0"/>
              <a:t> </a:t>
            </a:r>
            <a:r>
              <a:rPr lang="ko-KR" altLang="en-US" sz="2200" dirty="0" err="1" smtClean="0"/>
              <a:t>두가지</a:t>
            </a:r>
            <a:r>
              <a:rPr lang="ko-KR" altLang="en-US" sz="2200" dirty="0" smtClean="0"/>
              <a:t> 공격형태</a:t>
            </a:r>
            <a:endParaRPr lang="en-US" altLang="ko-KR" sz="2200" dirty="0" smtClean="0"/>
          </a:p>
          <a:p>
            <a:pPr lvl="1"/>
            <a:r>
              <a:rPr lang="ko-KR" altLang="en-US" smtClean="0"/>
              <a:t>암호 </a:t>
            </a:r>
            <a:r>
              <a:rPr lang="ko-KR" altLang="en-US" dirty="0" err="1" smtClean="0"/>
              <a:t>알</a:t>
            </a:r>
            <a:r>
              <a:rPr lang="ko-KR" altLang="en-US" smtClean="0"/>
              <a:t>고리즘의 </a:t>
            </a:r>
            <a:r>
              <a:rPr lang="ko-KR" altLang="en-US" dirty="0" smtClean="0"/>
              <a:t>특성에 기반을 둔 암호 </a:t>
            </a:r>
            <a:r>
              <a:rPr lang="ko-KR" altLang="en-US" dirty="0" err="1" smtClean="0"/>
              <a:t>해독학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모든 가능한 키 값을 사용하는 전사적 공격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sz="2200" dirty="0" err="1" smtClean="0"/>
              <a:t>회전자</a:t>
            </a:r>
            <a:r>
              <a:rPr lang="ko-KR" altLang="en-US" sz="2200" dirty="0" smtClean="0"/>
              <a:t> 기계</a:t>
            </a:r>
            <a:endParaRPr lang="en-US" altLang="ko-KR" sz="2200" dirty="0" smtClean="0"/>
          </a:p>
          <a:p>
            <a:pPr lvl="1"/>
            <a:r>
              <a:rPr lang="ko-KR" altLang="en-US" dirty="0" smtClean="0"/>
              <a:t>치환 기법을 사용하는 정교하게 미리 계산된 하드웨어 장치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sz="2200" dirty="0" err="1" smtClean="0"/>
              <a:t>스테가노</a:t>
            </a:r>
            <a:r>
              <a:rPr lang="ko-KR" altLang="en-US" sz="2200" dirty="0" smtClean="0"/>
              <a:t> </a:t>
            </a:r>
            <a:r>
              <a:rPr lang="ko-KR" altLang="en-US" sz="2200" dirty="0" err="1" smtClean="0"/>
              <a:t>그래피</a:t>
            </a:r>
            <a:endParaRPr lang="en-US" altLang="ko-KR" sz="2200" dirty="0" smtClean="0"/>
          </a:p>
          <a:p>
            <a:pPr lvl="1"/>
            <a:r>
              <a:rPr lang="ko-KR" altLang="en-US" dirty="0" smtClean="0"/>
              <a:t>어떤 규모가 큰 대상에 비밀 메시지를 숨기는 기법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39031" y="3243263"/>
            <a:ext cx="6999287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대칭 암호 모델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>
            <a:normAutofit/>
          </a:bodyPr>
          <a:lstStyle/>
          <a:p>
            <a:pPr latinLnBrk="0"/>
            <a:r>
              <a:rPr lang="ko-KR" altLang="en-US" dirty="0" smtClean="0"/>
              <a:t>대칭 암호 방식의 구성 요소</a:t>
            </a:r>
            <a:endParaRPr lang="en-US" altLang="ko-KR" dirty="0" smtClean="0"/>
          </a:p>
          <a:p>
            <a:pPr lvl="1" latinLnBrk="0"/>
            <a:r>
              <a:rPr lang="ko-KR" altLang="en-US" b="1" dirty="0" err="1">
                <a:solidFill>
                  <a:srgbClr val="0000CC"/>
                </a:solidFill>
              </a:rPr>
              <a:t>평문</a:t>
            </a:r>
            <a:r>
              <a:rPr lang="en-US" altLang="ko-KR" b="1" dirty="0">
                <a:solidFill>
                  <a:srgbClr val="0000CC"/>
                </a:solidFill>
              </a:rPr>
              <a:t>(Plaintext)</a:t>
            </a:r>
          </a:p>
          <a:p>
            <a:pPr lvl="1" latinLnBrk="0"/>
            <a:r>
              <a:rPr lang="ko-KR" altLang="en-US" b="1" dirty="0">
                <a:solidFill>
                  <a:srgbClr val="0000CC"/>
                </a:solidFill>
              </a:rPr>
              <a:t>암호 알고리즘</a:t>
            </a:r>
            <a:r>
              <a:rPr lang="en-US" altLang="ko-KR" b="1" dirty="0">
                <a:solidFill>
                  <a:srgbClr val="0000CC"/>
                </a:solidFill>
              </a:rPr>
              <a:t>(Encryption algorithm)</a:t>
            </a:r>
          </a:p>
          <a:p>
            <a:pPr lvl="1" latinLnBrk="0"/>
            <a:r>
              <a:rPr lang="ko-KR" altLang="en-US" b="1" dirty="0">
                <a:solidFill>
                  <a:srgbClr val="0000CC"/>
                </a:solidFill>
              </a:rPr>
              <a:t>비밀키</a:t>
            </a:r>
            <a:r>
              <a:rPr lang="en-US" altLang="ko-KR" b="1" dirty="0">
                <a:solidFill>
                  <a:srgbClr val="0000CC"/>
                </a:solidFill>
              </a:rPr>
              <a:t>(Secret key)</a:t>
            </a:r>
          </a:p>
          <a:p>
            <a:pPr lvl="1" latinLnBrk="0"/>
            <a:r>
              <a:rPr lang="ko-KR" altLang="en-US" b="1" dirty="0">
                <a:solidFill>
                  <a:srgbClr val="0000CC"/>
                </a:solidFill>
              </a:rPr>
              <a:t>암호문</a:t>
            </a:r>
            <a:r>
              <a:rPr lang="en-US" altLang="ko-KR" b="1" dirty="0">
                <a:solidFill>
                  <a:srgbClr val="0000CC"/>
                </a:solidFill>
              </a:rPr>
              <a:t>(</a:t>
            </a:r>
            <a:r>
              <a:rPr lang="en-US" altLang="ko-KR" b="1" dirty="0" err="1">
                <a:solidFill>
                  <a:srgbClr val="0000CC"/>
                </a:solidFill>
              </a:rPr>
              <a:t>Ciphertext</a:t>
            </a:r>
            <a:r>
              <a:rPr lang="en-US" altLang="ko-KR" b="1" dirty="0">
                <a:solidFill>
                  <a:srgbClr val="0000CC"/>
                </a:solidFill>
              </a:rPr>
              <a:t>)</a:t>
            </a:r>
          </a:p>
          <a:p>
            <a:pPr lvl="1" latinLnBrk="0"/>
            <a:r>
              <a:rPr lang="ko-KR" altLang="en-US" b="1" dirty="0" err="1">
                <a:solidFill>
                  <a:srgbClr val="0000CC"/>
                </a:solidFill>
              </a:rPr>
              <a:t>복호</a:t>
            </a:r>
            <a:r>
              <a:rPr lang="ko-KR" altLang="en-US" b="1" dirty="0">
                <a:solidFill>
                  <a:srgbClr val="0000CC"/>
                </a:solidFill>
              </a:rPr>
              <a:t> 알고리즘</a:t>
            </a:r>
            <a:r>
              <a:rPr lang="en-US" altLang="ko-KR" b="1" dirty="0">
                <a:solidFill>
                  <a:srgbClr val="0000CC"/>
                </a:solidFill>
              </a:rPr>
              <a:t>(Decryption algorithm)</a:t>
            </a:r>
          </a:p>
          <a:p>
            <a:pPr latinLnBrk="0"/>
            <a:endParaRPr lang="en-US" altLang="ko-KR" dirty="0" smtClean="0"/>
          </a:p>
          <a:p>
            <a:pPr latinLnBrk="0"/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274744" y="5951578"/>
            <a:ext cx="478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대칭 암호 방식에 대한 단순화된 모델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대칭 암호 모델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>
            <a:normAutofit/>
          </a:bodyPr>
          <a:lstStyle/>
          <a:p>
            <a:pPr lvl="1" latinLnBrk="0"/>
            <a:r>
              <a:rPr lang="ko-KR" altLang="en-US" dirty="0" smtClean="0"/>
              <a:t>암호문 </a:t>
            </a:r>
            <a:r>
              <a:rPr lang="en-US" altLang="ko-KR" i="1" dirty="0" smtClean="0"/>
              <a:t>Y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메시지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평문</a:t>
            </a:r>
            <a:r>
              <a:rPr lang="en-US" altLang="ko-KR" dirty="0" smtClean="0"/>
              <a:t>) </a:t>
            </a:r>
            <a:r>
              <a:rPr lang="ko-KR" altLang="en-US" dirty="0" smtClean="0"/>
              <a:t> </a:t>
            </a:r>
            <a:r>
              <a:rPr lang="en-US" altLang="ko-KR" i="1" dirty="0" smtClean="0"/>
              <a:t>X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암호 키 </a:t>
            </a:r>
            <a:r>
              <a:rPr lang="en-US" altLang="ko-KR" i="1" dirty="0" smtClean="0"/>
              <a:t>K</a:t>
            </a:r>
            <a:r>
              <a:rPr lang="ko-KR" altLang="en-US" dirty="0" err="1" smtClean="0"/>
              <a:t>일때</a:t>
            </a:r>
            <a:r>
              <a:rPr lang="en-US" altLang="ko-KR" dirty="0"/>
              <a:t>:</a:t>
            </a:r>
            <a:endParaRPr lang="en-US" altLang="ko-KR" b="1" dirty="0">
              <a:solidFill>
                <a:srgbClr val="0000CC"/>
              </a:solidFill>
            </a:endParaRPr>
          </a:p>
          <a:p>
            <a:pPr latinLnBrk="0"/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4275" y="2041415"/>
            <a:ext cx="6775449" cy="394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609975" y="5951578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대칭 암호 방식 모델</a:t>
            </a:r>
            <a:endParaRPr lang="ko-KR" altLang="en-US" dirty="0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82985193"/>
              </p:ext>
            </p:extLst>
          </p:nvPr>
        </p:nvGraphicFramePr>
        <p:xfrm>
          <a:off x="1438275" y="1462088"/>
          <a:ext cx="1524000" cy="809625"/>
        </p:xfrm>
        <a:graphic>
          <a:graphicData uri="http://schemas.openxmlformats.org/presentationml/2006/ole">
            <p:oleObj spid="_x0000_s2094" name="Equation" r:id="rId5" imgW="812520" imgH="431640" progId="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88361" y="1969532"/>
            <a:ext cx="252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공격자가 추측한 </a:t>
            </a:r>
            <a:r>
              <a:rPr lang="ko-KR" altLang="en-US" dirty="0" err="1" smtClean="0"/>
              <a:t>평문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888361" y="2361010"/>
            <a:ext cx="2922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공격자가 추측한 암호 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9291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대칭 암호 모델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2400" dirty="0" smtClean="0"/>
              <a:t>암호 시스템은 다음 세가지 영역에 의해 특징화 될 수 있음</a:t>
            </a:r>
            <a:endParaRPr lang="en-US" altLang="ko-KR" sz="2400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평문을</a:t>
            </a:r>
            <a:r>
              <a:rPr lang="ko-KR" altLang="en-US" b="1" dirty="0" smtClean="0">
                <a:solidFill>
                  <a:srgbClr val="0000CC"/>
                </a:solidFill>
              </a:rPr>
              <a:t> 암호문으로 변환하는데 사용되는 동작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치환</a:t>
            </a:r>
            <a:r>
              <a:rPr lang="en-US" altLang="ko-KR" dirty="0" smtClean="0">
                <a:solidFill>
                  <a:srgbClr val="C00000"/>
                </a:solidFill>
              </a:rPr>
              <a:t>(substitution)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전치</a:t>
            </a:r>
            <a:r>
              <a:rPr lang="en-US" altLang="ko-KR" dirty="0" smtClean="0">
                <a:solidFill>
                  <a:srgbClr val="C00000"/>
                </a:solidFill>
              </a:rPr>
              <a:t>(transposition)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사용한 키의 수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en-US" altLang="ko-KR" dirty="0" smtClean="0">
                <a:solidFill>
                  <a:srgbClr val="C00000"/>
                </a:solidFill>
              </a:rPr>
              <a:t>Single key: </a:t>
            </a:r>
            <a:r>
              <a:rPr lang="ko-KR" altLang="en-US" dirty="0" err="1" smtClean="0">
                <a:solidFill>
                  <a:srgbClr val="C00000"/>
                </a:solidFill>
              </a:rPr>
              <a:t>대칭키</a:t>
            </a:r>
            <a:r>
              <a:rPr lang="en-US" altLang="ko-KR" dirty="0" smtClean="0">
                <a:solidFill>
                  <a:srgbClr val="C00000"/>
                </a:solidFill>
              </a:rPr>
              <a:t>/</a:t>
            </a:r>
            <a:r>
              <a:rPr lang="ko-KR" altLang="en-US" dirty="0" smtClean="0">
                <a:solidFill>
                  <a:srgbClr val="C00000"/>
                </a:solidFill>
              </a:rPr>
              <a:t>비밀키</a:t>
            </a:r>
            <a:r>
              <a:rPr lang="en-US" altLang="ko-KR" dirty="0" smtClean="0">
                <a:solidFill>
                  <a:srgbClr val="C00000"/>
                </a:solidFill>
              </a:rPr>
              <a:t> </a:t>
            </a:r>
            <a:r>
              <a:rPr lang="ko-KR" altLang="en-US" dirty="0" smtClean="0">
                <a:solidFill>
                  <a:srgbClr val="C00000"/>
                </a:solidFill>
              </a:rPr>
              <a:t>암호</a:t>
            </a:r>
            <a:r>
              <a:rPr lang="en-US" altLang="ko-KR" dirty="0" smtClean="0">
                <a:solidFill>
                  <a:srgbClr val="C00000"/>
                </a:solidFill>
              </a:rPr>
              <a:t>, </a:t>
            </a:r>
            <a:r>
              <a:rPr lang="ko-KR" altLang="en-US" dirty="0" smtClean="0">
                <a:solidFill>
                  <a:srgbClr val="C00000"/>
                </a:solidFill>
              </a:rPr>
              <a:t>관용 암호 </a:t>
            </a:r>
            <a:endParaRPr lang="en-US" altLang="ko-KR" dirty="0" smtClean="0">
              <a:solidFill>
                <a:srgbClr val="C00000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en-US" altLang="ko-KR" dirty="0" smtClean="0">
                <a:solidFill>
                  <a:srgbClr val="C00000"/>
                </a:solidFill>
              </a:rPr>
              <a:t>Two-key: </a:t>
            </a:r>
            <a:r>
              <a:rPr lang="ko-KR" altLang="en-US" dirty="0" err="1" smtClean="0">
                <a:solidFill>
                  <a:srgbClr val="C00000"/>
                </a:solidFill>
              </a:rPr>
              <a:t>비대칭키</a:t>
            </a:r>
            <a:r>
              <a:rPr lang="en-US" altLang="ko-KR" dirty="0" smtClean="0">
                <a:solidFill>
                  <a:srgbClr val="C00000"/>
                </a:solidFill>
              </a:rPr>
              <a:t>/</a:t>
            </a:r>
            <a:r>
              <a:rPr lang="ko-KR" altLang="en-US" dirty="0" smtClean="0">
                <a:solidFill>
                  <a:srgbClr val="C00000"/>
                </a:solidFill>
              </a:rPr>
              <a:t>공개키 암호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평문이</a:t>
            </a:r>
            <a:r>
              <a:rPr lang="ko-KR" altLang="en-US" b="1" dirty="0" smtClean="0">
                <a:solidFill>
                  <a:srgbClr val="0000CC"/>
                </a:solidFill>
              </a:rPr>
              <a:t> 처리되는 방법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블록 암호</a:t>
            </a:r>
            <a:endParaRPr lang="en-US" altLang="ko-KR" dirty="0" smtClean="0">
              <a:solidFill>
                <a:srgbClr val="C00000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dirty="0" err="1" smtClean="0">
                <a:solidFill>
                  <a:srgbClr val="C00000"/>
                </a:solidFill>
              </a:rPr>
              <a:t>스트림</a:t>
            </a:r>
            <a:r>
              <a:rPr lang="ko-KR" altLang="en-US" dirty="0" smtClean="0">
                <a:solidFill>
                  <a:srgbClr val="C00000"/>
                </a:solidFill>
              </a:rPr>
              <a:t> 암호 </a:t>
            </a:r>
            <a:endParaRPr lang="en-US" altLang="ko-KR" dirty="0">
              <a:solidFill>
                <a:srgbClr val="C00000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7036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대칭 암호 모델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2400" dirty="0" smtClean="0"/>
              <a:t>암호 해독</a:t>
            </a:r>
            <a:r>
              <a:rPr lang="en-US" altLang="ko-KR" sz="2400" dirty="0" smtClean="0"/>
              <a:t>(Cryptanalysis)</a:t>
            </a:r>
            <a:r>
              <a:rPr lang="ko-KR" altLang="en-US" sz="2400" dirty="0" smtClean="0"/>
              <a:t> 및 전사적 공격</a:t>
            </a:r>
            <a:r>
              <a:rPr lang="en-US" altLang="ko-KR" sz="2400" dirty="0" smtClean="0"/>
              <a:t>(Brute-Force Attack)</a:t>
            </a: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암호 해독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암호 알고리즘 본질에 대한 공격</a:t>
            </a:r>
            <a:endParaRPr lang="en-US" altLang="ko-KR" dirty="0" smtClean="0">
              <a:solidFill>
                <a:srgbClr val="C00000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dirty="0" err="1" smtClean="0">
                <a:solidFill>
                  <a:srgbClr val="C00000"/>
                </a:solidFill>
              </a:rPr>
              <a:t>평문</a:t>
            </a:r>
            <a:r>
              <a:rPr lang="en-US" altLang="ko-KR" dirty="0" smtClean="0">
                <a:solidFill>
                  <a:srgbClr val="C00000"/>
                </a:solidFill>
              </a:rPr>
              <a:t>-</a:t>
            </a:r>
            <a:r>
              <a:rPr lang="ko-KR" altLang="en-US" dirty="0" err="1" smtClean="0">
                <a:solidFill>
                  <a:srgbClr val="C00000"/>
                </a:solidFill>
              </a:rPr>
              <a:t>암호문쌍에</a:t>
            </a:r>
            <a:r>
              <a:rPr lang="ko-KR" altLang="en-US" dirty="0" smtClean="0">
                <a:solidFill>
                  <a:srgbClr val="C00000"/>
                </a:solidFill>
              </a:rPr>
              <a:t> 대한 지식 등을 활용한 </a:t>
            </a:r>
            <a:r>
              <a:rPr lang="ko-KR" altLang="en-US" dirty="0" err="1" smtClean="0">
                <a:solidFill>
                  <a:srgbClr val="C00000"/>
                </a:solidFill>
              </a:rPr>
              <a:t>평문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 smtClean="0">
                <a:solidFill>
                  <a:srgbClr val="C00000"/>
                </a:solidFill>
              </a:rPr>
              <a:t>혹은 키 값 추론 공격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전사적 공격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특정 암호문에 대해 이해할 수 있는 </a:t>
            </a:r>
            <a:r>
              <a:rPr lang="ko-KR" altLang="en-US" dirty="0" err="1" smtClean="0">
                <a:solidFill>
                  <a:srgbClr val="C00000"/>
                </a:solidFill>
              </a:rPr>
              <a:t>평문으로</a:t>
            </a:r>
            <a:r>
              <a:rPr lang="ko-KR" altLang="en-US" dirty="0" smtClean="0">
                <a:solidFill>
                  <a:srgbClr val="C00000"/>
                </a:solidFill>
              </a:rPr>
              <a:t> 전환될 때까지 모든 키에 대해 시도함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4515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대칭 암호 모델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2400" dirty="0" smtClean="0"/>
              <a:t>암호 메시지에 대한 공격 유형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6275" y="1371600"/>
            <a:ext cx="7529053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1393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대칭 암호 모델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2400" dirty="0" smtClean="0"/>
              <a:t>전사공격 시 모든 키 탐색을 위해 필요로 하는 평균 시간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2912" y="1528763"/>
            <a:ext cx="8458175" cy="280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1726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대칭 암호 모델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2000" dirty="0" smtClean="0"/>
              <a:t>절대 안전성</a:t>
            </a:r>
            <a:r>
              <a:rPr lang="en-US" altLang="ko-KR" sz="2000" dirty="0" smtClean="0"/>
              <a:t>(Unconditionally Secure)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vs. </a:t>
            </a:r>
            <a:r>
              <a:rPr lang="ko-KR" altLang="en-US" sz="2000" dirty="0" smtClean="0"/>
              <a:t>계산상 안전성</a:t>
            </a:r>
            <a:r>
              <a:rPr lang="en-US" altLang="ko-KR" sz="2000" dirty="0" smtClean="0"/>
              <a:t>(Computationally Secure)</a:t>
            </a: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절대 안전성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해당 암호 기법으로 생성된 암호문을 아무리 많이 사용하더라도 해당 암호문에 </a:t>
            </a:r>
            <a:r>
              <a:rPr lang="ko-KR" altLang="en-US" dirty="0" err="1" smtClean="0">
                <a:solidFill>
                  <a:srgbClr val="C00000"/>
                </a:solidFill>
              </a:rPr>
              <a:t>평문을</a:t>
            </a:r>
            <a:r>
              <a:rPr lang="ko-KR" altLang="en-US" dirty="0" smtClean="0">
                <a:solidFill>
                  <a:srgbClr val="C00000"/>
                </a:solidFill>
              </a:rPr>
              <a:t> 알아낼 수 있는 충분한 정보를 포함하지 않을 경우</a:t>
            </a:r>
            <a:endParaRPr lang="en-US" altLang="ko-KR" dirty="0" smtClean="0">
              <a:solidFill>
                <a:srgbClr val="C00000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en-US" altLang="ko-KR" dirty="0" smtClean="0">
                <a:solidFill>
                  <a:srgbClr val="C00000"/>
                </a:solidFill>
              </a:rPr>
              <a:t>One-time pad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계산상 안전성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아래 두 가지 조건을 만족할 경우</a:t>
            </a:r>
            <a:endParaRPr lang="en-US" altLang="ko-KR" dirty="0" smtClean="0">
              <a:solidFill>
                <a:srgbClr val="C00000"/>
              </a:solidFill>
            </a:endParaRPr>
          </a:p>
          <a:p>
            <a:pPr lvl="3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7030A0"/>
                </a:solidFill>
              </a:rPr>
              <a:t>암호 해독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 smtClean="0">
                <a:solidFill>
                  <a:srgbClr val="7030A0"/>
                </a:solidFill>
              </a:rPr>
              <a:t>비용이 암호화된 정보의 가치 초과</a:t>
            </a:r>
            <a:endParaRPr lang="en-US" altLang="ko-KR" dirty="0" smtClean="0">
              <a:solidFill>
                <a:srgbClr val="7030A0"/>
              </a:solidFill>
            </a:endParaRPr>
          </a:p>
          <a:p>
            <a:pPr lvl="3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7030A0"/>
                </a:solidFill>
              </a:rPr>
              <a:t>암호 해독 시간이 정보의 유호 기간 초과 </a:t>
            </a:r>
            <a:endParaRPr lang="en-US" altLang="ko-KR" dirty="0">
              <a:solidFill>
                <a:srgbClr val="7030A0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3213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dirty="0" smtClean="0"/>
              <a:t>치환 기법</a:t>
            </a:r>
            <a:r>
              <a:rPr lang="en-US" altLang="ko-KR" dirty="0" smtClean="0"/>
              <a:t>(Substitution Techniques)</a:t>
            </a:r>
          </a:p>
          <a:p>
            <a:pPr lvl="1" latinLnBrk="0">
              <a:lnSpc>
                <a:spcPct val="120000"/>
              </a:lnSpc>
            </a:pPr>
            <a:r>
              <a:rPr lang="ko-KR" altLang="en-US" dirty="0" smtClean="0"/>
              <a:t>치환 기법과 전치는 모든 암호 기술의 기초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dirty="0" smtClean="0"/>
              <a:t>치환 암호 방식</a:t>
            </a:r>
            <a:endParaRPr lang="en-US" altLang="ko-KR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평문의</a:t>
            </a:r>
            <a:r>
              <a:rPr lang="ko-KR" altLang="en-US" b="1" dirty="0" smtClean="0">
                <a:solidFill>
                  <a:srgbClr val="0000CC"/>
                </a:solidFill>
              </a:rPr>
              <a:t> 문자</a:t>
            </a:r>
            <a:r>
              <a:rPr lang="en-US" altLang="ko-KR" b="1" dirty="0" smtClean="0">
                <a:solidFill>
                  <a:srgbClr val="0000CC"/>
                </a:solidFill>
              </a:rPr>
              <a:t>(</a:t>
            </a:r>
            <a:r>
              <a:rPr lang="ko-KR" altLang="en-US" b="1" dirty="0" err="1" smtClean="0">
                <a:solidFill>
                  <a:srgbClr val="0000CC"/>
                </a:solidFill>
              </a:rPr>
              <a:t>비트열</a:t>
            </a:r>
            <a:r>
              <a:rPr lang="en-US" altLang="ko-KR" b="1" dirty="0" smtClean="0">
                <a:solidFill>
                  <a:srgbClr val="0000CC"/>
                </a:solidFill>
              </a:rPr>
              <a:t>)</a:t>
            </a:r>
            <a:r>
              <a:rPr lang="ko-KR" altLang="en-US" b="1" dirty="0" smtClean="0">
                <a:solidFill>
                  <a:srgbClr val="0000CC"/>
                </a:solidFill>
              </a:rPr>
              <a:t>를 다른 문자</a:t>
            </a:r>
            <a:r>
              <a:rPr lang="en-US" altLang="ko-KR" b="1" dirty="0" smtClean="0">
                <a:solidFill>
                  <a:srgbClr val="0000CC"/>
                </a:solidFill>
              </a:rPr>
              <a:t>(</a:t>
            </a:r>
            <a:r>
              <a:rPr lang="ko-KR" altLang="en-US" b="1" dirty="0" err="1" smtClean="0">
                <a:solidFill>
                  <a:srgbClr val="0000CC"/>
                </a:solidFill>
              </a:rPr>
              <a:t>비트열</a:t>
            </a:r>
            <a:r>
              <a:rPr lang="en-US" altLang="ko-KR" b="1" dirty="0" smtClean="0">
                <a:solidFill>
                  <a:srgbClr val="0000CC"/>
                </a:solidFill>
              </a:rPr>
              <a:t>), </a:t>
            </a:r>
            <a:r>
              <a:rPr lang="ko-KR" altLang="en-US" b="1" dirty="0" smtClean="0">
                <a:solidFill>
                  <a:srgbClr val="0000CC"/>
                </a:solidFill>
              </a:rPr>
              <a:t>숫자 혹은 심벌로 바꿈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Caesar </a:t>
            </a:r>
            <a:r>
              <a:rPr lang="ko-KR" altLang="en-US" b="1" dirty="0" smtClean="0">
                <a:solidFill>
                  <a:srgbClr val="0000CC"/>
                </a:solidFill>
              </a:rPr>
              <a:t>암호가 대표적임 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16789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smtClean="0"/>
              <a:t>Caesar </a:t>
            </a:r>
            <a:r>
              <a:rPr lang="ko-KR" altLang="en-US" dirty="0" smtClean="0"/>
              <a:t>암호 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각 알파벳 문자를 두 문자 건너의 알파벳 문자로 치환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치환 규칙 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57374" y="2005013"/>
            <a:ext cx="4939389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33450" y="3238500"/>
            <a:ext cx="761238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6943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smtClean="0"/>
              <a:t>Caesar </a:t>
            </a:r>
            <a:r>
              <a:rPr lang="ko-KR" altLang="en-US" dirty="0" smtClean="0"/>
              <a:t>암호 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각 문자에 대해 아래와 같은 숫자 배정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Caesar </a:t>
            </a:r>
            <a:r>
              <a:rPr lang="ko-KR" altLang="en-US" b="1" dirty="0" smtClean="0">
                <a:solidFill>
                  <a:srgbClr val="0000CC"/>
                </a:solidFill>
              </a:rPr>
              <a:t>암호의 암호화 알고리즘은 다음 수식으로 표현 가능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키 값을 일반화하면 다음과 같음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marL="457200" lvl="1" indent="0" latinLnBrk="0">
              <a:lnSpc>
                <a:spcPct val="120000"/>
              </a:lnSpc>
              <a:buNone/>
            </a:pP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복호화</a:t>
            </a:r>
            <a:r>
              <a:rPr lang="ko-KR" altLang="en-US" b="1" dirty="0" smtClean="0">
                <a:solidFill>
                  <a:srgbClr val="0000CC"/>
                </a:solidFill>
              </a:rPr>
              <a:t> 알고리즘  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28687" y="2005013"/>
            <a:ext cx="7285037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14525" y="4133850"/>
            <a:ext cx="29622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14525" y="4962525"/>
            <a:ext cx="29908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14525" y="5834063"/>
            <a:ext cx="30861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5199679"/>
              </p:ext>
            </p:extLst>
          </p:nvPr>
        </p:nvGraphicFramePr>
        <p:xfrm>
          <a:off x="5353050" y="4935537"/>
          <a:ext cx="1110116" cy="282575"/>
        </p:xfrm>
        <a:graphic>
          <a:graphicData uri="http://schemas.openxmlformats.org/presentationml/2006/ole">
            <p:oleObj spid="_x0000_s6184" name="Equation" r:id="rId8" imgW="698400" imgH="17748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75269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4687072" cy="525562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2400" dirty="0" smtClean="0"/>
              <a:t>Caesar </a:t>
            </a:r>
            <a:r>
              <a:rPr lang="ko-KR" altLang="en-US" sz="2400" dirty="0" smtClean="0"/>
              <a:t>암호 </a:t>
            </a:r>
            <a:endParaRPr lang="en-US" altLang="ko-KR" sz="2400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sz="1600" b="1" dirty="0" smtClean="0">
                <a:solidFill>
                  <a:srgbClr val="0000CC"/>
                </a:solidFill>
              </a:rPr>
              <a:t>암호화 및 </a:t>
            </a:r>
            <a:r>
              <a:rPr lang="ko-KR" altLang="en-US" sz="1600" b="1" dirty="0" err="1" smtClean="0">
                <a:solidFill>
                  <a:srgbClr val="0000CC"/>
                </a:solidFill>
              </a:rPr>
              <a:t>복호화</a:t>
            </a:r>
            <a:r>
              <a:rPr lang="ko-KR" altLang="en-US" sz="1600" b="1" dirty="0" smtClean="0">
                <a:solidFill>
                  <a:srgbClr val="0000CC"/>
                </a:solidFill>
              </a:rPr>
              <a:t> 알고리즘을 알고 있음</a:t>
            </a:r>
            <a:endParaRPr lang="en-US" altLang="ko-KR" sz="1600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sz="1600" b="1" dirty="0" smtClean="0">
                <a:solidFill>
                  <a:srgbClr val="0000CC"/>
                </a:solidFill>
              </a:rPr>
              <a:t>가능한 키는 </a:t>
            </a:r>
            <a:r>
              <a:rPr lang="en-US" altLang="ko-KR" sz="1600" b="1" dirty="0" smtClean="0">
                <a:solidFill>
                  <a:srgbClr val="0000CC"/>
                </a:solidFill>
              </a:rPr>
              <a:t>25</a:t>
            </a:r>
            <a:r>
              <a:rPr lang="ko-KR" altLang="en-US" sz="1600" b="1" dirty="0" smtClean="0">
                <a:solidFill>
                  <a:srgbClr val="0000CC"/>
                </a:solidFill>
              </a:rPr>
              <a:t>개뿐임</a:t>
            </a:r>
            <a:endParaRPr lang="en-US" altLang="ko-KR" sz="1600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sz="1600" b="1" dirty="0" err="1" smtClean="0">
                <a:solidFill>
                  <a:srgbClr val="0000CC"/>
                </a:solidFill>
              </a:rPr>
              <a:t>평문의</a:t>
            </a:r>
            <a:r>
              <a:rPr lang="ko-KR" altLang="en-US" sz="1600" b="1" dirty="0" smtClean="0">
                <a:solidFill>
                  <a:srgbClr val="0000CC"/>
                </a:solidFill>
              </a:rPr>
              <a:t> 언어를 알고 있으며 쉽게 인식 가능</a:t>
            </a:r>
            <a:endParaRPr lang="en-US" altLang="ko-KR" sz="1600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  <a:buFont typeface="Wingdings" pitchFamily="2" charset="2"/>
              <a:buChar char="à"/>
            </a:pPr>
            <a:r>
              <a:rPr lang="ko-KR" altLang="en-US" sz="1600" b="1" dirty="0" smtClean="0">
                <a:solidFill>
                  <a:srgbClr val="C00000"/>
                </a:solidFill>
              </a:rPr>
              <a:t>전사적 키 해독 기법에 취약</a:t>
            </a:r>
            <a:endParaRPr lang="en-US" altLang="ko-KR" sz="1600" b="1" dirty="0" smtClean="0">
              <a:solidFill>
                <a:srgbClr val="C00000"/>
              </a:solidFill>
            </a:endParaRPr>
          </a:p>
          <a:p>
            <a:pPr lvl="2" latinLnBrk="0">
              <a:lnSpc>
                <a:spcPct val="120000"/>
              </a:lnSpc>
              <a:buFont typeface="Wingdings" pitchFamily="2" charset="2"/>
              <a:buChar char="à"/>
            </a:pPr>
            <a:endParaRPr lang="en-US" altLang="ko-KR" sz="1600" b="1" dirty="0">
              <a:solidFill>
                <a:srgbClr val="C00000"/>
              </a:solidFill>
            </a:endParaRPr>
          </a:p>
          <a:p>
            <a:pPr marL="342900" lvl="2" indent="-342900" latinLnBrk="0">
              <a:lnSpc>
                <a:spcPct val="120000"/>
              </a:lnSpc>
            </a:pPr>
            <a:r>
              <a:rPr lang="ko-KR" altLang="en-US" dirty="0" smtClean="0"/>
              <a:t>참고</a:t>
            </a:r>
            <a:r>
              <a:rPr lang="en-US" altLang="ko-KR" dirty="0" smtClean="0"/>
              <a:t>) </a:t>
            </a:r>
            <a:r>
              <a:rPr lang="ko-KR" altLang="en-US" dirty="0" smtClean="0"/>
              <a:t>많은 </a:t>
            </a:r>
            <a:r>
              <a:rPr lang="ko-KR" altLang="en-US" dirty="0"/>
              <a:t>키를 사용하는 경우</a:t>
            </a:r>
            <a:r>
              <a:rPr lang="en-US" altLang="ko-KR" dirty="0"/>
              <a:t>, </a:t>
            </a:r>
            <a:r>
              <a:rPr lang="ko-KR" altLang="en-US" dirty="0"/>
              <a:t>전사적 공격은 </a:t>
            </a:r>
            <a:r>
              <a:rPr lang="ko-KR" altLang="en-US" dirty="0" smtClean="0"/>
              <a:t>비실용적임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sz="1600" b="1" dirty="0" smtClean="0">
                <a:solidFill>
                  <a:srgbClr val="0000CC"/>
                </a:solidFill>
              </a:rPr>
              <a:t>예</a:t>
            </a:r>
            <a:r>
              <a:rPr lang="en-US" altLang="ko-KR" sz="1600" b="1" dirty="0" smtClean="0">
                <a:solidFill>
                  <a:srgbClr val="0000CC"/>
                </a:solidFill>
              </a:rPr>
              <a:t>: 3DES</a:t>
            </a:r>
            <a:r>
              <a:rPr lang="ko-KR" altLang="en-US" sz="1600" b="1" dirty="0" smtClean="0">
                <a:solidFill>
                  <a:srgbClr val="0000CC"/>
                </a:solidFill>
              </a:rPr>
              <a:t>의 키 공간</a:t>
            </a:r>
            <a:r>
              <a:rPr lang="en-US" altLang="ko-KR" sz="1600" b="1" dirty="0" smtClean="0">
                <a:solidFill>
                  <a:srgbClr val="0000CC"/>
                </a:solidFill>
              </a:rPr>
              <a:t>: 2</a:t>
            </a:r>
            <a:r>
              <a:rPr lang="en-US" altLang="ko-KR" sz="1600" b="1" baseline="30000" dirty="0" smtClean="0">
                <a:solidFill>
                  <a:srgbClr val="0000CC"/>
                </a:solidFill>
              </a:rPr>
              <a:t>168</a:t>
            </a:r>
          </a:p>
          <a:p>
            <a:pPr lvl="1" latinLnBrk="0">
              <a:lnSpc>
                <a:spcPct val="120000"/>
              </a:lnSpc>
            </a:pPr>
            <a:endParaRPr lang="en-US" altLang="ko-KR" sz="1600" b="1" baseline="30000" dirty="0">
              <a:solidFill>
                <a:srgbClr val="0000CC"/>
              </a:solidFill>
            </a:endParaRPr>
          </a:p>
          <a:p>
            <a:pPr marL="342900" lvl="2" indent="-342900" latinLnBrk="0">
              <a:lnSpc>
                <a:spcPct val="120000"/>
              </a:lnSpc>
            </a:pPr>
            <a:r>
              <a:rPr lang="ko-KR" altLang="en-US" dirty="0" smtClean="0"/>
              <a:t>참고</a:t>
            </a:r>
            <a:r>
              <a:rPr lang="en-US" altLang="ko-KR" dirty="0" smtClean="0"/>
              <a:t>) </a:t>
            </a:r>
            <a:r>
              <a:rPr lang="ko-KR" altLang="en-US" dirty="0" err="1" smtClean="0"/>
              <a:t>평문의</a:t>
            </a:r>
            <a:r>
              <a:rPr lang="ko-KR" altLang="en-US" dirty="0" smtClean="0"/>
              <a:t> 언어나 유형을 알지 못할 경우 공격은 더 어려움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  <a:tabLst>
                <a:tab pos="4305300" algn="l"/>
              </a:tabLst>
            </a:pPr>
            <a:r>
              <a:rPr lang="ko-KR" altLang="en-US" sz="1600" b="1" dirty="0">
                <a:solidFill>
                  <a:srgbClr val="0000CC"/>
                </a:solidFill>
              </a:rPr>
              <a:t>예</a:t>
            </a:r>
            <a:r>
              <a:rPr lang="en-US" altLang="ko-KR" sz="1600" b="1" dirty="0">
                <a:solidFill>
                  <a:srgbClr val="0000CC"/>
                </a:solidFill>
              </a:rPr>
              <a:t>: </a:t>
            </a:r>
            <a:r>
              <a:rPr lang="ko-KR" altLang="en-US" sz="1600" b="1" dirty="0" smtClean="0">
                <a:solidFill>
                  <a:srgbClr val="0000CC"/>
                </a:solidFill>
              </a:rPr>
              <a:t>원문이 </a:t>
            </a:r>
            <a:r>
              <a:rPr lang="en-US" altLang="ko-KR" sz="1600" b="1" dirty="0" smtClean="0">
                <a:solidFill>
                  <a:srgbClr val="0000CC"/>
                </a:solidFill>
              </a:rPr>
              <a:t>ZIP</a:t>
            </a:r>
            <a:r>
              <a:rPr lang="ko-KR" altLang="en-US" sz="1600" b="1" dirty="0" smtClean="0">
                <a:solidFill>
                  <a:srgbClr val="0000CC"/>
                </a:solidFill>
              </a:rPr>
              <a:t>으로 압축될 경우 </a:t>
            </a:r>
            <a:endParaRPr lang="en-US" altLang="ko-KR" sz="1600" b="1" dirty="0">
              <a:solidFill>
                <a:srgbClr val="0000CC"/>
              </a:solidFill>
            </a:endParaRPr>
          </a:p>
          <a:p>
            <a:pPr marL="342900" lvl="2" indent="-342900" latinLnBrk="0">
              <a:lnSpc>
                <a:spcPct val="120000"/>
              </a:lnSpc>
            </a:pPr>
            <a:endParaRPr lang="en-US" altLang="ko-KR" sz="1600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sz="1600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00649" y="457200"/>
            <a:ext cx="3590926" cy="599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그룹 7"/>
          <p:cNvGrpSpPr/>
          <p:nvPr/>
        </p:nvGrpSpPr>
        <p:grpSpPr>
          <a:xfrm>
            <a:off x="6191249" y="657225"/>
            <a:ext cx="2600325" cy="790575"/>
            <a:chOff x="5648325" y="657225"/>
            <a:chExt cx="3143250" cy="790575"/>
          </a:xfrm>
        </p:grpSpPr>
        <p:cxnSp>
          <p:nvCxnSpPr>
            <p:cNvPr id="6" name="직선 연결선 5"/>
            <p:cNvCxnSpPr/>
            <p:nvPr/>
          </p:nvCxnSpPr>
          <p:spPr>
            <a:xfrm flipV="1">
              <a:off x="5648325" y="1438275"/>
              <a:ext cx="3143250" cy="952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flipV="1">
              <a:off x="5648325" y="657225"/>
              <a:ext cx="3143250" cy="952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89447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dirty="0" smtClean="0"/>
              <a:t>단일 문자 치환 암호 기법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각 </a:t>
            </a:r>
            <a:r>
              <a:rPr lang="ko-KR" altLang="en-US" b="1" dirty="0" err="1" smtClean="0">
                <a:solidFill>
                  <a:srgbClr val="0000CC"/>
                </a:solidFill>
              </a:rPr>
              <a:t>평문</a:t>
            </a:r>
            <a:r>
              <a:rPr lang="ko-KR" altLang="en-US" b="1" dirty="0" smtClean="0">
                <a:solidFill>
                  <a:srgbClr val="0000CC"/>
                </a:solidFill>
              </a:rPr>
              <a:t> 문자를 임의의 문자로 치환하는 경우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총 가능한 키의 수</a:t>
            </a:r>
            <a:r>
              <a:rPr lang="en-US" altLang="ko-KR" b="1" dirty="0" smtClean="0">
                <a:solidFill>
                  <a:srgbClr val="0000CC"/>
                </a:solidFill>
              </a:rPr>
              <a:t>: 26!  ( cf. Caesar </a:t>
            </a:r>
            <a:r>
              <a:rPr lang="ko-KR" altLang="en-US" b="1" dirty="0" smtClean="0">
                <a:solidFill>
                  <a:srgbClr val="0000CC"/>
                </a:solidFill>
              </a:rPr>
              <a:t>암호의 키의 수</a:t>
            </a:r>
            <a:r>
              <a:rPr lang="en-US" altLang="ko-KR" b="1" dirty="0" smtClean="0">
                <a:solidFill>
                  <a:srgbClr val="0000CC"/>
                </a:solidFill>
              </a:rPr>
              <a:t>: 26) </a:t>
            </a:r>
          </a:p>
          <a:p>
            <a:pPr marL="0" indent="0" latinLnBrk="0">
              <a:lnSpc>
                <a:spcPct val="120000"/>
              </a:lnSpc>
              <a:buNone/>
            </a:pP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04780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dirty="0" smtClean="0"/>
              <a:t>단일 </a:t>
            </a:r>
            <a:r>
              <a:rPr lang="ko-KR" altLang="en-US" dirty="0"/>
              <a:t>문자 치환 암호 </a:t>
            </a:r>
            <a:r>
              <a:rPr lang="ko-KR" altLang="en-US" dirty="0" smtClean="0"/>
              <a:t>기법에 대한 공격</a:t>
            </a:r>
            <a:r>
              <a:rPr lang="en-US" altLang="ko-KR" dirty="0" smtClean="0"/>
              <a:t>(1/2)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평문의</a:t>
            </a:r>
            <a:r>
              <a:rPr lang="ko-KR" altLang="en-US" b="1" dirty="0" smtClean="0">
                <a:solidFill>
                  <a:srgbClr val="0000CC"/>
                </a:solidFill>
              </a:rPr>
              <a:t> 특성</a:t>
            </a:r>
            <a:r>
              <a:rPr lang="en-US" altLang="ko-KR" b="1" dirty="0" smtClean="0">
                <a:solidFill>
                  <a:srgbClr val="0000CC"/>
                </a:solidFill>
              </a:rPr>
              <a:t>(</a:t>
            </a:r>
            <a:r>
              <a:rPr lang="ko-KR" altLang="en-US" b="1" dirty="0" smtClean="0">
                <a:solidFill>
                  <a:srgbClr val="0000CC"/>
                </a:solidFill>
              </a:rPr>
              <a:t>언어의 규칙성</a:t>
            </a:r>
            <a:r>
              <a:rPr lang="en-US" altLang="ko-KR" b="1" dirty="0" smtClean="0">
                <a:solidFill>
                  <a:srgbClr val="0000CC"/>
                </a:solidFill>
              </a:rPr>
              <a:t>)</a:t>
            </a:r>
            <a:r>
              <a:rPr lang="ko-KR" altLang="en-US" b="1" dirty="0" smtClean="0">
                <a:solidFill>
                  <a:srgbClr val="0000CC"/>
                </a:solidFill>
              </a:rPr>
              <a:t>을 사용한 공격 기법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아래와 같은 암호문이 있을 경우</a:t>
            </a:r>
            <a:r>
              <a:rPr lang="en-US" altLang="ko-KR" b="1" dirty="0" smtClean="0">
                <a:solidFill>
                  <a:srgbClr val="0000CC"/>
                </a:solidFill>
              </a:rPr>
              <a:t>:</a:t>
            </a: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위 암호문에서 각 문자에 대한 상대 빈도 계산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23963" y="2409825"/>
            <a:ext cx="591502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4388" y="4167187"/>
            <a:ext cx="7265987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57437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dirty="0" smtClean="0"/>
              <a:t>단일 </a:t>
            </a:r>
            <a:r>
              <a:rPr lang="ko-KR" altLang="en-US" dirty="0"/>
              <a:t>문자 치환 암호 </a:t>
            </a:r>
            <a:r>
              <a:rPr lang="ko-KR" altLang="en-US" dirty="0" smtClean="0"/>
              <a:t>기법에 대한 공격</a:t>
            </a:r>
            <a:r>
              <a:rPr lang="en-US" altLang="ko-KR" dirty="0" smtClean="0"/>
              <a:t>(2/2)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pPr lvl="1" latinLnBrk="0">
              <a:lnSpc>
                <a:spcPct val="120000"/>
              </a:lnSpc>
            </a:pPr>
            <a:r>
              <a:rPr lang="ko-KR" altLang="en-US" b="1" dirty="0">
                <a:solidFill>
                  <a:srgbClr val="0000CC"/>
                </a:solidFill>
              </a:rPr>
              <a:t>암호문에서의 각 문자의 상대 빈도를 영문자의 상대 문자 빈도와 비교 </a:t>
            </a:r>
            <a:endParaRPr lang="en-US" altLang="ko-KR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33701" y="1950216"/>
            <a:ext cx="6057900" cy="437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타원 3"/>
          <p:cNvSpPr/>
          <p:nvPr/>
        </p:nvSpPr>
        <p:spPr>
          <a:xfrm>
            <a:off x="4067944" y="6021288"/>
            <a:ext cx="304800" cy="3714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7392169" y="6021288"/>
            <a:ext cx="304800" cy="3714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57175" y="4972050"/>
            <a:ext cx="2676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dirty="0" smtClean="0"/>
              <a:t>암호문 </a:t>
            </a:r>
            <a:r>
              <a:rPr lang="en-US" altLang="ko-KR" dirty="0" smtClean="0"/>
              <a:t>{P,Z}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평문</a:t>
            </a:r>
            <a:r>
              <a:rPr lang="ko-KR" altLang="en-US" dirty="0" smtClean="0"/>
              <a:t> </a:t>
            </a:r>
            <a:r>
              <a:rPr lang="en-US" altLang="ko-KR" dirty="0" smtClean="0"/>
              <a:t>{</a:t>
            </a:r>
            <a:r>
              <a:rPr lang="en-US" altLang="ko-KR" dirty="0" err="1" smtClean="0"/>
              <a:t>e,t</a:t>
            </a:r>
            <a:r>
              <a:rPr lang="en-US" altLang="ko-KR" dirty="0" smtClean="0"/>
              <a:t>}</a:t>
            </a:r>
            <a:r>
              <a:rPr lang="ko-KR" altLang="en-US" dirty="0" smtClean="0"/>
              <a:t>에 해당되는 것으로 예측됨</a:t>
            </a:r>
            <a:endParaRPr lang="ko-KR" altLang="en-US" dirty="0"/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9575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2645778"/>
          </a:xfrm>
        </p:spPr>
        <p:txBody>
          <a:bodyPr>
            <a:normAutofit fontScale="92500" lnSpcReduction="20000"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err="1" smtClean="0"/>
              <a:t>Playfair</a:t>
            </a:r>
            <a:r>
              <a:rPr lang="en-US" altLang="ko-KR" dirty="0" smtClean="0"/>
              <a:t> </a:t>
            </a:r>
            <a:r>
              <a:rPr lang="ko-KR" altLang="en-US" dirty="0" smtClean="0"/>
              <a:t>암호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dirty="0" smtClean="0"/>
              <a:t>다중문자 치환 암호 기법</a:t>
            </a:r>
            <a:r>
              <a:rPr lang="en-US" altLang="ko-KR" dirty="0" smtClean="0"/>
              <a:t>(Multiple-Letter Encryption) 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단일 문자가 아닌 다중 문자를 암호화 함으로서 안전도 높임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특정 키워드를 기반으로 하여 </a:t>
            </a:r>
            <a:r>
              <a:rPr lang="en-US" altLang="ko-KR" b="1" dirty="0" smtClean="0">
                <a:solidFill>
                  <a:srgbClr val="0000CC"/>
                </a:solidFill>
              </a:rPr>
              <a:t>5X5 matrix </a:t>
            </a:r>
            <a:r>
              <a:rPr lang="ko-KR" altLang="en-US" b="1" dirty="0" smtClean="0">
                <a:solidFill>
                  <a:srgbClr val="0000CC"/>
                </a:solidFill>
              </a:rPr>
              <a:t>만듦</a:t>
            </a:r>
            <a:endParaRPr lang="en-US" altLang="ko-KR" b="1" dirty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b="1" dirty="0">
                <a:solidFill>
                  <a:srgbClr val="0000CC"/>
                </a:solidFill>
              </a:rPr>
              <a:t>해당 키워드를 사용하여 </a:t>
            </a:r>
            <a:r>
              <a:rPr lang="en-US" altLang="ko-KR" b="1" dirty="0">
                <a:solidFill>
                  <a:srgbClr val="0000CC"/>
                </a:solidFill>
              </a:rPr>
              <a:t>matrix</a:t>
            </a:r>
            <a:r>
              <a:rPr lang="ko-KR" altLang="en-US" b="1" dirty="0">
                <a:solidFill>
                  <a:srgbClr val="0000CC"/>
                </a:solidFill>
              </a:rPr>
              <a:t>를 채우고 해당 키워드를 </a:t>
            </a:r>
            <a:r>
              <a:rPr lang="ko-KR" altLang="en-US" b="1" dirty="0" smtClean="0">
                <a:solidFill>
                  <a:srgbClr val="0000CC"/>
                </a:solidFill>
              </a:rPr>
              <a:t>구성하는 </a:t>
            </a:r>
            <a:r>
              <a:rPr lang="ko-KR" altLang="en-US" b="1" dirty="0">
                <a:solidFill>
                  <a:srgbClr val="0000CC"/>
                </a:solidFill>
              </a:rPr>
              <a:t>문자가 아닌 다른 문자로 나머지 </a:t>
            </a:r>
            <a:r>
              <a:rPr lang="en-US" altLang="ko-KR" b="1" dirty="0">
                <a:solidFill>
                  <a:srgbClr val="0000CC"/>
                </a:solidFill>
              </a:rPr>
              <a:t>matrix </a:t>
            </a:r>
            <a:r>
              <a:rPr lang="ko-KR" altLang="en-US" b="1" dirty="0" smtClean="0">
                <a:solidFill>
                  <a:srgbClr val="0000CC"/>
                </a:solidFill>
              </a:rPr>
              <a:t>공간을 채움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Ex) </a:t>
            </a:r>
            <a:r>
              <a:rPr lang="ko-KR" altLang="en-US" b="1" dirty="0" smtClean="0">
                <a:solidFill>
                  <a:srgbClr val="0000CC"/>
                </a:solidFill>
              </a:rPr>
              <a:t>키워드가 </a:t>
            </a:r>
            <a:r>
              <a:rPr lang="en-US" altLang="ko-KR" b="1" dirty="0" smtClean="0">
                <a:solidFill>
                  <a:srgbClr val="0000CC"/>
                </a:solidFill>
              </a:rPr>
              <a:t>MONARCHY </a:t>
            </a:r>
            <a:r>
              <a:rPr lang="ko-KR" altLang="en-US" b="1" dirty="0" smtClean="0">
                <a:solidFill>
                  <a:srgbClr val="0000CC"/>
                </a:solidFill>
              </a:rPr>
              <a:t>인 경우</a:t>
            </a:r>
            <a:r>
              <a:rPr lang="en-US" altLang="ko-KR" b="1" dirty="0" smtClean="0">
                <a:solidFill>
                  <a:srgbClr val="0000CC"/>
                </a:solidFill>
              </a:rPr>
              <a:t>:</a:t>
            </a:r>
            <a:endParaRPr lang="en-US" altLang="ko-KR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60854317"/>
              </p:ext>
            </p:extLst>
          </p:nvPr>
        </p:nvGraphicFramePr>
        <p:xfrm>
          <a:off x="1328737" y="3608387"/>
          <a:ext cx="3962400" cy="2590800"/>
        </p:xfrm>
        <a:graphic>
          <a:graphicData uri="http://schemas.openxmlformats.org/drawingml/2006/table">
            <a:tbl>
              <a:tblPr rtl="1"/>
              <a:tblGrid>
                <a:gridCol w="792162"/>
                <a:gridCol w="792163"/>
                <a:gridCol w="793750"/>
                <a:gridCol w="792162"/>
                <a:gridCol w="792163"/>
              </a:tblGrid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F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F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F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F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FFE0"/>
                    </a:solidFill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F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F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FFE0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I/J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imes New Roman (Hebrew)" charset="-79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49"/>
          <p:cNvSpPr txBox="1">
            <a:spLocks noChangeArrowheads="1"/>
          </p:cNvSpPr>
          <p:nvPr/>
        </p:nvSpPr>
        <p:spPr bwMode="auto">
          <a:xfrm>
            <a:off x="5381625" y="3784600"/>
            <a:ext cx="2981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algn="l" eaLnBrk="1" hangingPunct="1"/>
            <a:r>
              <a:rPr lang="en-US" altLang="ko-KR" sz="2000">
                <a:latin typeface="Arial Narrow" pitchFamily="34" charset="0"/>
                <a:ea typeface="굴림" charset="-127"/>
              </a:rPr>
              <a:t>- I &amp; J are treated as the same</a:t>
            </a:r>
          </a:p>
          <a:p>
            <a:pPr algn="l" eaLnBrk="1" hangingPunct="1"/>
            <a:r>
              <a:rPr lang="en-US" altLang="ko-KR" sz="2000">
                <a:latin typeface="Arial Narrow" pitchFamily="34" charset="0"/>
                <a:ea typeface="굴림" charset="-127"/>
              </a:rPr>
              <a:t>- B,C,D,E,F… </a:t>
            </a:r>
          </a:p>
        </p:txBody>
      </p:sp>
      <p:grpSp>
        <p:nvGrpSpPr>
          <p:cNvPr id="8" name="Group 52"/>
          <p:cNvGrpSpPr>
            <a:grpSpLocks/>
          </p:cNvGrpSpPr>
          <p:nvPr/>
        </p:nvGrpSpPr>
        <p:grpSpPr bwMode="auto">
          <a:xfrm>
            <a:off x="5748337" y="4141787"/>
            <a:ext cx="228600" cy="304800"/>
            <a:chOff x="3792" y="3024"/>
            <a:chExt cx="192" cy="192"/>
          </a:xfrm>
        </p:grpSpPr>
        <p:sp>
          <p:nvSpPr>
            <p:cNvPr id="9" name="Line 50"/>
            <p:cNvSpPr>
              <a:spLocks noChangeShapeType="1"/>
            </p:cNvSpPr>
            <p:nvPr/>
          </p:nvSpPr>
          <p:spPr bwMode="auto">
            <a:xfrm>
              <a:off x="3792" y="3024"/>
              <a:ext cx="192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ko-KR" altLang="en-US"/>
            </a:p>
          </p:txBody>
        </p:sp>
        <p:sp>
          <p:nvSpPr>
            <p:cNvPr id="10" name="Line 51"/>
            <p:cNvSpPr>
              <a:spLocks noChangeShapeType="1"/>
            </p:cNvSpPr>
            <p:nvPr/>
          </p:nvSpPr>
          <p:spPr bwMode="auto">
            <a:xfrm flipV="1">
              <a:off x="3792" y="3024"/>
              <a:ext cx="192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11" name="Line 53"/>
          <p:cNvSpPr>
            <a:spLocks noChangeShapeType="1"/>
          </p:cNvSpPr>
          <p:nvPr/>
        </p:nvSpPr>
        <p:spPr bwMode="auto">
          <a:xfrm flipV="1">
            <a:off x="5900737" y="4446587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ko-KR" altLang="en-US"/>
          </a:p>
        </p:txBody>
      </p:sp>
      <p:sp>
        <p:nvSpPr>
          <p:cNvPr id="12" name="Text Box 54"/>
          <p:cNvSpPr txBox="1">
            <a:spLocks noChangeArrowheads="1"/>
          </p:cNvSpPr>
          <p:nvPr/>
        </p:nvSpPr>
        <p:spPr bwMode="auto">
          <a:xfrm>
            <a:off x="5291137" y="4979987"/>
            <a:ext cx="2762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eaLnBrk="1" hangingPunct="1"/>
            <a:r>
              <a:rPr lang="en-US" altLang="ko-KR" sz="1600">
                <a:solidFill>
                  <a:srgbClr val="FF0000"/>
                </a:solidFill>
                <a:latin typeface="Arial Narrow" pitchFamily="34" charset="0"/>
                <a:ea typeface="굴림" charset="-127"/>
              </a:rPr>
              <a:t>C </a:t>
            </a:r>
            <a:r>
              <a:rPr lang="en-US" altLang="ko-KR" sz="1600">
                <a:latin typeface="Arial Narrow" pitchFamily="34" charset="0"/>
                <a:ea typeface="굴림" charset="-127"/>
              </a:rPr>
              <a:t>was already used in the keyword</a:t>
            </a:r>
          </a:p>
          <a:p>
            <a:pPr eaLnBrk="1" hangingPunct="1"/>
            <a:r>
              <a:rPr lang="en-US" altLang="ko-KR" sz="1600">
                <a:latin typeface="Arial Narrow" pitchFamily="34" charset="0"/>
                <a:ea typeface="굴림" charset="-127"/>
              </a:rPr>
              <a:t>“MONAR</a:t>
            </a:r>
            <a:r>
              <a:rPr lang="en-US" altLang="ko-KR" sz="1600">
                <a:solidFill>
                  <a:srgbClr val="FF0000"/>
                </a:solidFill>
                <a:latin typeface="Arial Narrow" pitchFamily="34" charset="0"/>
                <a:ea typeface="굴림" charset="-127"/>
              </a:rPr>
              <a:t>C</a:t>
            </a:r>
            <a:r>
              <a:rPr lang="en-US" altLang="ko-KR" sz="1600">
                <a:latin typeface="Arial Narrow" pitchFamily="34" charset="0"/>
                <a:ea typeface="굴림" charset="-127"/>
              </a:rPr>
              <a:t>HY”</a:t>
            </a:r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282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2400" dirty="0" err="1" smtClean="0"/>
              <a:t>Playfair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암호화 방법 </a:t>
            </a:r>
            <a:endParaRPr lang="en-US" altLang="ko-KR" dirty="0" smtClean="0"/>
          </a:p>
          <a:p>
            <a:pPr marL="914400" lvl="1" indent="-457200">
              <a:buFontTx/>
              <a:buAutoNum type="arabicPeriod"/>
            </a:pPr>
            <a:r>
              <a:rPr lang="en-AU" altLang="ko-KR" dirty="0" smtClean="0">
                <a:latin typeface="Arial Narrow" pitchFamily="34" charset="0"/>
                <a:ea typeface="굴림" charset="-127"/>
              </a:rPr>
              <a:t>if 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a pair is a repeated letter, insert a filler like ‘x', 	</a:t>
            </a:r>
            <a:r>
              <a:rPr lang="en-AU" altLang="ko-KR" dirty="0" err="1">
                <a:latin typeface="Arial Narrow" pitchFamily="34" charset="0"/>
                <a:ea typeface="굴림" charset="-127"/>
              </a:rPr>
              <a:t>eg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. "ba</a:t>
            </a:r>
            <a:r>
              <a:rPr lang="en-AU" altLang="ko-KR" dirty="0">
                <a:solidFill>
                  <a:srgbClr val="FF0000"/>
                </a:solidFill>
                <a:latin typeface="Arial Narrow" pitchFamily="34" charset="0"/>
                <a:ea typeface="굴림" charset="-127"/>
              </a:rPr>
              <a:t>ll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oon" encrypts as "</a:t>
            </a:r>
            <a:r>
              <a:rPr lang="en-AU" altLang="ko-KR" dirty="0" err="1">
                <a:latin typeface="Arial Narrow" pitchFamily="34" charset="0"/>
                <a:ea typeface="굴림" charset="-127"/>
              </a:rPr>
              <a:t>ba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 </a:t>
            </a:r>
            <a:r>
              <a:rPr lang="en-AU" altLang="ko-KR" dirty="0">
                <a:solidFill>
                  <a:srgbClr val="FF0000"/>
                </a:solidFill>
                <a:latin typeface="Arial Narrow" pitchFamily="34" charset="0"/>
                <a:ea typeface="굴림" charset="-127"/>
              </a:rPr>
              <a:t>lx l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o on" </a:t>
            </a:r>
          </a:p>
          <a:p>
            <a:pPr marL="914400" lvl="1" indent="-457200">
              <a:buFontTx/>
              <a:buAutoNum type="arabicPeriod"/>
            </a:pPr>
            <a:r>
              <a:rPr lang="en-AU" altLang="ko-KR" dirty="0">
                <a:solidFill>
                  <a:schemeClr val="folHlink"/>
                </a:solidFill>
                <a:latin typeface="Arial Narrow" pitchFamily="34" charset="0"/>
                <a:ea typeface="굴림" charset="-127"/>
              </a:rPr>
              <a:t>if both letters fall in the same row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, </a:t>
            </a:r>
            <a:r>
              <a:rPr lang="en-AU" altLang="ko-KR" dirty="0">
                <a:solidFill>
                  <a:schemeClr val="folHlink"/>
                </a:solidFill>
                <a:latin typeface="Arial Narrow" pitchFamily="34" charset="0"/>
                <a:ea typeface="굴림" charset="-127"/>
              </a:rPr>
              <a:t>replace each with letter to right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 (wrapping back to start from end), 	</a:t>
            </a:r>
            <a:r>
              <a:rPr lang="en-AU" altLang="ko-KR" dirty="0" err="1">
                <a:latin typeface="Arial Narrow" pitchFamily="34" charset="0"/>
                <a:ea typeface="굴림" charset="-127"/>
              </a:rPr>
              <a:t>eg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. “</a:t>
            </a:r>
            <a:r>
              <a:rPr lang="en-AU" altLang="ko-KR" dirty="0" err="1">
                <a:latin typeface="Arial Narrow" pitchFamily="34" charset="0"/>
                <a:ea typeface="굴림" charset="-127"/>
              </a:rPr>
              <a:t>ar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" encrypts as "RM" </a:t>
            </a:r>
          </a:p>
          <a:p>
            <a:pPr marL="914400" lvl="1" indent="-457200">
              <a:buFontTx/>
              <a:buAutoNum type="arabicPeriod"/>
            </a:pPr>
            <a:r>
              <a:rPr lang="en-AU" altLang="ko-KR" dirty="0">
                <a:solidFill>
                  <a:schemeClr val="folHlink"/>
                </a:solidFill>
                <a:latin typeface="Arial Narrow" pitchFamily="34" charset="0"/>
                <a:ea typeface="굴림" charset="-127"/>
              </a:rPr>
              <a:t>if both letters fall in the same column, replace each with the letter below it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 (again wrapping to top from bottom), </a:t>
            </a:r>
            <a:r>
              <a:rPr lang="en-AU" altLang="ko-KR" dirty="0" err="1">
                <a:latin typeface="Arial Narrow" pitchFamily="34" charset="0"/>
                <a:ea typeface="굴림" charset="-127"/>
              </a:rPr>
              <a:t>eg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. “mu" encrypts to "CM" </a:t>
            </a:r>
          </a:p>
          <a:p>
            <a:pPr marL="914400" lvl="1" indent="-457200">
              <a:buFontTx/>
              <a:buAutoNum type="arabicPeriod"/>
            </a:pPr>
            <a:r>
              <a:rPr lang="en-AU" altLang="ko-KR" dirty="0">
                <a:latin typeface="Arial Narrow" pitchFamily="34" charset="0"/>
                <a:ea typeface="굴림" charset="-127"/>
              </a:rPr>
              <a:t>otherwise each plaintext letter in a pair is replaced by the letter that lies in its own row and the column occupied by the other letter. </a:t>
            </a:r>
            <a:r>
              <a:rPr lang="en-AU" altLang="ko-KR" dirty="0">
                <a:solidFill>
                  <a:schemeClr val="folHlink"/>
                </a:solidFill>
                <a:latin typeface="Arial Narrow" pitchFamily="34" charset="0"/>
                <a:ea typeface="굴림" charset="-127"/>
              </a:rPr>
              <a:t>That is, “</a:t>
            </a:r>
            <a:r>
              <a:rPr lang="en-AU" altLang="ko-KR" dirty="0" err="1">
                <a:solidFill>
                  <a:schemeClr val="folHlink"/>
                </a:solidFill>
                <a:latin typeface="Arial Narrow" pitchFamily="34" charset="0"/>
                <a:ea typeface="굴림" charset="-127"/>
              </a:rPr>
              <a:t>hs</a:t>
            </a:r>
            <a:r>
              <a:rPr lang="en-AU" altLang="ko-KR" dirty="0">
                <a:solidFill>
                  <a:schemeClr val="folHlink"/>
                </a:solidFill>
                <a:latin typeface="Arial Narrow" pitchFamily="34" charset="0"/>
                <a:ea typeface="굴림" charset="-127"/>
              </a:rPr>
              <a:t>“ becomes "BP",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 and “</a:t>
            </a:r>
            <a:r>
              <a:rPr lang="en-AU" altLang="ko-KR" dirty="0" err="1">
                <a:latin typeface="Arial Narrow" pitchFamily="34" charset="0"/>
                <a:ea typeface="굴림" charset="-127"/>
              </a:rPr>
              <a:t>ea</a:t>
            </a:r>
            <a:r>
              <a:rPr lang="en-AU" altLang="ko-KR" dirty="0">
                <a:latin typeface="Arial Narrow" pitchFamily="34" charset="0"/>
                <a:ea typeface="굴림" charset="-127"/>
              </a:rPr>
              <a:t>" becomes "IM" or "JM" (as desired) </a:t>
            </a:r>
            <a:endParaRPr lang="ko-KR" altLang="en-AU" sz="1800" dirty="0">
              <a:latin typeface="Arial Narrow" pitchFamily="34" charset="0"/>
              <a:ea typeface="굴림" charset="-127"/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6715125" y="4953000"/>
            <a:ext cx="304800" cy="304800"/>
          </a:xfrm>
          <a:prstGeom prst="ellipse">
            <a:avLst/>
          </a:prstGeom>
          <a:solidFill>
            <a:schemeClr val="accent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ko-KR">
                <a:ea typeface="굴림" charset="-127"/>
              </a:rPr>
              <a:t>P</a:t>
            </a: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7781925" y="4267200"/>
            <a:ext cx="304800" cy="304800"/>
          </a:xfrm>
          <a:prstGeom prst="ellipse">
            <a:avLst/>
          </a:prstGeom>
          <a:solidFill>
            <a:schemeClr val="accent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ko-KR">
                <a:ea typeface="굴림" charset="-127"/>
              </a:rPr>
              <a:t>B</a:t>
            </a:r>
          </a:p>
        </p:txBody>
      </p:sp>
      <p:sp>
        <p:nvSpPr>
          <p:cNvPr id="15" name="Oval 6"/>
          <p:cNvSpPr>
            <a:spLocks noChangeArrowheads="1"/>
          </p:cNvSpPr>
          <p:nvPr/>
        </p:nvSpPr>
        <p:spPr bwMode="auto">
          <a:xfrm flipV="1">
            <a:off x="6715125" y="4267200"/>
            <a:ext cx="304800" cy="304800"/>
          </a:xfrm>
          <a:prstGeom prst="ellipse">
            <a:avLst/>
          </a:prstGeom>
          <a:solidFill>
            <a:srgbClr val="FFFFCC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/>
          <a:lstStyle/>
          <a:p>
            <a:r>
              <a:rPr lang="en-US" altLang="ko-KR">
                <a:ea typeface="굴림" charset="-127"/>
              </a:rPr>
              <a:t>h</a:t>
            </a:r>
          </a:p>
        </p:txBody>
      </p:sp>
      <p:sp>
        <p:nvSpPr>
          <p:cNvPr id="16" name="Oval 7"/>
          <p:cNvSpPr>
            <a:spLocks noChangeArrowheads="1"/>
          </p:cNvSpPr>
          <p:nvPr/>
        </p:nvSpPr>
        <p:spPr bwMode="auto">
          <a:xfrm flipV="1">
            <a:off x="7781925" y="4953000"/>
            <a:ext cx="304800" cy="304800"/>
          </a:xfrm>
          <a:prstGeom prst="ellipse">
            <a:avLst/>
          </a:prstGeom>
          <a:solidFill>
            <a:srgbClr val="FFFFCC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/>
          <a:lstStyle/>
          <a:p>
            <a:r>
              <a:rPr lang="en-US" altLang="ko-KR">
                <a:ea typeface="굴림" charset="-127"/>
              </a:rPr>
              <a:t>s</a:t>
            </a:r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 flipV="1">
            <a:off x="7934325" y="4572000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6867525" y="4572000"/>
            <a:ext cx="0" cy="381000"/>
          </a:xfrm>
          <a:prstGeom prst="line">
            <a:avLst/>
          </a:prstGeom>
          <a:noFill/>
          <a:ln w="25400">
            <a:solidFill>
              <a:srgbClr val="33CC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 flipH="1">
            <a:off x="7096125" y="5105400"/>
            <a:ext cx="685800" cy="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7019925" y="44196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5194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2400" dirty="0" err="1" smtClean="0"/>
              <a:t>Playfair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암호 분석 </a:t>
            </a:r>
            <a:endParaRPr lang="en-US" altLang="ko-KR" sz="2400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보안 수준</a:t>
            </a:r>
            <a:r>
              <a:rPr lang="en-US" altLang="ko-KR" b="1" dirty="0" smtClean="0">
                <a:solidFill>
                  <a:srgbClr val="0000CC"/>
                </a:solidFill>
              </a:rPr>
              <a:t>: 26 X 26 = 676 </a:t>
            </a: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단일 문자 암호보다 상대적으로 공격하기 어려움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1</a:t>
            </a:r>
            <a:r>
              <a:rPr lang="ko-KR" altLang="en-US" b="1" dirty="0" smtClean="0">
                <a:solidFill>
                  <a:srgbClr val="0000CC"/>
                </a:solidFill>
              </a:rPr>
              <a:t>차 세계 대전 및 </a:t>
            </a:r>
            <a:r>
              <a:rPr lang="en-US" altLang="ko-KR" b="1" dirty="0" smtClean="0">
                <a:solidFill>
                  <a:srgbClr val="0000CC"/>
                </a:solidFill>
              </a:rPr>
              <a:t>2</a:t>
            </a:r>
            <a:r>
              <a:rPr lang="ko-KR" altLang="en-US" b="1" dirty="0" smtClean="0">
                <a:solidFill>
                  <a:srgbClr val="0000CC"/>
                </a:solidFill>
              </a:rPr>
              <a:t>차 세계 대전 때 사용됨 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4561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4293603"/>
          </a:xfrm>
        </p:spPr>
        <p:txBody>
          <a:bodyPr>
            <a:normAutofit fontScale="92500" lnSpcReduction="10000"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smtClean="0"/>
              <a:t>Hill </a:t>
            </a:r>
            <a:r>
              <a:rPr lang="ko-KR" altLang="en-US" dirty="0" smtClean="0"/>
              <a:t>암호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dirty="0" smtClean="0"/>
              <a:t>동작 원리 </a:t>
            </a:r>
            <a:endParaRPr lang="en-US" altLang="ko-KR" dirty="0"/>
          </a:p>
          <a:p>
            <a:pPr lvl="2" latinLnBrk="0">
              <a:lnSpc>
                <a:spcPct val="11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r>
              <a:rPr lang="en-US" altLang="ko-KR" b="1" dirty="0" smtClean="0">
                <a:solidFill>
                  <a:srgbClr val="0000CC"/>
                </a:solidFill>
              </a:rPr>
              <a:t>m</a:t>
            </a:r>
            <a:r>
              <a:rPr lang="ko-KR" altLang="en-US" b="1" dirty="0" smtClean="0">
                <a:solidFill>
                  <a:srgbClr val="0000CC"/>
                </a:solidFill>
              </a:rPr>
              <a:t>개의 </a:t>
            </a:r>
            <a:r>
              <a:rPr lang="ko-KR" altLang="en-US" b="1" dirty="0" err="1" smtClean="0">
                <a:solidFill>
                  <a:srgbClr val="0000CC"/>
                </a:solidFill>
              </a:rPr>
              <a:t>평문을</a:t>
            </a: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r>
              <a:rPr lang="en-US" altLang="ko-KR" b="1" dirty="0">
                <a:solidFill>
                  <a:srgbClr val="0000CC"/>
                </a:solidFill>
              </a:rPr>
              <a:t> </a:t>
            </a:r>
            <a:r>
              <a:rPr lang="en-US" altLang="ko-KR" b="1" dirty="0" smtClean="0">
                <a:solidFill>
                  <a:srgbClr val="0000CC"/>
                </a:solidFill>
              </a:rPr>
              <a:t>m</a:t>
            </a:r>
            <a:r>
              <a:rPr lang="ko-KR" altLang="en-US" b="1" dirty="0" smtClean="0">
                <a:solidFill>
                  <a:srgbClr val="0000CC"/>
                </a:solidFill>
              </a:rPr>
              <a:t>개의 암호문으로 치환함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1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이때</a:t>
            </a:r>
            <a:r>
              <a:rPr lang="en-US" altLang="ko-KR" b="1" dirty="0" smtClean="0">
                <a:solidFill>
                  <a:srgbClr val="0000CC"/>
                </a:solidFill>
              </a:rPr>
              <a:t>, m</a:t>
            </a:r>
            <a:r>
              <a:rPr lang="ko-KR" altLang="en-US" b="1" dirty="0" smtClean="0">
                <a:solidFill>
                  <a:srgbClr val="0000CC"/>
                </a:solidFill>
              </a:rPr>
              <a:t>개의 선형 방정식에 의해 치환됨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1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m = 3</a:t>
            </a:r>
            <a:r>
              <a:rPr lang="ko-KR" altLang="en-US" b="1" dirty="0" smtClean="0">
                <a:solidFill>
                  <a:srgbClr val="0000CC"/>
                </a:solidFill>
              </a:rPr>
              <a:t>인 경우 다음과 같은 선형 방정식을 생각할 수 있음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이를 </a:t>
            </a:r>
            <a:r>
              <a:rPr lang="en-US" altLang="ko-KR" b="1" dirty="0" smtClean="0">
                <a:solidFill>
                  <a:srgbClr val="0000CC"/>
                </a:solidFill>
              </a:rPr>
              <a:t>matrix</a:t>
            </a:r>
            <a:r>
              <a:rPr lang="ko-KR" altLang="en-US" b="1" dirty="0" smtClean="0">
                <a:solidFill>
                  <a:srgbClr val="0000CC"/>
                </a:solidFill>
              </a:rPr>
              <a:t>로 표현하면 다음과 같음</a:t>
            </a:r>
            <a:r>
              <a:rPr lang="en-US" altLang="ko-KR" b="1" dirty="0" smtClean="0">
                <a:solidFill>
                  <a:srgbClr val="0000CC"/>
                </a:solidFill>
              </a:rPr>
              <a:t>, </a:t>
            </a:r>
            <a:r>
              <a:rPr lang="ko-KR" altLang="en-US" b="1" dirty="0" smtClean="0">
                <a:solidFill>
                  <a:srgbClr val="0000CC"/>
                </a:solidFill>
              </a:rPr>
              <a:t>즉 </a:t>
            </a:r>
            <a:r>
              <a:rPr lang="en-US" altLang="ko-KR" b="1" dirty="0" smtClean="0">
                <a:solidFill>
                  <a:srgbClr val="0000CC"/>
                </a:solidFill>
              </a:rPr>
              <a:t>C=PK mod 26</a:t>
            </a: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endParaRPr lang="en-US" altLang="ko-KR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99627138"/>
              </p:ext>
            </p:extLst>
          </p:nvPr>
        </p:nvGraphicFramePr>
        <p:xfrm>
          <a:off x="1739900" y="2892425"/>
          <a:ext cx="3798888" cy="1244600"/>
        </p:xfrm>
        <a:graphic>
          <a:graphicData uri="http://schemas.openxmlformats.org/presentationml/2006/ole">
            <p:oleObj spid="_x0000_s7197" name="Equation" r:id="rId4" imgW="2286000" imgH="749160" progId="">
              <p:embed/>
            </p:oleObj>
          </a:graphicData>
        </a:graphic>
      </p:graphicFrame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91723239"/>
              </p:ext>
            </p:extLst>
          </p:nvPr>
        </p:nvGraphicFramePr>
        <p:xfrm>
          <a:off x="1219200" y="5080000"/>
          <a:ext cx="5678488" cy="1308100"/>
        </p:xfrm>
        <a:graphic>
          <a:graphicData uri="http://schemas.openxmlformats.org/presentationml/2006/ole">
            <p:oleObj spid="_x0000_s7198" name="Equation" r:id="rId5" imgW="3416040" imgH="787320" progId="">
              <p:embed/>
            </p:oleObj>
          </a:graphicData>
        </a:graphic>
      </p:graphicFrame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282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 fontScale="92500" lnSpcReduction="10000"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smtClean="0"/>
              <a:t>Hill </a:t>
            </a:r>
            <a:r>
              <a:rPr lang="ko-KR" altLang="en-US" dirty="0" smtClean="0"/>
              <a:t>암호 알고리즘 예</a:t>
            </a:r>
            <a:endParaRPr lang="en-US" altLang="ko-KR" dirty="0"/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평문</a:t>
            </a: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r>
              <a:rPr lang="en-US" altLang="ko-KR" b="1" dirty="0" smtClean="0">
                <a:solidFill>
                  <a:srgbClr val="0000CC"/>
                </a:solidFill>
              </a:rPr>
              <a:t>“</a:t>
            </a:r>
            <a:r>
              <a:rPr lang="en-US" altLang="ko-KR" b="1" dirty="0" err="1" smtClean="0">
                <a:solidFill>
                  <a:srgbClr val="0000CC"/>
                </a:solidFill>
              </a:rPr>
              <a:t>paymoremoney</a:t>
            </a:r>
            <a:r>
              <a:rPr lang="en-US" altLang="ko-KR" b="1" dirty="0" smtClean="0">
                <a:solidFill>
                  <a:srgbClr val="0000CC"/>
                </a:solidFill>
              </a:rPr>
              <a:t>”</a:t>
            </a:r>
            <a:r>
              <a:rPr lang="ko-KR" altLang="en-US" b="1" dirty="0" smtClean="0">
                <a:solidFill>
                  <a:srgbClr val="0000CC"/>
                </a:solidFill>
              </a:rPr>
              <a:t>를 다음 </a:t>
            </a:r>
            <a:r>
              <a:rPr lang="ko-KR" altLang="en-US" b="1" dirty="0" err="1" smtClean="0">
                <a:solidFill>
                  <a:srgbClr val="0000CC"/>
                </a:solidFill>
              </a:rPr>
              <a:t>암호키를</a:t>
            </a:r>
            <a:r>
              <a:rPr lang="ko-KR" altLang="en-US" b="1" dirty="0" smtClean="0">
                <a:solidFill>
                  <a:srgbClr val="0000CC"/>
                </a:solidFill>
              </a:rPr>
              <a:t> 사용하여 암호화하는 경우를 생각해보자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평문</a:t>
            </a: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r>
              <a:rPr lang="en-US" altLang="ko-KR" b="1" dirty="0" smtClean="0">
                <a:solidFill>
                  <a:srgbClr val="0000CC"/>
                </a:solidFill>
              </a:rPr>
              <a:t>“pay”</a:t>
            </a:r>
            <a:r>
              <a:rPr lang="ko-KR" altLang="en-US" b="1" dirty="0" smtClean="0">
                <a:solidFill>
                  <a:srgbClr val="0000CC"/>
                </a:solidFill>
              </a:rPr>
              <a:t>는 </a:t>
            </a:r>
            <a:r>
              <a:rPr lang="en-US" altLang="ko-KR" b="1" dirty="0" smtClean="0">
                <a:solidFill>
                  <a:srgbClr val="0000CC"/>
                </a:solidFill>
              </a:rPr>
              <a:t>(15 0 24)</a:t>
            </a:r>
            <a:r>
              <a:rPr lang="ko-KR" altLang="en-US" b="1" dirty="0" smtClean="0">
                <a:solidFill>
                  <a:srgbClr val="0000CC"/>
                </a:solidFill>
              </a:rPr>
              <a:t>로 표현됨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평문을</a:t>
            </a:r>
            <a:r>
              <a:rPr lang="ko-KR" altLang="en-US" b="1" dirty="0" smtClean="0">
                <a:solidFill>
                  <a:srgbClr val="0000CC"/>
                </a:solidFill>
              </a:rPr>
              <a:t> 암호화하면 다음과 같음</a:t>
            </a:r>
            <a:r>
              <a:rPr lang="en-US" altLang="ko-KR" b="1" dirty="0" smtClean="0">
                <a:solidFill>
                  <a:srgbClr val="0000CC"/>
                </a:solidFill>
              </a:rPr>
              <a:t>, C=PK </a:t>
            </a:r>
            <a:r>
              <a:rPr lang="en-US" altLang="ko-KR" b="1" dirty="0">
                <a:solidFill>
                  <a:srgbClr val="0000CC"/>
                </a:solidFill>
              </a:rPr>
              <a:t>mod </a:t>
            </a:r>
            <a:r>
              <a:rPr lang="en-US" altLang="ko-KR" b="1" dirty="0" smtClean="0">
                <a:solidFill>
                  <a:srgbClr val="0000CC"/>
                </a:solidFill>
              </a:rPr>
              <a:t>26</a:t>
            </a: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복호화하기</a:t>
            </a:r>
            <a:r>
              <a:rPr lang="ko-KR" altLang="en-US" b="1" dirty="0" smtClean="0">
                <a:solidFill>
                  <a:srgbClr val="0000CC"/>
                </a:solidFill>
              </a:rPr>
              <a:t> 위해서는 </a:t>
            </a:r>
            <a:r>
              <a:rPr lang="en-US" altLang="ko-KR" b="1" dirty="0" smtClean="0">
                <a:solidFill>
                  <a:srgbClr val="0000CC"/>
                </a:solidFill>
              </a:rPr>
              <a:t>K</a:t>
            </a:r>
            <a:r>
              <a:rPr lang="en-US" altLang="ko-KR" b="1" baseline="30000" dirty="0" smtClean="0">
                <a:solidFill>
                  <a:srgbClr val="0000CC"/>
                </a:solidFill>
              </a:rPr>
              <a:t>-1</a:t>
            </a:r>
            <a:r>
              <a:rPr lang="ko-KR" altLang="en-US" b="1" dirty="0" smtClean="0">
                <a:solidFill>
                  <a:srgbClr val="0000CC"/>
                </a:solidFill>
              </a:rPr>
              <a:t>를 사용함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C=E(K,P)=</a:t>
            </a:r>
            <a:r>
              <a:rPr lang="en-US" altLang="ko-KR" b="1" dirty="0" err="1" smtClean="0">
                <a:solidFill>
                  <a:srgbClr val="0000CC"/>
                </a:solidFill>
              </a:rPr>
              <a:t>Pkmod</a:t>
            </a:r>
            <a:r>
              <a:rPr lang="en-US" altLang="ko-KR" b="1" dirty="0" smtClean="0">
                <a:solidFill>
                  <a:srgbClr val="0000CC"/>
                </a:solidFill>
              </a:rPr>
              <a:t> 26</a:t>
            </a:r>
          </a:p>
          <a:p>
            <a:pPr lvl="2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P=D(K,C)=CK</a:t>
            </a:r>
            <a:r>
              <a:rPr lang="en-US" altLang="ko-KR" b="1" baseline="30000" dirty="0" smtClean="0">
                <a:solidFill>
                  <a:srgbClr val="0000CC"/>
                </a:solidFill>
              </a:rPr>
              <a:t>-1</a:t>
            </a:r>
            <a:r>
              <a:rPr lang="en-US" altLang="ko-KR" b="1" dirty="0" smtClean="0">
                <a:solidFill>
                  <a:srgbClr val="0000CC"/>
                </a:solidFill>
              </a:rPr>
              <a:t> mod 26 = PKK</a:t>
            </a:r>
            <a:r>
              <a:rPr lang="en-US" altLang="ko-KR" b="1" baseline="30000" dirty="0" smtClean="0">
                <a:solidFill>
                  <a:srgbClr val="0000CC"/>
                </a:solidFill>
              </a:rPr>
              <a:t>-1</a:t>
            </a:r>
            <a:r>
              <a:rPr lang="en-US" altLang="ko-KR" b="1" dirty="0" smtClean="0">
                <a:solidFill>
                  <a:srgbClr val="0000CC"/>
                </a:solidFill>
              </a:rPr>
              <a:t>=P</a:t>
            </a: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3320475"/>
              </p:ext>
            </p:extLst>
          </p:nvPr>
        </p:nvGraphicFramePr>
        <p:xfrm>
          <a:off x="4462463" y="2244725"/>
          <a:ext cx="2027237" cy="1223963"/>
        </p:xfrm>
        <a:graphic>
          <a:graphicData uri="http://schemas.openxmlformats.org/presentationml/2006/ole">
            <p:oleObj spid="_x0000_s8225" name="Equation" r:id="rId4" imgW="1218960" imgH="736560" progId="">
              <p:embed/>
            </p:oleObj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00917124"/>
              </p:ext>
            </p:extLst>
          </p:nvPr>
        </p:nvGraphicFramePr>
        <p:xfrm>
          <a:off x="2876550" y="4129088"/>
          <a:ext cx="2724150" cy="465137"/>
        </p:xfrm>
        <a:graphic>
          <a:graphicData uri="http://schemas.openxmlformats.org/presentationml/2006/ole">
            <p:oleObj spid="_x0000_s8226" name="Equation" r:id="rId5" imgW="1638000" imgH="279360" progId="">
              <p:embed/>
            </p:oleObj>
          </a:graphicData>
        </a:graphic>
      </p:graphicFrame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4531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dirty="0" smtClean="0"/>
              <a:t>다중 문자 암호</a:t>
            </a:r>
            <a:endParaRPr lang="en-US" altLang="ko-KR" dirty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r>
              <a:rPr lang="ko-KR" altLang="en-US" b="1" dirty="0" err="1" smtClean="0">
                <a:solidFill>
                  <a:srgbClr val="0000CC"/>
                </a:solidFill>
              </a:rPr>
              <a:t>평문에</a:t>
            </a:r>
            <a:r>
              <a:rPr lang="ko-KR" altLang="en-US" b="1" dirty="0" smtClean="0">
                <a:solidFill>
                  <a:srgbClr val="0000CC"/>
                </a:solidFill>
              </a:rPr>
              <a:t> 대해 서로 다른 방식의 단일 문자 치환 기법 사용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예</a:t>
            </a:r>
            <a:r>
              <a:rPr lang="en-US" altLang="ko-KR" b="1" dirty="0" smtClean="0">
                <a:solidFill>
                  <a:srgbClr val="0000CC"/>
                </a:solidFill>
              </a:rPr>
              <a:t>: </a:t>
            </a:r>
            <a:r>
              <a:rPr lang="en-US" altLang="ko-KR" b="1" dirty="0" err="1" smtClean="0">
                <a:solidFill>
                  <a:srgbClr val="0000CC"/>
                </a:solidFill>
              </a:rPr>
              <a:t>Vigenere</a:t>
            </a:r>
            <a:r>
              <a:rPr lang="en-US" altLang="ko-KR" b="1" dirty="0" smtClean="0">
                <a:solidFill>
                  <a:srgbClr val="0000CC"/>
                </a:solidFill>
              </a:rPr>
              <a:t> </a:t>
            </a:r>
            <a:r>
              <a:rPr lang="ko-KR" altLang="en-US" b="1" dirty="0" smtClean="0">
                <a:solidFill>
                  <a:srgbClr val="0000CC"/>
                </a:solidFill>
              </a:rPr>
              <a:t>암호 기법 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14246274"/>
              </p:ext>
            </p:extLst>
          </p:nvPr>
        </p:nvGraphicFramePr>
        <p:xfrm>
          <a:off x="1765300" y="2511425"/>
          <a:ext cx="2806700" cy="1241425"/>
        </p:xfrm>
        <a:graphic>
          <a:graphicData uri="http://schemas.openxmlformats.org/presentationml/2006/ole">
            <p:oleObj spid="_x0000_s9226" name="Equation" r:id="rId4" imgW="1688760" imgH="749160" progId="">
              <p:embed/>
            </p:oleObj>
          </a:graphicData>
        </a:graphic>
      </p:graphicFrame>
      <p:sp>
        <p:nvSpPr>
          <p:cNvPr id="5" name="직사각형 4"/>
          <p:cNvSpPr/>
          <p:nvPr/>
        </p:nvSpPr>
        <p:spPr>
          <a:xfrm>
            <a:off x="538160" y="4235757"/>
            <a:ext cx="80676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ko-KR" altLang="en-US" sz="2800" dirty="0" smtClean="0">
                <a:ea typeface="굴림" charset="-127"/>
              </a:rPr>
              <a:t>예</a:t>
            </a:r>
            <a:r>
              <a:rPr lang="en-US" altLang="ko-KR" sz="2800" dirty="0" smtClean="0">
                <a:ea typeface="굴림" charset="-127"/>
              </a:rPr>
              <a:t>: keyword </a:t>
            </a:r>
            <a:r>
              <a:rPr lang="en-US" altLang="ko-KR" sz="2800" i="1" dirty="0">
                <a:solidFill>
                  <a:schemeClr val="hlink"/>
                </a:solidFill>
                <a:ea typeface="굴림" charset="-127"/>
              </a:rPr>
              <a:t>deceptive</a:t>
            </a:r>
            <a:endParaRPr lang="en-AU" altLang="ko-KR" sz="2800" i="1" dirty="0">
              <a:solidFill>
                <a:schemeClr val="hlink"/>
              </a:solidFill>
              <a:ea typeface="굴림" charset="-127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AU" altLang="ko-KR" sz="2400" dirty="0">
                <a:solidFill>
                  <a:srgbClr val="0000CC"/>
                </a:solidFill>
                <a:latin typeface="Courier New" pitchFamily="49" charset="0"/>
                <a:ea typeface="굴림" charset="-127"/>
              </a:rPr>
              <a:t>key:       </a:t>
            </a:r>
            <a:r>
              <a:rPr lang="en-AU" altLang="ko-KR" sz="2400" dirty="0" err="1">
                <a:latin typeface="Courier New" pitchFamily="49" charset="0"/>
                <a:ea typeface="굴림" charset="-127"/>
              </a:rPr>
              <a:t>deceptivedeceptivedeceptive</a:t>
            </a:r>
            <a:endParaRPr lang="en-AU" altLang="ko-KR" sz="2400" dirty="0">
              <a:latin typeface="Courier New" pitchFamily="49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AU" altLang="ko-KR" sz="2400" dirty="0">
                <a:solidFill>
                  <a:srgbClr val="0000CC"/>
                </a:solidFill>
                <a:latin typeface="Courier New" pitchFamily="49" charset="0"/>
                <a:ea typeface="굴림" charset="-127"/>
              </a:rPr>
              <a:t>plaintext: </a:t>
            </a:r>
            <a:r>
              <a:rPr lang="en-AU" altLang="ko-KR" sz="2400" dirty="0" err="1">
                <a:latin typeface="Courier New" pitchFamily="49" charset="0"/>
                <a:ea typeface="굴림" charset="-127"/>
              </a:rPr>
              <a:t>wearediscoveredsaveyourself</a:t>
            </a:r>
            <a:endParaRPr lang="en-AU" altLang="ko-KR" sz="2400" dirty="0">
              <a:latin typeface="Courier New" pitchFamily="49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AU" altLang="ko-KR" sz="2400" dirty="0" err="1">
                <a:solidFill>
                  <a:srgbClr val="0000CC"/>
                </a:solidFill>
                <a:latin typeface="Courier New" pitchFamily="49" charset="0"/>
                <a:ea typeface="굴림" charset="-127"/>
              </a:rPr>
              <a:t>ciphertext:</a:t>
            </a:r>
            <a:r>
              <a:rPr lang="en-AU" altLang="ko-KR" sz="2400" dirty="0" err="1">
                <a:latin typeface="Courier New" pitchFamily="49" charset="0"/>
                <a:ea typeface="굴림" charset="-127"/>
              </a:rPr>
              <a:t>ZICVTWQNGRZGVTWAVZHCQYGLMGJ</a:t>
            </a:r>
            <a:endParaRPr lang="en-AU" altLang="ko-KR" sz="2400" dirty="0">
              <a:latin typeface="Courier New" pitchFamily="49" charset="0"/>
              <a:ea typeface="굴림" charset="-127"/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282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8762"/>
            <a:ext cx="8343900" cy="491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304800" y="2590800"/>
            <a:ext cx="1374775" cy="523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itchFamily="50" charset="-127"/>
              </a:rPr>
              <a:t>Key=d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6394450" y="914400"/>
            <a:ext cx="2633663" cy="523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itchFamily="50" charset="-127"/>
              </a:rPr>
              <a:t>Plaintext = w</a:t>
            </a: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6062663" y="2667000"/>
            <a:ext cx="2813050" cy="523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itchFamily="50" charset="-127"/>
              </a:rPr>
              <a:t>Ciphertext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itchFamily="50" charset="-127"/>
              </a:rPr>
              <a:t> = Z</a:t>
            </a:r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152400" y="2286000"/>
            <a:ext cx="457200" cy="304800"/>
          </a:xfrm>
          <a:prstGeom prst="ellipse">
            <a:avLst/>
          </a:prstGeom>
          <a:noFill/>
          <a:ln w="254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21" name="Oval 11"/>
          <p:cNvSpPr>
            <a:spLocks noChangeArrowheads="1"/>
          </p:cNvSpPr>
          <p:nvPr/>
        </p:nvSpPr>
        <p:spPr bwMode="auto">
          <a:xfrm>
            <a:off x="7391400" y="1547812"/>
            <a:ext cx="457200" cy="304800"/>
          </a:xfrm>
          <a:prstGeom prst="ellipse">
            <a:avLst/>
          </a:prstGeom>
          <a:noFill/>
          <a:ln w="254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7339806" y="2286000"/>
            <a:ext cx="457200" cy="304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762000" y="2486025"/>
            <a:ext cx="6553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ko-KR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7620000" y="18288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3590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err="1" smtClean="0"/>
              <a:t>Vernam</a:t>
            </a:r>
            <a:r>
              <a:rPr lang="en-US" altLang="ko-KR" dirty="0" smtClean="0"/>
              <a:t> </a:t>
            </a:r>
            <a:r>
              <a:rPr lang="ko-KR" altLang="en-US" dirty="0" smtClean="0"/>
              <a:t>암호 </a:t>
            </a:r>
            <a:endParaRPr lang="en-US" altLang="ko-KR" dirty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암호학적 공격에 안전하기 위해선 </a:t>
            </a:r>
            <a:r>
              <a:rPr lang="ko-KR" altLang="en-US" b="1" dirty="0" err="1" smtClean="0">
                <a:solidFill>
                  <a:srgbClr val="0000CC"/>
                </a:solidFill>
              </a:rPr>
              <a:t>평문과</a:t>
            </a:r>
            <a:r>
              <a:rPr lang="ko-KR" altLang="en-US" b="1" dirty="0" smtClean="0">
                <a:solidFill>
                  <a:srgbClr val="0000CC"/>
                </a:solidFill>
              </a:rPr>
              <a:t> 동일한 길이의 키를 가져야 하며</a:t>
            </a:r>
            <a:r>
              <a:rPr lang="en-US" altLang="ko-KR" b="1" dirty="0" smtClean="0">
                <a:solidFill>
                  <a:srgbClr val="0000CC"/>
                </a:solidFill>
              </a:rPr>
              <a:t>, </a:t>
            </a:r>
            <a:r>
              <a:rPr lang="ko-KR" altLang="en-US" b="1" dirty="0" err="1" smtClean="0">
                <a:solidFill>
                  <a:srgbClr val="0000CC"/>
                </a:solidFill>
              </a:rPr>
              <a:t>평문과</a:t>
            </a:r>
            <a:r>
              <a:rPr lang="ko-KR" altLang="en-US" b="1" dirty="0" smtClean="0">
                <a:solidFill>
                  <a:srgbClr val="0000CC"/>
                </a:solidFill>
              </a:rPr>
              <a:t> 통계적 연관성이 없어야 함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b="1" dirty="0" err="1" smtClean="0">
                <a:solidFill>
                  <a:srgbClr val="0000CC"/>
                </a:solidFill>
              </a:rPr>
              <a:t>Vernam</a:t>
            </a:r>
            <a:r>
              <a:rPr lang="en-US" altLang="ko-KR" b="1" dirty="0" smtClean="0">
                <a:solidFill>
                  <a:srgbClr val="0000CC"/>
                </a:solidFill>
              </a:rPr>
              <a:t> </a:t>
            </a:r>
            <a:r>
              <a:rPr lang="ko-KR" altLang="en-US" b="1" dirty="0" smtClean="0">
                <a:solidFill>
                  <a:srgbClr val="0000CC"/>
                </a:solidFill>
              </a:rPr>
              <a:t>암</a:t>
            </a:r>
            <a:r>
              <a:rPr lang="en-US" altLang="ko-KR" b="1" dirty="0" smtClean="0">
                <a:solidFill>
                  <a:srgbClr val="0000CC"/>
                </a:solidFill>
              </a:rPr>
              <a:t>/</a:t>
            </a:r>
            <a:r>
              <a:rPr lang="ko-KR" altLang="en-US" b="1" dirty="0" err="1" smtClean="0">
                <a:solidFill>
                  <a:srgbClr val="0000CC"/>
                </a:solidFill>
              </a:rPr>
              <a:t>복호화</a:t>
            </a: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r>
              <a:rPr lang="ko-KR" altLang="en-US" b="1" dirty="0" err="1" smtClean="0">
                <a:solidFill>
                  <a:srgbClr val="0000CC"/>
                </a:solidFill>
              </a:rPr>
              <a:t>스킴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marL="457200" lvl="1" indent="0" latinLnBrk="0">
              <a:lnSpc>
                <a:spcPct val="120000"/>
              </a:lnSpc>
              <a:buNone/>
            </a:pP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62306052"/>
              </p:ext>
            </p:extLst>
          </p:nvPr>
        </p:nvGraphicFramePr>
        <p:xfrm>
          <a:off x="1946789" y="2743245"/>
          <a:ext cx="1439862" cy="939800"/>
        </p:xfrm>
        <a:graphic>
          <a:graphicData uri="http://schemas.openxmlformats.org/presentationml/2006/ole">
            <p:oleObj spid="_x0000_s10244" name="Equation" r:id="rId4" imgW="698400" imgH="457200" progId="">
              <p:embed/>
            </p:oleObj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36635480"/>
              </p:ext>
            </p:extLst>
          </p:nvPr>
        </p:nvGraphicFramePr>
        <p:xfrm>
          <a:off x="4082603" y="2452040"/>
          <a:ext cx="3640115" cy="1603384"/>
        </p:xfrm>
        <a:graphic>
          <a:graphicData uri="http://schemas.openxmlformats.org/presentationml/2006/ole">
            <p:oleObj spid="_x0000_s10245" name="Equation" r:id="rId5" imgW="2070000" imgH="914400" progId="">
              <p:embed/>
            </p:oleObj>
          </a:graphicData>
        </a:graphic>
      </p:graphicFrame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3416" y="4095749"/>
            <a:ext cx="6057168" cy="2238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2864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smtClean="0"/>
              <a:t>One Time Pad </a:t>
            </a:r>
            <a:r>
              <a:rPr lang="ko-KR" altLang="en-US" dirty="0" smtClean="0"/>
              <a:t>암호 </a:t>
            </a:r>
            <a:endParaRPr lang="en-US" altLang="ko-KR" dirty="0"/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J. </a:t>
            </a:r>
            <a:r>
              <a:rPr lang="en-US" altLang="ko-KR" b="1" dirty="0" err="1" smtClean="0">
                <a:solidFill>
                  <a:srgbClr val="0000CC"/>
                </a:solidFill>
              </a:rPr>
              <a:t>Mauborgne</a:t>
            </a:r>
            <a:r>
              <a:rPr lang="ko-KR" altLang="en-US" b="1" dirty="0" smtClean="0">
                <a:solidFill>
                  <a:srgbClr val="0000CC"/>
                </a:solidFill>
              </a:rPr>
              <a:t>는 </a:t>
            </a:r>
            <a:r>
              <a:rPr lang="en-US" altLang="ko-KR" b="1" dirty="0" smtClean="0">
                <a:solidFill>
                  <a:srgbClr val="0000CC"/>
                </a:solidFill>
              </a:rPr>
              <a:t>random</a:t>
            </a:r>
            <a:r>
              <a:rPr lang="ko-KR" altLang="en-US" b="1" dirty="0" smtClean="0">
                <a:solidFill>
                  <a:srgbClr val="0000CC"/>
                </a:solidFill>
              </a:rPr>
              <a:t>한 </a:t>
            </a:r>
            <a:r>
              <a:rPr lang="en-US" altLang="ko-KR" b="1" dirty="0" smtClean="0">
                <a:solidFill>
                  <a:srgbClr val="0000CC"/>
                </a:solidFill>
              </a:rPr>
              <a:t>key</a:t>
            </a:r>
            <a:r>
              <a:rPr lang="ko-KR" altLang="en-US" b="1" dirty="0" smtClean="0">
                <a:solidFill>
                  <a:srgbClr val="0000CC"/>
                </a:solidFill>
              </a:rPr>
              <a:t> 값</a:t>
            </a:r>
            <a:r>
              <a:rPr lang="en-US" altLang="ko-KR" b="1" dirty="0" smtClean="0">
                <a:solidFill>
                  <a:srgbClr val="0000CC"/>
                </a:solidFill>
              </a:rPr>
              <a:t>(</a:t>
            </a:r>
            <a:r>
              <a:rPr lang="ko-KR" altLang="en-US" b="1" dirty="0" err="1" smtClean="0">
                <a:solidFill>
                  <a:srgbClr val="0000CC"/>
                </a:solidFill>
              </a:rPr>
              <a:t>반복없음</a:t>
            </a:r>
            <a:r>
              <a:rPr lang="en-US" altLang="ko-KR" b="1" dirty="0" smtClean="0">
                <a:solidFill>
                  <a:srgbClr val="0000CC"/>
                </a:solidFill>
              </a:rPr>
              <a:t>)</a:t>
            </a:r>
            <a:r>
              <a:rPr lang="ko-KR" altLang="en-US" b="1" dirty="0" smtClean="0">
                <a:solidFill>
                  <a:srgbClr val="0000CC"/>
                </a:solidFill>
              </a:rPr>
              <a:t>을 사용하면서 메시지 길이와 동일한 </a:t>
            </a:r>
            <a:r>
              <a:rPr lang="en-US" altLang="ko-KR" b="1" dirty="0" smtClean="0">
                <a:solidFill>
                  <a:srgbClr val="0000CC"/>
                </a:solidFill>
              </a:rPr>
              <a:t>key</a:t>
            </a:r>
            <a:r>
              <a:rPr lang="ko-KR" altLang="en-US" b="1" dirty="0" smtClean="0">
                <a:solidFill>
                  <a:srgbClr val="0000CC"/>
                </a:solidFill>
              </a:rPr>
              <a:t>를 가정함 </a:t>
            </a:r>
            <a:r>
              <a:rPr lang="en-US" altLang="ko-KR" b="1" dirty="0" smtClean="0">
                <a:solidFill>
                  <a:srgbClr val="0000CC"/>
                </a:solidFill>
                <a:sym typeface="Wingdings" pitchFamily="2" charset="2"/>
              </a:rPr>
              <a:t> Perfect secrecy </a:t>
            </a:r>
            <a:r>
              <a:rPr lang="en-US" altLang="ko-KR" b="1" dirty="0" smtClean="0">
                <a:solidFill>
                  <a:srgbClr val="0000CC"/>
                </a:solidFill>
              </a:rPr>
              <a:t> </a:t>
            </a: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cf.  </a:t>
            </a:r>
            <a:r>
              <a:rPr lang="en-US" altLang="ko-KR" b="1" dirty="0" err="1" smtClean="0">
                <a:solidFill>
                  <a:schemeClr val="tx1"/>
                </a:solidFill>
              </a:rPr>
              <a:t>Vernam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암호에서는 </a:t>
            </a:r>
            <a:r>
              <a:rPr lang="en-US" altLang="ko-KR" b="1" dirty="0">
                <a:solidFill>
                  <a:schemeClr val="tx1"/>
                </a:solidFill>
              </a:rPr>
              <a:t>key </a:t>
            </a:r>
            <a:r>
              <a:rPr lang="ko-KR" altLang="en-US" b="1" dirty="0">
                <a:solidFill>
                  <a:schemeClr val="tx1"/>
                </a:solidFill>
              </a:rPr>
              <a:t>생성시 특정 </a:t>
            </a:r>
            <a:r>
              <a:rPr lang="en-US" altLang="ko-KR" b="1" dirty="0">
                <a:solidFill>
                  <a:schemeClr val="tx1"/>
                </a:solidFill>
              </a:rPr>
              <a:t>key</a:t>
            </a:r>
            <a:r>
              <a:rPr lang="ko-KR" altLang="en-US" b="1" dirty="0">
                <a:solidFill>
                  <a:schemeClr val="tx1"/>
                </a:solidFill>
              </a:rPr>
              <a:t>를 반복적으로 사용하는 것으로 가정함 </a:t>
            </a:r>
            <a:endParaRPr lang="en-US" altLang="ko-KR" b="1" dirty="0">
              <a:solidFill>
                <a:schemeClr val="tx1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One Time Pad</a:t>
            </a:r>
            <a:r>
              <a:rPr lang="ko-KR" altLang="en-US" b="1" dirty="0" smtClean="0">
                <a:solidFill>
                  <a:srgbClr val="0000CC"/>
                </a:solidFill>
              </a:rPr>
              <a:t>는 </a:t>
            </a:r>
            <a:r>
              <a:rPr lang="en-US" altLang="ko-KR" b="1" dirty="0" smtClean="0">
                <a:solidFill>
                  <a:srgbClr val="0000CC"/>
                </a:solidFill>
              </a:rPr>
              <a:t>perfect security</a:t>
            </a:r>
            <a:r>
              <a:rPr lang="ko-KR" altLang="en-US" b="1" dirty="0" smtClean="0">
                <a:solidFill>
                  <a:srgbClr val="0000CC"/>
                </a:solidFill>
              </a:rPr>
              <a:t>를 제공하지만 다음과 같음 문제점 가짐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b="1" dirty="0" smtClean="0">
                <a:solidFill>
                  <a:schemeClr val="tx1"/>
                </a:solidFill>
              </a:rPr>
              <a:t>대용량의 </a:t>
            </a:r>
            <a:r>
              <a:rPr lang="en-US" altLang="ko-KR" b="1" dirty="0">
                <a:solidFill>
                  <a:schemeClr val="tx1"/>
                </a:solidFill>
              </a:rPr>
              <a:t>r</a:t>
            </a:r>
            <a:r>
              <a:rPr lang="en-US" altLang="ko-KR" b="1" dirty="0" smtClean="0">
                <a:solidFill>
                  <a:schemeClr val="tx1"/>
                </a:solidFill>
              </a:rPr>
              <a:t>andom</a:t>
            </a:r>
            <a:r>
              <a:rPr lang="ko-KR" altLang="en-US" b="1" dirty="0" smtClean="0">
                <a:solidFill>
                  <a:schemeClr val="tx1"/>
                </a:solidFill>
              </a:rPr>
              <a:t>한 </a:t>
            </a:r>
            <a:r>
              <a:rPr lang="en-US" altLang="ko-KR" b="1" dirty="0" smtClean="0">
                <a:solidFill>
                  <a:schemeClr val="tx1"/>
                </a:solidFill>
              </a:rPr>
              <a:t>key</a:t>
            </a:r>
            <a:r>
              <a:rPr lang="ko-KR" altLang="en-US" b="1" dirty="0" smtClean="0">
                <a:solidFill>
                  <a:schemeClr val="tx1"/>
                </a:solidFill>
              </a:rPr>
              <a:t>를 다루기 어려움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en-US" altLang="ko-KR" b="1" dirty="0" smtClean="0">
                <a:solidFill>
                  <a:schemeClr val="tx1"/>
                </a:solidFill>
              </a:rPr>
              <a:t>Key </a:t>
            </a:r>
            <a:r>
              <a:rPr lang="ko-KR" altLang="en-US" b="1" dirty="0" smtClean="0">
                <a:solidFill>
                  <a:schemeClr val="tx1"/>
                </a:solidFill>
              </a:rPr>
              <a:t>분배 및 보호의 문제가 발생함 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치환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0396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b="1" dirty="0" smtClean="0">
                <a:solidFill>
                  <a:schemeClr val="tx1"/>
                </a:solidFill>
              </a:rPr>
              <a:t>Rail fence </a:t>
            </a:r>
            <a:r>
              <a:rPr lang="ko-KR" altLang="en-US" b="1" dirty="0" smtClean="0">
                <a:solidFill>
                  <a:schemeClr val="tx1"/>
                </a:solidFill>
              </a:rPr>
              <a:t>기법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>
                <a:solidFill>
                  <a:srgbClr val="0000CC"/>
                </a:solidFill>
              </a:rPr>
              <a:t>평문을</a:t>
            </a:r>
            <a:r>
              <a:rPr lang="ko-KR" altLang="en-US" b="1" dirty="0">
                <a:solidFill>
                  <a:srgbClr val="0000CC"/>
                </a:solidFill>
              </a:rPr>
              <a:t>  대각선으로 쓰고 열로 읽음</a:t>
            </a:r>
            <a:endParaRPr lang="en-US" altLang="ko-KR" b="1" dirty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chemeClr val="tx1"/>
                </a:solidFill>
              </a:rPr>
              <a:t> </a:t>
            </a:r>
            <a:r>
              <a:rPr lang="ko-KR" altLang="en-US" b="1" dirty="0" err="1" smtClean="0">
                <a:solidFill>
                  <a:schemeClr val="tx1"/>
                </a:solidFill>
              </a:rPr>
              <a:t>평문</a:t>
            </a:r>
            <a:r>
              <a:rPr lang="ko-KR" altLang="en-US" b="1" dirty="0" smtClean="0">
                <a:solidFill>
                  <a:schemeClr val="tx1"/>
                </a:solidFill>
              </a:rPr>
              <a:t>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en-AU" altLang="ko-KR" sz="2400" dirty="0">
                <a:latin typeface="Courier New" pitchFamily="49" charset="0"/>
                <a:ea typeface="굴림" charset="-127"/>
              </a:rPr>
              <a:t>m e m a t r h t g p r y</a:t>
            </a:r>
          </a:p>
          <a:p>
            <a:pPr lvl="1">
              <a:buFont typeface="Wingdings" pitchFamily="2" charset="2"/>
              <a:buNone/>
            </a:pPr>
            <a:r>
              <a:rPr lang="en-AU" altLang="ko-KR" sz="2400" dirty="0">
                <a:latin typeface="Courier New" pitchFamily="49" charset="0"/>
                <a:ea typeface="굴림" charset="-127"/>
              </a:rPr>
              <a:t> e t e f e t e o a </a:t>
            </a:r>
            <a:r>
              <a:rPr lang="en-AU" altLang="ko-KR" sz="2400" dirty="0" err="1">
                <a:latin typeface="Courier New" pitchFamily="49" charset="0"/>
                <a:ea typeface="굴림" charset="-127"/>
              </a:rPr>
              <a:t>a</a:t>
            </a:r>
            <a:r>
              <a:rPr lang="en-AU" altLang="ko-KR" sz="2400" dirty="0">
                <a:latin typeface="Courier New" pitchFamily="49" charset="0"/>
                <a:ea typeface="굴림" charset="-127"/>
              </a:rPr>
              <a:t> </a:t>
            </a:r>
            <a:r>
              <a:rPr lang="en-AU" altLang="ko-KR" sz="2400" dirty="0" smtClean="0">
                <a:latin typeface="Courier New" pitchFamily="49" charset="0"/>
                <a:ea typeface="굴림" charset="-127"/>
              </a:rPr>
              <a:t>t</a:t>
            </a: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암호문</a:t>
            </a:r>
            <a:endParaRPr lang="en-US" altLang="ko-KR" b="1" dirty="0">
              <a:solidFill>
                <a:srgbClr val="0000CC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en-AU" altLang="ko-KR" sz="2400" dirty="0" smtClean="0">
                <a:latin typeface="Courier New" pitchFamily="49" charset="0"/>
                <a:ea typeface="굴림" charset="-127"/>
              </a:rPr>
              <a:t>MEMATRHTGPRYETEFETEOAAT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atinLnBrk="0">
              <a:lnSpc>
                <a:spcPct val="120000"/>
              </a:lnSpc>
            </a:pP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 smtClean="0"/>
              <a:t>전치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4718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b="1" dirty="0" smtClean="0">
                <a:solidFill>
                  <a:schemeClr val="tx1"/>
                </a:solidFill>
              </a:rPr>
              <a:t>Row Transposition </a:t>
            </a:r>
            <a:r>
              <a:rPr lang="ko-KR" altLang="en-US" b="1" dirty="0" smtClean="0">
                <a:solidFill>
                  <a:schemeClr val="tx1"/>
                </a:solidFill>
              </a:rPr>
              <a:t>기법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열 순으로 읽으면서</a:t>
            </a:r>
            <a:r>
              <a:rPr lang="en-US" altLang="ko-KR" b="1" dirty="0" smtClean="0">
                <a:solidFill>
                  <a:srgbClr val="0000CC"/>
                </a:solidFill>
              </a:rPr>
              <a:t>, </a:t>
            </a:r>
            <a:r>
              <a:rPr lang="ko-KR" altLang="en-US" b="1" dirty="0" smtClean="0">
                <a:solidFill>
                  <a:srgbClr val="0000CC"/>
                </a:solidFill>
              </a:rPr>
              <a:t>열의 순서를 바꿈 </a:t>
            </a:r>
            <a:r>
              <a:rPr lang="en-US" altLang="ko-KR" b="1" dirty="0" smtClean="0">
                <a:solidFill>
                  <a:srgbClr val="0000CC"/>
                </a:solidFill>
              </a:rPr>
              <a:t>(</a:t>
            </a:r>
            <a:r>
              <a:rPr lang="ko-KR" altLang="en-US" b="1" dirty="0" smtClean="0">
                <a:solidFill>
                  <a:srgbClr val="0000CC"/>
                </a:solidFill>
              </a:rPr>
              <a:t>열의 순서</a:t>
            </a:r>
            <a:r>
              <a:rPr lang="en-US" altLang="ko-KR" b="1" dirty="0" smtClean="0">
                <a:solidFill>
                  <a:srgbClr val="0000CC"/>
                </a:solidFill>
              </a:rPr>
              <a:t>: </a:t>
            </a:r>
            <a:r>
              <a:rPr lang="ko-KR" altLang="en-US" b="1" dirty="0" smtClean="0">
                <a:solidFill>
                  <a:srgbClr val="0000CC"/>
                </a:solidFill>
              </a:rPr>
              <a:t>키</a:t>
            </a:r>
            <a:r>
              <a:rPr lang="en-US" altLang="ko-KR" b="1" dirty="0" smtClean="0">
                <a:solidFill>
                  <a:srgbClr val="0000CC"/>
                </a:solidFill>
              </a:rPr>
              <a:t>)</a:t>
            </a: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rgbClr val="0000CC"/>
              </a:solidFill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b="1" dirty="0" smtClean="0">
                <a:solidFill>
                  <a:schemeClr val="tx1"/>
                </a:solidFill>
              </a:rPr>
              <a:t> </a:t>
            </a:r>
            <a:r>
              <a:rPr lang="en-AU" altLang="ko-KR" dirty="0">
                <a:latin typeface="Courier New" pitchFamily="49" charset="0"/>
                <a:ea typeface="굴림" charset="-127"/>
              </a:rPr>
              <a:t>Key:       4 3 1 2 5 6 7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AU" altLang="ko-KR" dirty="0">
                <a:latin typeface="Courier New" pitchFamily="49" charset="0"/>
                <a:ea typeface="굴림" charset="-127"/>
              </a:rPr>
              <a:t>Plaintext: a t </a:t>
            </a:r>
            <a:r>
              <a:rPr lang="en-AU" altLang="ko-KR" dirty="0" err="1">
                <a:latin typeface="Courier New" pitchFamily="49" charset="0"/>
                <a:ea typeface="굴림" charset="-127"/>
              </a:rPr>
              <a:t>t</a:t>
            </a:r>
            <a:r>
              <a:rPr lang="en-AU" altLang="ko-KR" dirty="0">
                <a:latin typeface="Courier New" pitchFamily="49" charset="0"/>
                <a:ea typeface="굴림" charset="-127"/>
              </a:rPr>
              <a:t> a c k p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AU" altLang="ko-KR" dirty="0">
                <a:latin typeface="Courier New" pitchFamily="49" charset="0"/>
                <a:ea typeface="굴림" charset="-127"/>
              </a:rPr>
              <a:t>           o s t p o n e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AU" altLang="ko-KR" dirty="0">
                <a:latin typeface="Courier New" pitchFamily="49" charset="0"/>
                <a:ea typeface="굴림" charset="-127"/>
              </a:rPr>
              <a:t>           d u n t i l t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AU" altLang="ko-KR" dirty="0">
                <a:latin typeface="Courier New" pitchFamily="49" charset="0"/>
                <a:ea typeface="굴림" charset="-127"/>
              </a:rPr>
              <a:t>           w o a m x y z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AU" altLang="ko-KR" dirty="0" err="1">
                <a:latin typeface="Courier New" pitchFamily="49" charset="0"/>
                <a:ea typeface="굴림" charset="-127"/>
              </a:rPr>
              <a:t>Ciphertext</a:t>
            </a:r>
            <a:r>
              <a:rPr lang="en-AU" altLang="ko-KR" dirty="0">
                <a:latin typeface="Courier New" pitchFamily="49" charset="0"/>
                <a:ea typeface="굴림" charset="-127"/>
              </a:rPr>
              <a:t>: TTNAAPTMTSUOAODWCOIXKNLYPETZ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AU" altLang="ko-KR" sz="2400" dirty="0">
                <a:ea typeface="굴림" charset="-127"/>
              </a:rPr>
              <a:t> </a:t>
            </a:r>
          </a:p>
          <a:p>
            <a:pPr lvl="1" latinLnBrk="0">
              <a:lnSpc>
                <a:spcPct val="120000"/>
              </a:lnSpc>
            </a:pP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3124200" y="2667000"/>
            <a:ext cx="304800" cy="1295400"/>
          </a:xfrm>
          <a:prstGeom prst="ellipse">
            <a:avLst/>
          </a:prstGeom>
          <a:noFill/>
          <a:ln w="254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3429000" y="2667000"/>
            <a:ext cx="304800" cy="1295400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2781300" y="4171950"/>
            <a:ext cx="609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3362324" y="4171950"/>
            <a:ext cx="6572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ko-KR" altLang="en-US"/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2295525" y="5000625"/>
            <a:ext cx="4114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eaLnBrk="1" hangingPunct="1"/>
            <a:r>
              <a:rPr lang="en-US" altLang="ko-KR" sz="2000">
                <a:ea typeface="굴림" charset="-127"/>
              </a:rPr>
              <a:t>“attack postponed until two am”</a:t>
            </a:r>
            <a:endParaRPr lang="ko-KR" altLang="en-US" sz="2000">
              <a:ea typeface="굴림" charset="-127"/>
            </a:endParaRPr>
          </a:p>
        </p:txBody>
      </p:sp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 smtClean="0"/>
              <a:t>전치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2895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2.4 Rotor Machine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smtClean="0"/>
              <a:t>Rotor Machine </a:t>
            </a:r>
            <a:endParaRPr lang="en-US" altLang="ko-KR" dirty="0"/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2</a:t>
            </a:r>
            <a:r>
              <a:rPr lang="ko-KR" altLang="en-US" b="1" dirty="0" smtClean="0">
                <a:solidFill>
                  <a:srgbClr val="0000CC"/>
                </a:solidFill>
              </a:rPr>
              <a:t>차 세계 대전 때 사용됨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가변적 치환 기법 사용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다수의 실린더로 구성되며 각 실린더는 한 문자에 대한 치환을 수행함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세개의</a:t>
            </a:r>
            <a:r>
              <a:rPr lang="ko-KR" altLang="en-US" b="1" dirty="0" smtClean="0">
                <a:solidFill>
                  <a:srgbClr val="0000CC"/>
                </a:solidFill>
              </a:rPr>
              <a:t> 실린더를 사용할 경우</a:t>
            </a:r>
            <a:r>
              <a:rPr lang="en-US" altLang="ko-KR" b="1" dirty="0" smtClean="0">
                <a:solidFill>
                  <a:srgbClr val="0000CC"/>
                </a:solidFill>
              </a:rPr>
              <a:t>: 26</a:t>
            </a:r>
            <a:r>
              <a:rPr lang="en-US" altLang="ko-KR" b="1" baseline="30000" dirty="0" smtClean="0">
                <a:solidFill>
                  <a:srgbClr val="0000CC"/>
                </a:solidFill>
              </a:rPr>
              <a:t>3</a:t>
            </a:r>
            <a:r>
              <a:rPr lang="en-US" altLang="ko-KR" b="1" dirty="0" smtClean="0">
                <a:solidFill>
                  <a:srgbClr val="0000CC"/>
                </a:solidFill>
              </a:rPr>
              <a:t> = 17,576</a:t>
            </a:r>
            <a:r>
              <a:rPr lang="ko-KR" altLang="en-US" b="1" dirty="0" smtClean="0">
                <a:solidFill>
                  <a:srgbClr val="0000CC"/>
                </a:solidFill>
              </a:rPr>
              <a:t>개의 다른 알파벳 치환이 가능함 </a:t>
            </a:r>
            <a:endParaRPr lang="en-US" altLang="ko-KR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461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2.4 Rotor Machine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814178"/>
            <a:ext cx="8229600" cy="5452478"/>
          </a:xfrm>
        </p:spPr>
        <p:txBody>
          <a:bodyPr>
            <a:normAutofit/>
          </a:bodyPr>
          <a:lstStyle/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  </a:t>
            </a:r>
            <a:endParaRPr lang="en-US" altLang="ko-KR" b="1" dirty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13"/>
          <p:cNvSpPr txBox="1">
            <a:spLocks noChangeArrowheads="1"/>
          </p:cNvSpPr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0" latinLnBrk="1" hangingPunct="0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1pPr>
            <a:lvl2pPr marL="742950" indent="-285750" algn="l" defTabSz="914400" rtl="0" eaLnBrk="0" latinLnBrk="1" hangingPunct="0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2pPr>
            <a:lvl3pPr marL="1143000" indent="-228600" algn="l" defTabSz="914400" rtl="0" eaLnBrk="0" latinLnBrk="1" hangingPunct="0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3pPr>
            <a:lvl4pPr marL="1600200" indent="-228600" algn="l" defTabSz="914400" rtl="0" eaLnBrk="0" latinLnBrk="1" hangingPunct="0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4pPr>
            <a:lvl5pPr marL="2057400" indent="-228600" algn="l" defTabSz="914400" rtl="0" eaLnBrk="0" latinLnBrk="1" hangingPunct="0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5pPr>
            <a:lvl6pPr marL="2514600" indent="-228600" algn="ctr" defTabSz="914400" rtl="1" eaLnBrk="0" fontAlgn="base" latinLnBrk="1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6pPr>
            <a:lvl7pPr marL="2971800" indent="-228600" algn="ctr" defTabSz="914400" rtl="1" eaLnBrk="0" fontAlgn="base" latinLnBrk="1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7pPr>
            <a:lvl8pPr marL="3429000" indent="-228600" algn="ctr" defTabSz="914400" rtl="1" eaLnBrk="0" fontAlgn="base" latinLnBrk="1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8pPr>
            <a:lvl9pPr marL="3886200" indent="-228600" algn="ctr" defTabSz="914400" rtl="1" eaLnBrk="0" fontAlgn="base" latinLnBrk="1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Times New Roman (Hebrew)" charset="-79"/>
              </a:defRPr>
            </a:lvl9pPr>
          </a:lstStyle>
          <a:p>
            <a:pPr eaLnBrk="1" hangingPunct="1"/>
            <a:fld id="{8A7F7039-A14A-4CE9-83DE-9AFAEFC17E7B}" type="slidenum">
              <a:rPr lang="en-US" altLang="ko-KR" sz="1000" smtClean="0"/>
              <a:pPr eaLnBrk="1" hangingPunct="1"/>
              <a:t>30</a:t>
            </a:fld>
            <a:endParaRPr lang="en-US" altLang="ko-KR" sz="1000" smtClean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4400" y="902494"/>
            <a:ext cx="7599363" cy="583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152400" y="2393156"/>
            <a:ext cx="8286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eaLnBrk="1" hangingPunct="1"/>
            <a:r>
              <a:rPr lang="en-US" altLang="ko-KR" sz="1800">
                <a:ea typeface="굴림" charset="-127"/>
              </a:rPr>
              <a:t>A </a:t>
            </a:r>
            <a:r>
              <a:rPr lang="en-US" altLang="ko-KR" sz="1800">
                <a:ea typeface="굴림" charset="-127"/>
                <a:sym typeface="Wingdings" pitchFamily="2" charset="2"/>
              </a:rPr>
              <a:t> B</a:t>
            </a:r>
          </a:p>
          <a:p>
            <a:pPr eaLnBrk="1" hangingPunct="1"/>
            <a:r>
              <a:rPr lang="en-US" altLang="ko-KR" sz="1800">
                <a:ea typeface="굴림" charset="-127"/>
                <a:sym typeface="Wingdings" pitchFamily="2" charset="2"/>
              </a:rPr>
              <a:t>B  I</a:t>
            </a:r>
          </a:p>
          <a:p>
            <a:pPr eaLnBrk="1" hangingPunct="1"/>
            <a:r>
              <a:rPr lang="en-US" altLang="ko-KR" sz="1800">
                <a:ea typeface="굴림" charset="-127"/>
                <a:sym typeface="Wingdings" pitchFamily="2" charset="2"/>
              </a:rPr>
              <a:t>C  E</a:t>
            </a:r>
            <a:endParaRPr lang="ko-KR" altLang="en-US" sz="1800">
              <a:ea typeface="굴림" charset="-127"/>
            </a:endParaRPr>
          </a:p>
        </p:txBody>
      </p:sp>
      <p:sp>
        <p:nvSpPr>
          <p:cNvPr id="9" name="타원 6"/>
          <p:cNvSpPr>
            <a:spLocks noChangeArrowheads="1"/>
          </p:cNvSpPr>
          <p:nvPr/>
        </p:nvSpPr>
        <p:spPr bwMode="auto">
          <a:xfrm>
            <a:off x="5257800" y="5822156"/>
            <a:ext cx="762000" cy="304800"/>
          </a:xfrm>
          <a:prstGeom prst="ellipse">
            <a:avLst/>
          </a:prstGeom>
          <a:noFill/>
          <a:ln w="25400" algn="ctr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3124200" y="6050756"/>
            <a:ext cx="2819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eaLnBrk="1" hangingPunct="1"/>
            <a:r>
              <a:rPr lang="en-US" altLang="ko-KR" sz="800" b="1">
                <a:solidFill>
                  <a:srgbClr val="FF0000"/>
                </a:solidFill>
                <a:ea typeface="굴림" charset="-127"/>
              </a:rPr>
              <a:t>Fast rotor is rotated by 1 position.</a:t>
            </a:r>
          </a:p>
          <a:p>
            <a:pPr eaLnBrk="1" hangingPunct="1"/>
            <a:r>
              <a:rPr lang="en-US" altLang="ko-KR" sz="800" b="1">
                <a:solidFill>
                  <a:srgbClr val="FF0000"/>
                </a:solidFill>
                <a:ea typeface="굴림" charset="-127"/>
              </a:rPr>
              <a:t>So, the connection to #24 (of the medium rotor) is now to be from #6 (of fast rotor)</a:t>
            </a:r>
            <a:endParaRPr lang="ko-KR" altLang="en-US" sz="800" b="1">
              <a:solidFill>
                <a:srgbClr val="FF0000"/>
              </a:solidFill>
              <a:ea typeface="굴림" charset="-127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8288338" y="2774156"/>
            <a:ext cx="8556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eaLnBrk="1" hangingPunct="1"/>
            <a:r>
              <a:rPr lang="en-US" altLang="ko-KR" sz="1800">
                <a:ea typeface="굴림" charset="-127"/>
              </a:rPr>
              <a:t>A </a:t>
            </a:r>
            <a:r>
              <a:rPr lang="en-US" altLang="ko-KR" sz="1800">
                <a:ea typeface="굴림" charset="-127"/>
                <a:sym typeface="Wingdings" pitchFamily="2" charset="2"/>
              </a:rPr>
              <a:t> Y</a:t>
            </a:r>
          </a:p>
          <a:p>
            <a:pPr eaLnBrk="1" hangingPunct="1"/>
            <a:r>
              <a:rPr lang="en-US" altLang="ko-KR" sz="1800">
                <a:ea typeface="굴림" charset="-127"/>
                <a:sym typeface="Wingdings" pitchFamily="2" charset="2"/>
              </a:rPr>
              <a:t>B  D</a:t>
            </a:r>
          </a:p>
          <a:p>
            <a:pPr eaLnBrk="1" hangingPunct="1"/>
            <a:r>
              <a:rPr lang="en-US" altLang="ko-KR" sz="1800">
                <a:ea typeface="굴림" charset="-127"/>
                <a:sym typeface="Wingdings" pitchFamily="2" charset="2"/>
              </a:rPr>
              <a:t>C  O</a:t>
            </a:r>
            <a:endParaRPr lang="ko-KR" altLang="en-US" sz="1800">
              <a:ea typeface="굴림" charset="-127"/>
            </a:endParaRP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0" y="6248400"/>
            <a:ext cx="1676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eaLnBrk="1" hangingPunct="1"/>
            <a:r>
              <a:rPr lang="ko-KR" altLang="en-US" sz="1400" dirty="0">
                <a:solidFill>
                  <a:srgbClr val="FF0000"/>
                </a:solidFill>
                <a:ea typeface="굴림" charset="-127"/>
              </a:rPr>
              <a:t>내부연결은 바뀌지  않음</a:t>
            </a:r>
          </a:p>
        </p:txBody>
      </p:sp>
      <p:cxnSp>
        <p:nvCxnSpPr>
          <p:cNvPr id="13" name="직선 화살표 연결선 11"/>
          <p:cNvCxnSpPr>
            <a:cxnSpLocks noChangeShapeType="1"/>
          </p:cNvCxnSpPr>
          <p:nvPr/>
        </p:nvCxnSpPr>
        <p:spPr bwMode="auto">
          <a:xfrm flipV="1">
            <a:off x="685800" y="5288756"/>
            <a:ext cx="990600" cy="76200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" name="직선 화살표 연결선 14"/>
          <p:cNvCxnSpPr>
            <a:cxnSpLocks noChangeShapeType="1"/>
          </p:cNvCxnSpPr>
          <p:nvPr/>
        </p:nvCxnSpPr>
        <p:spPr bwMode="auto">
          <a:xfrm flipV="1">
            <a:off x="4800600" y="5898356"/>
            <a:ext cx="381000" cy="15240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5" name="오른쪽 화살표 24"/>
          <p:cNvSpPr>
            <a:spLocks noChangeArrowheads="1"/>
          </p:cNvSpPr>
          <p:nvPr/>
        </p:nvSpPr>
        <p:spPr bwMode="auto">
          <a:xfrm>
            <a:off x="2133600" y="5441156"/>
            <a:ext cx="1524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>
            <a:spAutoFit/>
          </a:bodyPr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6" name="오른쪽 화살표 25"/>
          <p:cNvSpPr>
            <a:spLocks noChangeArrowheads="1"/>
          </p:cNvSpPr>
          <p:nvPr/>
        </p:nvSpPr>
        <p:spPr bwMode="auto">
          <a:xfrm>
            <a:off x="6096000" y="5441156"/>
            <a:ext cx="1524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>
            <a:spAutoFit/>
          </a:bodyPr>
          <a:lstStyle/>
          <a:p>
            <a:endParaRPr lang="ko-KR" altLang="en-US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768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2.5 </a:t>
            </a:r>
            <a:r>
              <a:rPr lang="ko-KR" altLang="en-US" dirty="0" err="1" smtClean="0"/>
              <a:t>스테가노그라피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보안기술의 범주</a:t>
            </a:r>
            <a:endParaRPr lang="en-US" altLang="ko-KR" dirty="0" smtClean="0"/>
          </a:p>
          <a:p>
            <a:pPr lvl="1"/>
            <a:r>
              <a:rPr lang="ko-KR" altLang="en-US" b="1" dirty="0" smtClean="0">
                <a:solidFill>
                  <a:srgbClr val="0000CC"/>
                </a:solidFill>
              </a:rPr>
              <a:t>보안</a:t>
            </a:r>
            <a:r>
              <a:rPr lang="en-US" altLang="ko-KR" b="1" dirty="0" smtClean="0">
                <a:solidFill>
                  <a:srgbClr val="0000CC"/>
                </a:solidFill>
              </a:rPr>
              <a:t>(Security)</a:t>
            </a: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r>
              <a:rPr lang="en-US" altLang="ko-KR" b="1" dirty="0" smtClean="0">
                <a:solidFill>
                  <a:srgbClr val="0000CC"/>
                </a:solidFill>
              </a:rPr>
              <a:t>: </a:t>
            </a:r>
            <a:r>
              <a:rPr lang="ko-KR" altLang="en-US" b="1" dirty="0" smtClean="0">
                <a:solidFill>
                  <a:srgbClr val="0000CC"/>
                </a:solidFill>
              </a:rPr>
              <a:t>정보를 보호하는 방법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/>
            <a:r>
              <a:rPr lang="ko-KR" altLang="en-US" b="1" dirty="0" smtClean="0">
                <a:solidFill>
                  <a:srgbClr val="0000CC"/>
                </a:solidFill>
              </a:rPr>
              <a:t>첩보</a:t>
            </a:r>
            <a:r>
              <a:rPr lang="en-US" altLang="ko-KR" b="1" dirty="0" smtClean="0">
                <a:solidFill>
                  <a:srgbClr val="0000CC"/>
                </a:solidFill>
              </a:rPr>
              <a:t>(Intelligence) : </a:t>
            </a:r>
            <a:r>
              <a:rPr lang="ko-KR" altLang="en-US" b="1" dirty="0" smtClean="0">
                <a:solidFill>
                  <a:srgbClr val="0000CC"/>
                </a:solidFill>
              </a:rPr>
              <a:t>정보를 탐지하는 방법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r>
              <a:rPr lang="ko-KR" altLang="en-US" dirty="0" err="1" smtClean="0"/>
              <a:t>평문메시지의</a:t>
            </a:r>
            <a:r>
              <a:rPr lang="ko-KR" altLang="en-US" dirty="0" smtClean="0"/>
              <a:t> 은닉방법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Steganography</a:t>
            </a:r>
            <a:r>
              <a:rPr lang="en-US" altLang="ko-KR" dirty="0" smtClean="0"/>
              <a:t>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2"/>
            <a:r>
              <a:rPr lang="ko-KR" altLang="en-US" b="1" dirty="0" smtClean="0">
                <a:solidFill>
                  <a:srgbClr val="0000CC"/>
                </a:solidFill>
              </a:rPr>
              <a:t>메시지의 존재 자체를 은폐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/>
            <a:r>
              <a:rPr lang="en-US" altLang="ko-KR" dirty="0" smtClean="0"/>
              <a:t>cryptography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2"/>
            <a:r>
              <a:rPr lang="ko-KR" altLang="en-US" b="1" dirty="0" smtClean="0">
                <a:solidFill>
                  <a:srgbClr val="0000CC"/>
                </a:solidFill>
              </a:rPr>
              <a:t>다양한 원문의 변환에 의해 외부인이 그 의미를 알지 못하도록 메시지를 변형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r>
              <a:rPr lang="ko-KR" altLang="en-US" dirty="0" smtClean="0"/>
              <a:t>특징</a:t>
            </a:r>
            <a:endParaRPr lang="en-US" altLang="ko-KR" dirty="0" smtClean="0"/>
          </a:p>
          <a:p>
            <a:pPr lvl="1"/>
            <a:r>
              <a:rPr lang="ko-KR" altLang="en-US" b="1" dirty="0" smtClean="0">
                <a:solidFill>
                  <a:srgbClr val="0000CC"/>
                </a:solidFill>
              </a:rPr>
              <a:t>메시지의 존재 자체를 은폐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/>
            <a:r>
              <a:rPr lang="ko-KR" altLang="en-US" b="1" dirty="0" smtClean="0">
                <a:solidFill>
                  <a:srgbClr val="0000CC"/>
                </a:solidFill>
              </a:rPr>
              <a:t>원문내의 단어나 문자를 적절히 발췌하여 조합배열 함으로써 실제 메시지를 나타냄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70926BE6910EE541A5C8A9203B4061CC0400C52140320FE295488DD4381964E77F84" ma:contentTypeVersion="30" ma:contentTypeDescription="Create a new document." ma:contentTypeScope="" ma:versionID="2d9820c5088bac4600ebd6353969fdf2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/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7E2D74F-510D-4CF0-A325-EE1D62B28D4F}">
  <ds:schemaRefs>
    <ds:schemaRef ds:uri="http://schemas.microsoft.com/office/2006/metadata/contentType"/>
    <ds:schemaRef ds:uri="http://schemas.microsoft.com/office/2006/metadata/properties/metaAttributes"/>
  </ds:schemaRefs>
</ds:datastoreItem>
</file>

<file path=customXml/itemProps2.xml><?xml version="1.0" encoding="utf-8"?>
<ds:datastoreItem xmlns:ds="http://schemas.openxmlformats.org/officeDocument/2006/customXml" ds:itemID="{757EB264-03ED-4FEC-80E3-24FBC21862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69416FF-ACAD-418F-B5CE-95627A3848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CSC</Template>
  <TotalTime>6140</TotalTime>
  <Words>1291</Words>
  <Application>Microsoft Office PowerPoint</Application>
  <PresentationFormat>화면 슬라이드 쇼(4:3)</PresentationFormat>
  <Paragraphs>306</Paragraphs>
  <Slides>31</Slides>
  <Notes>31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3" baseType="lpstr">
      <vt:lpstr>CSC</vt:lpstr>
      <vt:lpstr>Equation</vt:lpstr>
      <vt:lpstr>2장 고전 암호 기법   (Classical Encryption Techniques)</vt:lpstr>
      <vt:lpstr>목차</vt:lpstr>
      <vt:lpstr>핵심정리</vt:lpstr>
      <vt:lpstr>2.1 대칭 암호 모델</vt:lpstr>
      <vt:lpstr>2.1 대칭 암호 모델</vt:lpstr>
      <vt:lpstr>2.1 대칭 암호 모델 </vt:lpstr>
      <vt:lpstr>2.1 대칭 암호 모델 </vt:lpstr>
      <vt:lpstr>2.1 대칭 암호 모델 </vt:lpstr>
      <vt:lpstr>2.1 대칭 암호 모델 </vt:lpstr>
      <vt:lpstr>2.1 대칭 암호 모델 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2.2 치환 기법</vt:lpstr>
      <vt:lpstr>2.3 전치 기법</vt:lpstr>
      <vt:lpstr>2.3 전치 기법</vt:lpstr>
      <vt:lpstr>2.4 Rotor Machine </vt:lpstr>
      <vt:lpstr>2.4 Rotor Machine</vt:lpstr>
      <vt:lpstr>2.5 스테가노그라피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com</dc:creator>
  <cp:lastModifiedBy>kastropolos</cp:lastModifiedBy>
  <cp:revision>510</cp:revision>
  <dcterms:created xsi:type="dcterms:W3CDTF">2011-03-23T07:23:15Z</dcterms:created>
  <dcterms:modified xsi:type="dcterms:W3CDTF">2011-08-14T13:55:22Z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TC300035039990</vt:lpwstr>
  </property>
</Properties>
</file>