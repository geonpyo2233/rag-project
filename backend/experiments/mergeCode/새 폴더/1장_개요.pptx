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29" r:id="rId5"/>
    <p:sldId id="330" r:id="rId6"/>
    <p:sldId id="275" r:id="rId7"/>
    <p:sldId id="331" r:id="rId8"/>
    <p:sldId id="332" r:id="rId9"/>
    <p:sldId id="333" r:id="rId10"/>
    <p:sldId id="334" r:id="rId11"/>
    <p:sldId id="335" r:id="rId12"/>
    <p:sldId id="338" r:id="rId13"/>
    <p:sldId id="337" r:id="rId14"/>
    <p:sldId id="336" r:id="rId15"/>
    <p:sldId id="342" r:id="rId16"/>
    <p:sldId id="339" r:id="rId17"/>
    <p:sldId id="340" r:id="rId18"/>
    <p:sldId id="341" r:id="rId19"/>
  </p:sldIdLst>
  <p:sldSz cx="9144000" cy="6858000" type="screen4x3"/>
  <p:notesSz cx="6788150" cy="99171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CC"/>
    <a:srgbClr val="006600"/>
    <a:srgbClr val="FF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944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2052" y="-102"/>
      </p:cViewPr>
      <p:guideLst>
        <p:guide orient="horz" pos="3125"/>
        <p:guide pos="2139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9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r">
              <a:defRPr sz="1200"/>
            </a:lvl1pPr>
          </a:lstStyle>
          <a:p>
            <a:fld id="{3D242011-AB3F-4860-BBD0-46C50B3228CD}" type="datetimeFigureOut">
              <a:rPr lang="ko-KR" altLang="en-US" smtClean="0"/>
              <a:pPr/>
              <a:t>08-08-Monday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9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r">
              <a:defRPr sz="1200"/>
            </a:lvl1pPr>
          </a:lstStyle>
          <a:p>
            <a:fld id="{F8021D0A-0254-4728-98E1-160BE5C95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78057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9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r">
              <a:defRPr sz="1200"/>
            </a:lvl1pPr>
          </a:lstStyle>
          <a:p>
            <a:fld id="{995037A9-217D-4EBD-9590-DADA42C585E8}" type="datetimeFigureOut">
              <a:rPr lang="ko-KR" altLang="en-US" smtClean="0"/>
              <a:pPr/>
              <a:t>08-08-Monday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2950"/>
            <a:ext cx="4959350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44" tIns="47721" rIns="95444" bIns="477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6" y="4710630"/>
            <a:ext cx="5430520" cy="4462702"/>
          </a:xfrm>
          <a:prstGeom prst="rect">
            <a:avLst/>
          </a:prstGeom>
        </p:spPr>
        <p:txBody>
          <a:bodyPr vert="horz" lIns="95444" tIns="47721" rIns="95444" bIns="47721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9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r">
              <a:defRPr sz="1200"/>
            </a:lvl1pPr>
          </a:lstStyle>
          <a:p>
            <a:fld id="{C5240C13-67AB-475F-B267-02F62F990A5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4834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0699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22322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 userDrawn="1"/>
        </p:nvGrpSpPr>
        <p:grpSpPr>
          <a:xfrm>
            <a:off x="71406" y="71414"/>
            <a:ext cx="9001156" cy="3857652"/>
            <a:chOff x="71406" y="71414"/>
            <a:chExt cx="8858315" cy="3997931"/>
          </a:xfrm>
        </p:grpSpPr>
        <p:sp>
          <p:nvSpPr>
            <p:cNvPr id="7" name="직사각형 6"/>
            <p:cNvSpPr/>
            <p:nvPr userDrawn="1"/>
          </p:nvSpPr>
          <p:spPr>
            <a:xfrm>
              <a:off x="71406" y="71414"/>
              <a:ext cx="5715040" cy="3500462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 userDrawn="1"/>
          </p:nvSpPr>
          <p:spPr>
            <a:xfrm>
              <a:off x="5857884" y="71414"/>
              <a:ext cx="3071834" cy="3500462"/>
            </a:xfrm>
            <a:prstGeom prst="rect">
              <a:avLst/>
            </a:prstGeom>
            <a:gradFill flip="none" rotWithShape="1">
              <a:gsLst>
                <a:gs pos="42000">
                  <a:schemeClr val="bg1">
                    <a:lumMod val="75000"/>
                    <a:tint val="66000"/>
                    <a:satMod val="160000"/>
                    <a:alpha val="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44500"/>
                    <a:satMod val="160000"/>
                  </a:schemeClr>
                </a:gs>
                <a:gs pos="61000">
                  <a:schemeClr val="bg1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 userDrawn="1"/>
          </p:nvSpPr>
          <p:spPr>
            <a:xfrm>
              <a:off x="704145" y="3625130"/>
              <a:ext cx="8225576" cy="4442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b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컴퓨터 보안과 암호</a:t>
              </a:r>
              <a:endParaRPr lang="ko-KR" altLang="en-US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6" name="직사각형 25"/>
          <p:cNvSpPr/>
          <p:nvPr userDrawn="1"/>
        </p:nvSpPr>
        <p:spPr>
          <a:xfrm>
            <a:off x="71406" y="3500438"/>
            <a:ext cx="571504" cy="4286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/>
          <p:cNvCxnSpPr/>
          <p:nvPr userDrawn="1"/>
        </p:nvCxnSpPr>
        <p:spPr>
          <a:xfrm>
            <a:off x="214282" y="3714752"/>
            <a:ext cx="285752" cy="1588"/>
          </a:xfrm>
          <a:prstGeom prst="straightConnector1">
            <a:avLst/>
          </a:prstGeom>
          <a:ln w="38100">
            <a:solidFill>
              <a:schemeClr val="bg1"/>
            </a:solidFill>
            <a:headEnd w="med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 userDrawn="1"/>
        </p:nvCxnSpPr>
        <p:spPr>
          <a:xfrm>
            <a:off x="0" y="6572272"/>
            <a:ext cx="9144000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457200" y="775063"/>
            <a:ext cx="4898571" cy="203780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673350" y="4737100"/>
            <a:ext cx="4494213" cy="879475"/>
          </a:xfrm>
        </p:spPr>
        <p:txBody>
          <a:bodyPr>
            <a:normAutofit/>
          </a:bodyPr>
          <a:lstStyle>
            <a:lvl1pPr algn="ctr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부제목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 anchor="ctr" anchorCtr="0"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32" y="6500810"/>
            <a:ext cx="8572560" cy="35719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000108"/>
            <a:ext cx="8229600" cy="5126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-32" y="-24"/>
            <a:ext cx="9144032" cy="78581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  <a:shade val="30000"/>
                  <a:satMod val="115000"/>
                </a:schemeClr>
              </a:gs>
              <a:gs pos="50000">
                <a:schemeClr val="accent3">
                  <a:lumMod val="50000"/>
                  <a:shade val="67500"/>
                  <a:satMod val="115000"/>
                </a:schemeClr>
              </a:gs>
              <a:gs pos="100000">
                <a:schemeClr val="accent3">
                  <a:lumMod val="5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572496" y="6500834"/>
            <a:ext cx="571504" cy="35716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 txBox="1">
            <a:spLocks/>
          </p:cNvSpPr>
          <p:nvPr/>
        </p:nvSpPr>
        <p:spPr>
          <a:xfrm>
            <a:off x="8572528" y="6572272"/>
            <a:ext cx="571504" cy="29368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73BE6-7C45-4BD7-97F4-BFB0B357CDB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제목 1"/>
          <p:cNvSpPr txBox="1">
            <a:spLocks/>
          </p:cNvSpPr>
          <p:nvPr userDrawn="1"/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</a:t>
            </a:r>
            <a:r>
              <a:rPr lang="ko-KR" altLang="en-US" dirty="0" smtClean="0"/>
              <a:t>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개요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(Introduction)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pPr marL="914400" lvl="1" indent="-457200">
              <a:buNone/>
            </a:pPr>
            <a:r>
              <a:rPr lang="en-US" altLang="ko-KR" dirty="0" smtClean="0"/>
              <a:t>1.1 </a:t>
            </a:r>
            <a:r>
              <a:rPr lang="ko-KR" altLang="en-US" dirty="0" smtClean="0"/>
              <a:t>컴퓨터 보안 개념  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1.2 OSI </a:t>
            </a:r>
            <a:r>
              <a:rPr lang="ko-KR" altLang="en-US" dirty="0" smtClean="0"/>
              <a:t>보안 구조 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1.3 </a:t>
            </a:r>
            <a:r>
              <a:rPr lang="ko-KR" altLang="en-US" dirty="0" smtClean="0"/>
              <a:t>보안 공격 유형 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1.4 </a:t>
            </a:r>
            <a:r>
              <a:rPr lang="ko-KR" altLang="en-US" dirty="0" smtClean="0"/>
              <a:t>보안 서비스 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1.5 </a:t>
            </a:r>
            <a:r>
              <a:rPr lang="ko-KR" altLang="en-US" dirty="0" smtClean="0"/>
              <a:t>보안 메커니즘 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1.6 </a:t>
            </a:r>
            <a:r>
              <a:rPr lang="ko-KR" altLang="en-US" dirty="0" smtClean="0"/>
              <a:t>네트워크 보안 모델 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ko-KR" altLang="en-US" dirty="0" smtClean="0"/>
              <a:t> 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컴퓨터 </a:t>
            </a:r>
            <a:r>
              <a:rPr lang="ko-KR" altLang="en-US" dirty="0" smtClean="0"/>
              <a:t>보안 개념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>
            <a:normAutofit/>
          </a:bodyPr>
          <a:lstStyle/>
          <a:p>
            <a:pPr latinLnBrk="0"/>
            <a:r>
              <a:rPr lang="ko-KR" altLang="en-US" dirty="0" smtClean="0"/>
              <a:t>컴퓨터 보안에 대한 정의</a:t>
            </a:r>
            <a:r>
              <a:rPr lang="en-US" altLang="ko-KR" dirty="0" smtClean="0"/>
              <a:t>(NIST95)</a:t>
            </a:r>
          </a:p>
          <a:p>
            <a:pPr latinLnBrk="0"/>
            <a:endParaRPr lang="en-US" altLang="ko-KR" dirty="0"/>
          </a:p>
          <a:p>
            <a:pPr latinLnBrk="0"/>
            <a:endParaRPr lang="en-US" altLang="ko-KR" dirty="0" smtClean="0"/>
          </a:p>
          <a:p>
            <a:pPr latinLnBrk="0"/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1092200" y="1543077"/>
            <a:ext cx="7404100" cy="1365223"/>
          </a:xfrm>
          <a:prstGeom prst="roundRect">
            <a:avLst/>
          </a:prstGeom>
          <a:solidFill>
            <a:srgbClr val="79AFFF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72000" bIns="36000" rtlCol="0" anchor="ctr" anchorCtr="1">
            <a:normAutofit/>
          </a:bodyPr>
          <a:lstStyle/>
          <a:p>
            <a:pPr marL="177800" lvl="1" latinLnBrk="0"/>
            <a:r>
              <a:rPr lang="ko-KR" altLang="en-US" sz="2000" dirty="0">
                <a:solidFill>
                  <a:srgbClr val="0000CC"/>
                </a:solidFill>
              </a:rPr>
              <a:t>정보</a:t>
            </a:r>
            <a:r>
              <a:rPr lang="en-US" altLang="ko-KR" sz="2000" dirty="0">
                <a:solidFill>
                  <a:srgbClr val="0000CC"/>
                </a:solidFill>
              </a:rPr>
              <a:t> </a:t>
            </a:r>
            <a:r>
              <a:rPr lang="ko-KR" altLang="en-US" sz="2000" dirty="0">
                <a:solidFill>
                  <a:srgbClr val="0000CC"/>
                </a:solidFill>
              </a:rPr>
              <a:t>시스템 자원</a:t>
            </a:r>
            <a:r>
              <a:rPr lang="en-US" altLang="ko-KR" sz="2000" dirty="0">
                <a:solidFill>
                  <a:srgbClr val="0000CC"/>
                </a:solidFill>
              </a:rPr>
              <a:t>(</a:t>
            </a:r>
            <a:r>
              <a:rPr lang="ko-KR" altLang="en-US" sz="2000" dirty="0">
                <a:solidFill>
                  <a:srgbClr val="0000CC"/>
                </a:solidFill>
              </a:rPr>
              <a:t>하드웨어나 소프트웨어</a:t>
            </a:r>
            <a:r>
              <a:rPr lang="en-US" altLang="ko-KR" sz="2000" dirty="0">
                <a:solidFill>
                  <a:srgbClr val="0000CC"/>
                </a:solidFill>
              </a:rPr>
              <a:t>, </a:t>
            </a:r>
            <a:r>
              <a:rPr lang="ko-KR" altLang="en-US" sz="2000" dirty="0" err="1">
                <a:solidFill>
                  <a:srgbClr val="0000CC"/>
                </a:solidFill>
              </a:rPr>
              <a:t>펌웨어</a:t>
            </a:r>
            <a:r>
              <a:rPr lang="en-US" altLang="ko-KR" sz="2000" dirty="0">
                <a:solidFill>
                  <a:srgbClr val="0000CC"/>
                </a:solidFill>
              </a:rPr>
              <a:t>, </a:t>
            </a:r>
            <a:r>
              <a:rPr lang="ko-KR" altLang="en-US" sz="2000" dirty="0">
                <a:solidFill>
                  <a:srgbClr val="0000CC"/>
                </a:solidFill>
              </a:rPr>
              <a:t>정보</a:t>
            </a:r>
            <a:r>
              <a:rPr lang="en-US" altLang="ko-KR" sz="2000" dirty="0">
                <a:solidFill>
                  <a:srgbClr val="0000CC"/>
                </a:solidFill>
              </a:rPr>
              <a:t>/</a:t>
            </a:r>
            <a:r>
              <a:rPr lang="ko-KR" altLang="en-US" sz="2000" dirty="0">
                <a:solidFill>
                  <a:srgbClr val="0000CC"/>
                </a:solidFill>
              </a:rPr>
              <a:t>데이터</a:t>
            </a:r>
            <a:r>
              <a:rPr lang="en-US" altLang="ko-KR" sz="2000" dirty="0">
                <a:solidFill>
                  <a:srgbClr val="0000CC"/>
                </a:solidFill>
              </a:rPr>
              <a:t>, </a:t>
            </a:r>
            <a:r>
              <a:rPr lang="ko-KR" altLang="en-US" sz="2000" dirty="0">
                <a:solidFill>
                  <a:srgbClr val="0000CC"/>
                </a:solidFill>
              </a:rPr>
              <a:t>통신</a:t>
            </a:r>
            <a:r>
              <a:rPr lang="en-US" altLang="ko-KR" sz="2000" dirty="0">
                <a:solidFill>
                  <a:srgbClr val="0000CC"/>
                </a:solidFill>
              </a:rPr>
              <a:t>)</a:t>
            </a:r>
            <a:r>
              <a:rPr lang="ko-KR" altLang="en-US" sz="2000" dirty="0">
                <a:solidFill>
                  <a:srgbClr val="0000CC"/>
                </a:solidFill>
              </a:rPr>
              <a:t>에 대한 무결성과 가용성</a:t>
            </a:r>
            <a:r>
              <a:rPr lang="en-US" altLang="ko-KR" sz="2000" dirty="0">
                <a:solidFill>
                  <a:srgbClr val="0000CC"/>
                </a:solidFill>
              </a:rPr>
              <a:t>, </a:t>
            </a:r>
            <a:r>
              <a:rPr lang="ko-KR" altLang="en-US" sz="2000" dirty="0">
                <a:solidFill>
                  <a:srgbClr val="0000CC"/>
                </a:solidFill>
              </a:rPr>
              <a:t>기밀성 유지와 같은 목적 달성을 위해 자동화된 정보시스템에 적용되는 보호 </a:t>
            </a:r>
            <a:endParaRPr lang="en-US" altLang="ko-KR" sz="16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컴퓨터 </a:t>
            </a:r>
            <a:r>
              <a:rPr lang="ko-KR" altLang="en-US" dirty="0" smtClean="0"/>
              <a:t>보안 개념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 fontScale="92500" lnSpcReduction="20000"/>
          </a:bodyPr>
          <a:lstStyle/>
          <a:p>
            <a:pPr latinLnBrk="0">
              <a:lnSpc>
                <a:spcPct val="120000"/>
              </a:lnSpc>
            </a:pPr>
            <a:r>
              <a:rPr lang="ko-KR" altLang="en-US" dirty="0" smtClean="0"/>
              <a:t>컴퓨터 보안의 세가지 주요 목적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기밀성</a:t>
            </a:r>
            <a:r>
              <a:rPr lang="en-US" altLang="ko-KR" b="1" dirty="0" smtClean="0">
                <a:solidFill>
                  <a:srgbClr val="0000CC"/>
                </a:solidFill>
              </a:rPr>
              <a:t>(Confidentiality)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데이터</a:t>
            </a:r>
            <a:r>
              <a:rPr lang="en-US" altLang="ko-KR" dirty="0" smtClean="0">
                <a:solidFill>
                  <a:srgbClr val="C00000"/>
                </a:solidFill>
              </a:rPr>
              <a:t> </a:t>
            </a:r>
            <a:r>
              <a:rPr lang="ko-KR" altLang="en-US" dirty="0" smtClean="0">
                <a:solidFill>
                  <a:srgbClr val="C00000"/>
                </a:solidFill>
              </a:rPr>
              <a:t>기밀성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개인적이거나 비밀스러운 정보를 권한이 없는 자에게 노출되거나 소유할 수 없도록 함</a:t>
            </a:r>
            <a:endParaRPr lang="en-US" altLang="ko-KR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프라이버시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개인과 관련된 어떤 정보가 수집 및 저장되는지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 누구에 의해 누구에게 해당 정보가 노출되는지를 통제하거나</a:t>
            </a:r>
            <a:r>
              <a:rPr lang="en-US" altLang="ko-KR" dirty="0" smtClean="0"/>
              <a:t> </a:t>
            </a:r>
            <a:r>
              <a:rPr lang="ko-KR" altLang="en-US" dirty="0" smtClean="0"/>
              <a:t>영향력을 발휘할 수 있도록 함 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무결성</a:t>
            </a:r>
            <a:r>
              <a:rPr lang="en-US" altLang="ko-KR" b="1" dirty="0" smtClean="0">
                <a:solidFill>
                  <a:srgbClr val="0000CC"/>
                </a:solidFill>
              </a:rPr>
              <a:t>(Integrity)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데이터 </a:t>
            </a:r>
            <a:r>
              <a:rPr lang="ko-KR" altLang="en-US" dirty="0" err="1" smtClean="0">
                <a:solidFill>
                  <a:srgbClr val="C00000"/>
                </a:solidFill>
              </a:rPr>
              <a:t>무결성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정보와 프로그램이 오직 특정 인가된 방법에 의해서만 변경될 수 있도록 보장함</a:t>
            </a:r>
            <a:endParaRPr lang="en-US" altLang="ko-KR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dirty="0" smtClean="0">
                <a:solidFill>
                  <a:srgbClr val="C00000"/>
                </a:solidFill>
              </a:rPr>
              <a:t>시스템 </a:t>
            </a:r>
            <a:r>
              <a:rPr lang="ko-KR" altLang="en-US" dirty="0" err="1" smtClean="0">
                <a:solidFill>
                  <a:srgbClr val="C00000"/>
                </a:solidFill>
              </a:rPr>
              <a:t>무결성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시스템이 원하는 기능을 손상되지 않은 형태로 수행되거나 고의적 혹은 우연에 의해 시스템에 대한 비인가 조작 없이 원하는 기능을 수행할 수 있도록 보장함 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가용성</a:t>
            </a:r>
            <a:r>
              <a:rPr lang="en-US" altLang="ko-KR" b="1" dirty="0" smtClean="0">
                <a:solidFill>
                  <a:srgbClr val="0000CC"/>
                </a:solidFill>
              </a:rPr>
              <a:t>(Availability) 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dirty="0"/>
              <a:t> </a:t>
            </a:r>
            <a:r>
              <a:rPr lang="ko-KR" altLang="en-US" dirty="0" smtClean="0"/>
              <a:t>시스템이 적절한 시점에 동작할 수 있도록 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인가된 사용자에게는 서비스가 잘 제공되도록 보장함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4515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5560500" y="2364938"/>
            <a:ext cx="3468914" cy="3595132"/>
            <a:chOff x="2006600" y="2489200"/>
            <a:chExt cx="3468914" cy="3595132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6600" y="2489200"/>
              <a:ext cx="3468914" cy="3035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2880800" y="5715000"/>
              <a:ext cx="16289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보안의 </a:t>
              </a:r>
              <a:r>
                <a:rPr lang="en-US" altLang="ko-KR" dirty="0" smtClean="0"/>
                <a:t>3 </a:t>
              </a:r>
              <a:r>
                <a:rPr lang="ko-KR" altLang="en-US" dirty="0" smtClean="0"/>
                <a:t>요소</a:t>
              </a:r>
              <a:endParaRPr lang="ko-KR" altLang="en-US" dirty="0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컴퓨터 </a:t>
            </a:r>
            <a:r>
              <a:rPr lang="ko-KR" altLang="en-US" dirty="0" smtClean="0"/>
              <a:t>보안 개념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077972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dirty="0" smtClean="0"/>
              <a:t>보안의 </a:t>
            </a:r>
            <a:r>
              <a:rPr lang="en-US" altLang="ko-KR" dirty="0" smtClean="0"/>
              <a:t>3</a:t>
            </a:r>
            <a:r>
              <a:rPr lang="ko-KR" altLang="en-US" dirty="0" smtClean="0"/>
              <a:t>요소</a:t>
            </a:r>
            <a:r>
              <a:rPr lang="en-US" altLang="ko-KR" dirty="0" smtClean="0"/>
              <a:t>(CIA triad)</a:t>
            </a:r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NIST FIPS 199</a:t>
            </a:r>
            <a:r>
              <a:rPr lang="ko-KR" altLang="en-US" b="1" dirty="0" smtClean="0">
                <a:solidFill>
                  <a:srgbClr val="0000CC"/>
                </a:solidFill>
              </a:rPr>
              <a:t>에서는 </a:t>
            </a:r>
            <a:r>
              <a:rPr lang="en-US" altLang="ko-KR" b="1" dirty="0" smtClean="0">
                <a:solidFill>
                  <a:srgbClr val="0000CC"/>
                </a:solidFill>
              </a:rPr>
              <a:t>Confidentiality, Integrity, Availability</a:t>
            </a:r>
            <a:r>
              <a:rPr lang="ko-KR" altLang="en-US" b="1" dirty="0" smtClean="0">
                <a:solidFill>
                  <a:srgbClr val="0000CC"/>
                </a:solidFill>
              </a:rPr>
              <a:t>를 데이터 및 정보</a:t>
            </a:r>
            <a:r>
              <a:rPr lang="en-US" altLang="ko-KR" b="1" dirty="0" smtClean="0">
                <a:solidFill>
                  <a:srgbClr val="0000CC"/>
                </a:solidFill>
              </a:rPr>
              <a:t>, </a:t>
            </a:r>
            <a:r>
              <a:rPr lang="ko-KR" altLang="en-US" b="1" dirty="0" smtClean="0">
                <a:solidFill>
                  <a:srgbClr val="0000CC"/>
                </a:solidFill>
              </a:rPr>
              <a:t>컴퓨팅 서비스를 위한 주요 </a:t>
            </a:r>
            <a:r>
              <a:rPr lang="en-US" altLang="ko-KR" b="1" dirty="0" smtClean="0">
                <a:solidFill>
                  <a:srgbClr val="0000CC"/>
                </a:solidFill>
              </a:rPr>
              <a:t>3</a:t>
            </a:r>
            <a:r>
              <a:rPr lang="ko-KR" altLang="en-US" b="1" dirty="0" smtClean="0">
                <a:solidFill>
                  <a:srgbClr val="0000CC"/>
                </a:solidFill>
              </a:rPr>
              <a:t>가지 보안 목표로 정의함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74700" y="2755037"/>
            <a:ext cx="4572000" cy="16065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2" indent="-285750" latinLnBrk="0">
              <a:lnSpc>
                <a:spcPct val="120000"/>
              </a:lnSpc>
              <a:buFont typeface="Arial" pitchFamily="34" charset="0"/>
              <a:buChar char="•"/>
            </a:pPr>
            <a:r>
              <a:rPr lang="ko-KR" altLang="en-US" b="1" dirty="0"/>
              <a:t>최근 </a:t>
            </a:r>
            <a:r>
              <a:rPr lang="en-US" altLang="ko-KR" b="1" dirty="0"/>
              <a:t>CIA triad</a:t>
            </a:r>
            <a:r>
              <a:rPr lang="ko-KR" altLang="en-US" b="1" dirty="0"/>
              <a:t>에 </a:t>
            </a:r>
            <a:r>
              <a:rPr lang="en-US" altLang="ko-KR" b="1" dirty="0"/>
              <a:t>Authenticity, Accountability </a:t>
            </a:r>
            <a:r>
              <a:rPr lang="ko-KR" altLang="en-US" b="1" dirty="0" smtClean="0"/>
              <a:t>의 </a:t>
            </a:r>
            <a:r>
              <a:rPr lang="ko-KR" altLang="en-US" b="1" dirty="0"/>
              <a:t>추가 필요성이 제기됨 </a:t>
            </a:r>
            <a:endParaRPr lang="en-US" altLang="ko-KR" b="1" dirty="0" smtClean="0"/>
          </a:p>
          <a:p>
            <a:pPr marL="742950" lvl="3" indent="-285750" latinLnBrk="0">
              <a:lnSpc>
                <a:spcPct val="120000"/>
              </a:lnSpc>
              <a:buFont typeface="Wingdings" pitchFamily="2" charset="2"/>
              <a:buChar char="§"/>
            </a:pPr>
            <a:r>
              <a:rPr lang="ko-KR" altLang="en-US" sz="1400" b="1" dirty="0" err="1" smtClean="0">
                <a:solidFill>
                  <a:srgbClr val="002060"/>
                </a:solidFill>
              </a:rPr>
              <a:t>타보안</a:t>
            </a:r>
            <a:r>
              <a:rPr lang="ko-KR" altLang="en-US" sz="1400" b="1" dirty="0" smtClean="0">
                <a:solidFill>
                  <a:srgbClr val="002060"/>
                </a:solidFill>
              </a:rPr>
              <a:t> 요소의 </a:t>
            </a:r>
            <a:r>
              <a:rPr lang="ko-KR" altLang="en-US" sz="1400" b="1" dirty="0">
                <a:solidFill>
                  <a:srgbClr val="002060"/>
                </a:solidFill>
              </a:rPr>
              <a:t>추가 필요성이 </a:t>
            </a:r>
            <a:r>
              <a:rPr lang="ko-KR" altLang="en-US" sz="1400" b="1" dirty="0" smtClean="0">
                <a:solidFill>
                  <a:srgbClr val="002060"/>
                </a:solidFill>
              </a:rPr>
              <a:t>제기됨</a:t>
            </a:r>
            <a:r>
              <a:rPr lang="en-US" altLang="ko-KR" sz="1400" b="1" dirty="0">
                <a:solidFill>
                  <a:srgbClr val="002060"/>
                </a:solidFill>
              </a:rPr>
              <a:t> (</a:t>
            </a:r>
            <a:r>
              <a:rPr lang="ko-KR" altLang="en-US" sz="1400" b="1" dirty="0">
                <a:solidFill>
                  <a:srgbClr val="002060"/>
                </a:solidFill>
              </a:rPr>
              <a:t>예</a:t>
            </a:r>
            <a:r>
              <a:rPr lang="en-US" altLang="ko-KR" sz="1400" b="1" dirty="0">
                <a:solidFill>
                  <a:srgbClr val="002060"/>
                </a:solidFill>
              </a:rPr>
              <a:t>: non-repudiation)</a:t>
            </a:r>
            <a:r>
              <a:rPr lang="ko-KR" altLang="en-US" sz="1400" b="1" dirty="0" smtClean="0">
                <a:solidFill>
                  <a:srgbClr val="002060"/>
                </a:solidFill>
              </a:rPr>
              <a:t>  </a:t>
            </a:r>
            <a:endParaRPr lang="en-US" altLang="ko-KR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851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컴퓨터 </a:t>
            </a:r>
            <a:r>
              <a:rPr lang="ko-KR" altLang="en-US" dirty="0" smtClean="0"/>
              <a:t>보안 개념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 fontScale="85000" lnSpcReduction="20000"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smtClean="0"/>
              <a:t>CIA triad</a:t>
            </a:r>
            <a:r>
              <a:rPr lang="ko-KR" altLang="en-US" dirty="0"/>
              <a:t> </a:t>
            </a:r>
            <a:r>
              <a:rPr lang="ko-KR" altLang="en-US" dirty="0" smtClean="0"/>
              <a:t>요구사항과 보안 손실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기밀성</a:t>
            </a:r>
            <a:r>
              <a:rPr lang="en-US" altLang="ko-KR" b="1" dirty="0" smtClean="0">
                <a:solidFill>
                  <a:srgbClr val="0000CC"/>
                </a:solidFill>
              </a:rPr>
              <a:t>: 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dirty="0" smtClean="0"/>
              <a:t>권한이 </a:t>
            </a:r>
            <a:r>
              <a:rPr lang="ko-KR" altLang="en-US" dirty="0"/>
              <a:t>있는 경우에만 개인 프라이버시와 사설 정보보호를 포함하는 정보에 대한 접근과 노출을 </a:t>
            </a:r>
            <a:r>
              <a:rPr lang="ko-KR" altLang="en-US" dirty="0" smtClean="0"/>
              <a:t>허용함</a:t>
            </a:r>
            <a:endParaRPr lang="en-US" altLang="ko-KR" dirty="0"/>
          </a:p>
          <a:p>
            <a:pPr lvl="2" latinLnBrk="0">
              <a:lnSpc>
                <a:spcPct val="120000"/>
              </a:lnSpc>
            </a:pPr>
            <a:r>
              <a:rPr lang="ko-KR" altLang="en-US" dirty="0" smtClean="0"/>
              <a:t>기밀성 </a:t>
            </a:r>
            <a:r>
              <a:rPr lang="ko-KR" altLang="en-US" dirty="0"/>
              <a:t>손실은 정보에 대한 불법적 노출을 </a:t>
            </a:r>
            <a:r>
              <a:rPr lang="ko-KR" altLang="en-US" dirty="0" smtClean="0"/>
              <a:t>의미함 </a:t>
            </a:r>
            <a:endParaRPr lang="en-US" altLang="ko-KR" dirty="0"/>
          </a:p>
          <a:p>
            <a:pPr lvl="1" latinLnBrk="0">
              <a:lnSpc>
                <a:spcPct val="120000"/>
              </a:lnSpc>
            </a:pPr>
            <a:r>
              <a:rPr lang="ko-KR" altLang="en-US" b="1" dirty="0" err="1" smtClean="0">
                <a:solidFill>
                  <a:srgbClr val="0000CC"/>
                </a:solidFill>
              </a:rPr>
              <a:t>무결성</a:t>
            </a:r>
            <a:r>
              <a:rPr lang="en-US" altLang="ko-KR" b="1" dirty="0" smtClean="0">
                <a:solidFill>
                  <a:srgbClr val="0000CC"/>
                </a:solidFill>
              </a:rPr>
              <a:t>: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2100" dirty="0"/>
              <a:t>정보에 대한 부인방지와 </a:t>
            </a:r>
            <a:r>
              <a:rPr lang="ko-KR" altLang="en-US" sz="2100" dirty="0" err="1"/>
              <a:t>진정성</a:t>
            </a:r>
            <a:r>
              <a:rPr lang="en-US" altLang="ko-KR" sz="2100" dirty="0"/>
              <a:t>(authenticity)</a:t>
            </a:r>
            <a:r>
              <a:rPr lang="ko-KR" altLang="en-US" sz="2100" dirty="0"/>
              <a:t>뿐만 아니라</a:t>
            </a:r>
            <a:r>
              <a:rPr lang="en-US" altLang="ko-KR" sz="2100" dirty="0"/>
              <a:t>, </a:t>
            </a:r>
            <a:r>
              <a:rPr lang="ko-KR" altLang="en-US" sz="2100" dirty="0"/>
              <a:t>부적절한 정보 수정 및 파괴를 방지하는 것을 </a:t>
            </a:r>
            <a:r>
              <a:rPr lang="ko-KR" altLang="en-US" sz="2100" dirty="0" smtClean="0"/>
              <a:t>의미함</a:t>
            </a:r>
            <a:endParaRPr lang="en-US" altLang="ko-KR" sz="2100" dirty="0"/>
          </a:p>
          <a:p>
            <a:pPr lvl="2" latinLnBrk="0">
              <a:lnSpc>
                <a:spcPct val="120000"/>
              </a:lnSpc>
            </a:pPr>
            <a:r>
              <a:rPr lang="ko-KR" altLang="en-US" sz="2100" dirty="0" err="1" smtClean="0"/>
              <a:t>무결성</a:t>
            </a:r>
            <a:r>
              <a:rPr lang="ko-KR" altLang="en-US" sz="2100" dirty="0" smtClean="0"/>
              <a:t> </a:t>
            </a:r>
            <a:r>
              <a:rPr lang="ko-KR" altLang="en-US" sz="2100" dirty="0"/>
              <a:t>손실은 메시지에 대한 불법적 수정과 파괴를 </a:t>
            </a:r>
            <a:r>
              <a:rPr lang="ko-KR" altLang="en-US" sz="2100" dirty="0" smtClean="0"/>
              <a:t>의미함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가용성</a:t>
            </a:r>
            <a:r>
              <a:rPr lang="en-US" altLang="ko-KR" b="1" dirty="0" smtClean="0">
                <a:solidFill>
                  <a:srgbClr val="0000CC"/>
                </a:solidFill>
              </a:rPr>
              <a:t>: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2100" dirty="0"/>
              <a:t>정보를 적시에 그리고 안정된 접근 및 사용을 보장함</a:t>
            </a:r>
            <a:r>
              <a:rPr lang="en-US" altLang="ko-KR" sz="2100" dirty="0"/>
              <a:t>. </a:t>
            </a:r>
            <a:endParaRPr lang="en-US" altLang="ko-KR" sz="2100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sz="2100" dirty="0" smtClean="0"/>
              <a:t>가용성 </a:t>
            </a:r>
            <a:r>
              <a:rPr lang="ko-KR" altLang="en-US" sz="2100" dirty="0"/>
              <a:t>손실은 정보 혹은 정보 시스템에 대한 접근 실패 혹은 사용 실패를 </a:t>
            </a:r>
            <a:r>
              <a:rPr lang="ko-KR" altLang="en-US" sz="2100" dirty="0" smtClean="0"/>
              <a:t>의미함</a:t>
            </a:r>
            <a:endParaRPr lang="en-US" altLang="ko-KR" sz="2100" dirty="0" smtClean="0"/>
          </a:p>
          <a:p>
            <a:pPr lvl="2" latinLnBrk="0">
              <a:lnSpc>
                <a:spcPct val="120000"/>
              </a:lnSpc>
            </a:pPr>
            <a:endParaRPr lang="en-US" altLang="ko-KR" sz="2100" dirty="0" smtClean="0"/>
          </a:p>
          <a:p>
            <a:pPr latinLnBrk="0">
              <a:lnSpc>
                <a:spcPct val="120000"/>
              </a:lnSpc>
            </a:pPr>
            <a:r>
              <a:rPr lang="ko-KR" altLang="en-US" dirty="0"/>
              <a:t>보안 위반으로 인한 조직 및 개인에 미치는 영향을 </a:t>
            </a:r>
            <a:r>
              <a:rPr lang="en-US" altLang="ko-KR" dirty="0"/>
              <a:t>Low, Moderate, High</a:t>
            </a:r>
            <a:r>
              <a:rPr lang="ko-KR" altLang="en-US" dirty="0"/>
              <a:t>의 세가지 등급으로 </a:t>
            </a:r>
            <a:r>
              <a:rPr lang="ko-KR" altLang="en-US" dirty="0" smtClean="0"/>
              <a:t>분류</a:t>
            </a:r>
            <a:endParaRPr lang="en-US" altLang="ko-KR" sz="2400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3153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1.2 OSI </a:t>
            </a:r>
            <a:r>
              <a:rPr lang="ko-KR" altLang="en-US" dirty="0" smtClean="0"/>
              <a:t>보안 구조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2400" dirty="0" smtClean="0"/>
              <a:t>OSI </a:t>
            </a:r>
            <a:r>
              <a:rPr lang="ko-KR" altLang="en-US" sz="2400" dirty="0" smtClean="0"/>
              <a:t>보안 구조 </a:t>
            </a:r>
            <a:endParaRPr lang="en-US" altLang="ko-KR" sz="2400" dirty="0" smtClean="0"/>
          </a:p>
          <a:p>
            <a:pPr lvl="1" latinLnBrk="0"/>
            <a:r>
              <a:rPr lang="ko-KR" altLang="en-US" sz="1700" b="1" dirty="0">
                <a:solidFill>
                  <a:srgbClr val="0000CC"/>
                </a:solidFill>
              </a:rPr>
              <a:t>보안 요구사항에 대한 정의와 요구 사항을 만족하기 위한 체계적인 접근 방법</a:t>
            </a:r>
            <a:endParaRPr lang="en-US" altLang="ko-KR" sz="1700" b="1" dirty="0">
              <a:solidFill>
                <a:srgbClr val="0000CC"/>
              </a:solidFill>
            </a:endParaRPr>
          </a:p>
          <a:p>
            <a:pPr lvl="1" latinLnBrk="0"/>
            <a:r>
              <a:rPr lang="en-US" altLang="ko-KR" sz="1700" b="1" dirty="0">
                <a:solidFill>
                  <a:srgbClr val="0000CC"/>
                </a:solidFill>
              </a:rPr>
              <a:t>ITU-T X.800</a:t>
            </a:r>
            <a:r>
              <a:rPr lang="ko-KR" altLang="en-US" sz="1700" b="1" dirty="0">
                <a:solidFill>
                  <a:srgbClr val="0000CC"/>
                </a:solidFill>
              </a:rPr>
              <a:t>에서 정의 </a:t>
            </a:r>
            <a:endParaRPr lang="en-US" altLang="ko-KR" sz="1700" b="1" dirty="0">
              <a:solidFill>
                <a:srgbClr val="0000CC"/>
              </a:solidFill>
            </a:endParaRPr>
          </a:p>
          <a:p>
            <a:pPr lvl="1" latinLnBrk="0"/>
            <a:r>
              <a:rPr lang="ko-KR" altLang="en-US" sz="1700" b="1" dirty="0">
                <a:solidFill>
                  <a:srgbClr val="0000CC"/>
                </a:solidFill>
              </a:rPr>
              <a:t>세가지 주요 구성 </a:t>
            </a:r>
            <a:endParaRPr lang="en-US" altLang="ko-KR" sz="1700" b="1" dirty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보안 공격</a:t>
            </a:r>
            <a:r>
              <a:rPr lang="en-US" altLang="ko-KR" sz="1600" dirty="0" smtClean="0"/>
              <a:t>(Security Attack)</a:t>
            </a:r>
          </a:p>
          <a:p>
            <a:pPr lvl="3" latinLnBrk="0">
              <a:lnSpc>
                <a:spcPct val="120000"/>
              </a:lnSpc>
            </a:pPr>
            <a:r>
              <a:rPr lang="ko-KR" altLang="en-US" sz="1600" dirty="0" smtClean="0">
                <a:solidFill>
                  <a:srgbClr val="7030A0"/>
                </a:solidFill>
              </a:rPr>
              <a:t>조직이 수유한 정보의 안정성을 손상시키는 제반 행위</a:t>
            </a:r>
            <a:endParaRPr lang="en-US" altLang="ko-KR" sz="1600" dirty="0" smtClean="0">
              <a:solidFill>
                <a:srgbClr val="7030A0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보안 기법</a:t>
            </a:r>
            <a:r>
              <a:rPr lang="en-US" altLang="ko-KR" sz="1600" dirty="0" smtClean="0"/>
              <a:t>(Security Mechanism)</a:t>
            </a:r>
          </a:p>
          <a:p>
            <a:pPr lvl="3" latinLnBrk="0">
              <a:lnSpc>
                <a:spcPct val="120000"/>
              </a:lnSpc>
            </a:pPr>
            <a:r>
              <a:rPr lang="ko-KR" altLang="en-US" sz="1600" dirty="0">
                <a:solidFill>
                  <a:srgbClr val="7030A0"/>
                </a:solidFill>
              </a:rPr>
              <a:t>보안 공격을 탐지</a:t>
            </a:r>
            <a:r>
              <a:rPr lang="en-US" altLang="ko-KR" sz="1600" dirty="0">
                <a:solidFill>
                  <a:srgbClr val="7030A0"/>
                </a:solidFill>
              </a:rPr>
              <a:t>, </a:t>
            </a:r>
            <a:r>
              <a:rPr lang="ko-KR" altLang="en-US" sz="1600" dirty="0">
                <a:solidFill>
                  <a:srgbClr val="7030A0"/>
                </a:solidFill>
              </a:rPr>
              <a:t>예방하고 그로부터 복구하기 위한 제반 기법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보안 서비스</a:t>
            </a:r>
            <a:r>
              <a:rPr lang="en-US" altLang="ko-KR" sz="1600" dirty="0" smtClean="0"/>
              <a:t>(Security Service)</a:t>
            </a:r>
          </a:p>
          <a:p>
            <a:pPr lvl="3" latinLnBrk="0">
              <a:lnSpc>
                <a:spcPct val="120000"/>
              </a:lnSpc>
            </a:pPr>
            <a:r>
              <a:rPr lang="ko-KR" altLang="en-US" sz="1600" dirty="0">
                <a:solidFill>
                  <a:srgbClr val="7030A0"/>
                </a:solidFill>
              </a:rPr>
              <a:t>조직의 데이터 처리 시스템 및 정보 전송에 대한 보안을 강화하기 위한 제반 </a:t>
            </a:r>
            <a:r>
              <a:rPr lang="ko-KR" altLang="en-US" sz="1600" dirty="0" smtClean="0">
                <a:solidFill>
                  <a:srgbClr val="7030A0"/>
                </a:solidFill>
              </a:rPr>
              <a:t>서비스</a:t>
            </a:r>
            <a:endParaRPr lang="en-US" altLang="ko-KR" sz="1000" b="1" dirty="0" smtClean="0">
              <a:solidFill>
                <a:srgbClr val="7030A0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3153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1.3 </a:t>
            </a:r>
            <a:r>
              <a:rPr lang="ko-KR" altLang="en-US" dirty="0" smtClean="0"/>
              <a:t>보안 </a:t>
            </a:r>
            <a:r>
              <a:rPr lang="ko-KR" altLang="en-US" dirty="0" smtClean="0"/>
              <a:t>공격</a:t>
            </a:r>
            <a:r>
              <a:rPr lang="en-US" altLang="ko-KR" dirty="0" smtClean="0"/>
              <a:t>(Security Attack)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marL="342900" lvl="1" indent="-342900" latinLnBrk="0">
              <a:lnSpc>
                <a:spcPct val="120000"/>
              </a:lnSpc>
              <a:buFont typeface="Arial" pitchFamily="34" charset="0"/>
              <a:buChar char="•"/>
            </a:pPr>
            <a:r>
              <a:rPr lang="ko-KR" altLang="en-US" sz="2400" dirty="0" smtClean="0"/>
              <a:t>소극적 공격과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적극적 공격</a:t>
            </a:r>
            <a:endParaRPr lang="en-US" altLang="ko-KR" sz="2400" dirty="0"/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X.800</a:t>
            </a:r>
            <a:r>
              <a:rPr lang="ko-KR" altLang="en-US" b="1" dirty="0" smtClean="0">
                <a:solidFill>
                  <a:srgbClr val="0000CC"/>
                </a:solidFill>
              </a:rPr>
              <a:t>과 </a:t>
            </a:r>
            <a:r>
              <a:rPr lang="en-US" altLang="ko-KR" b="1" dirty="0" smtClean="0">
                <a:solidFill>
                  <a:srgbClr val="0000CC"/>
                </a:solidFill>
              </a:rPr>
              <a:t>RFC 2828</a:t>
            </a:r>
            <a:r>
              <a:rPr lang="ko-KR" altLang="en-US" b="1" dirty="0" smtClean="0">
                <a:solidFill>
                  <a:srgbClr val="0000CC"/>
                </a:solidFill>
              </a:rPr>
              <a:t>에 의한 분류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소극적 공격</a:t>
            </a:r>
            <a:r>
              <a:rPr lang="en-US" altLang="ko-KR" b="1" dirty="0" smtClean="0">
                <a:solidFill>
                  <a:srgbClr val="0000CC"/>
                </a:solidFill>
              </a:rPr>
              <a:t>(passive attack)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전송 정보에 대한 도청 및 감시를 의미함</a:t>
            </a:r>
            <a:endParaRPr lang="en-US" altLang="ko-KR" sz="1600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공격자는 전송중인 정보를 취득함</a:t>
            </a:r>
            <a:endParaRPr lang="en-US" altLang="ko-KR" sz="1600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소극적 공격의 유형으로는 메시지 내용 공개와 </a:t>
            </a:r>
            <a:r>
              <a:rPr lang="ko-KR" altLang="en-US" sz="1600" dirty="0" err="1" smtClean="0"/>
              <a:t>트래픽</a:t>
            </a:r>
            <a:r>
              <a:rPr lang="ko-KR" altLang="en-US" sz="1600" dirty="0" smtClean="0"/>
              <a:t> 분석이 있음 </a:t>
            </a:r>
            <a:endParaRPr lang="en-US" altLang="ko-KR" sz="1600" dirty="0"/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적극적 공격</a:t>
            </a:r>
            <a:r>
              <a:rPr lang="en-US" altLang="ko-KR" b="1" dirty="0" smtClean="0">
                <a:solidFill>
                  <a:srgbClr val="0000CC"/>
                </a:solidFill>
              </a:rPr>
              <a:t>(active attack)</a:t>
            </a:r>
            <a:r>
              <a:rPr lang="ko-KR" altLang="en-US" b="1" dirty="0" smtClean="0">
                <a:solidFill>
                  <a:srgbClr val="0000CC"/>
                </a:solidFill>
              </a:rPr>
              <a:t> 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데이터 </a:t>
            </a:r>
            <a:r>
              <a:rPr lang="ko-KR" altLang="en-US" sz="1600" dirty="0" err="1" smtClean="0"/>
              <a:t>스트림의</a:t>
            </a:r>
            <a:r>
              <a:rPr lang="ko-KR" altLang="en-US" sz="1600" dirty="0" smtClean="0"/>
              <a:t> 불법 수정이나 거짓 데이터 </a:t>
            </a:r>
            <a:r>
              <a:rPr lang="ko-KR" altLang="en-US" sz="1600" dirty="0" err="1" smtClean="0"/>
              <a:t>스트림</a:t>
            </a:r>
            <a:r>
              <a:rPr lang="ko-KR" altLang="en-US" sz="1600" dirty="0" smtClean="0"/>
              <a:t> 생성</a:t>
            </a:r>
            <a:endParaRPr lang="en-US" altLang="ko-KR" sz="1600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적극적 공격의 유형으로는 신분 위장</a:t>
            </a:r>
            <a:r>
              <a:rPr lang="en-US" altLang="ko-KR" sz="1600" dirty="0" smtClean="0"/>
              <a:t>(masquerade), </a:t>
            </a:r>
            <a:r>
              <a:rPr lang="ko-KR" altLang="en-US" sz="1600" dirty="0" smtClean="0"/>
              <a:t>재전송</a:t>
            </a:r>
            <a:r>
              <a:rPr lang="en-US" altLang="ko-KR" sz="1600" dirty="0" smtClean="0"/>
              <a:t>(replay), </a:t>
            </a:r>
            <a:r>
              <a:rPr lang="ko-KR" altLang="en-US" sz="1600" dirty="0" smtClean="0"/>
              <a:t>메시지 불법 수정</a:t>
            </a:r>
            <a:r>
              <a:rPr lang="en-US" altLang="ko-KR" sz="1600" dirty="0" smtClean="0"/>
              <a:t>(modification of message), </a:t>
            </a:r>
            <a:r>
              <a:rPr lang="ko-KR" altLang="en-US" sz="1600" dirty="0" smtClean="0"/>
              <a:t>서비스 거부 공격</a:t>
            </a:r>
            <a:r>
              <a:rPr lang="en-US" altLang="ko-KR" sz="1600" dirty="0" smtClean="0"/>
              <a:t>(denial of service)</a:t>
            </a:r>
            <a:r>
              <a:rPr lang="ko-KR" altLang="en-US" sz="1600" dirty="0" smtClean="0"/>
              <a:t>이 있음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3153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1.3 </a:t>
            </a:r>
            <a:r>
              <a:rPr lang="ko-KR" altLang="en-US" dirty="0" smtClean="0"/>
              <a:t>보안 </a:t>
            </a:r>
            <a:r>
              <a:rPr lang="ko-KR" altLang="en-US" dirty="0" smtClean="0"/>
              <a:t>공격</a:t>
            </a:r>
            <a:r>
              <a:rPr lang="en-US" altLang="ko-KR" dirty="0" smtClean="0"/>
              <a:t>(Security Attack)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marL="342900" lvl="1" indent="-342900" latinLnBrk="0">
              <a:lnSpc>
                <a:spcPct val="120000"/>
              </a:lnSpc>
              <a:buFont typeface="Arial" pitchFamily="34" charset="0"/>
              <a:buChar char="•"/>
            </a:pPr>
            <a:r>
              <a:rPr lang="ko-KR" altLang="en-US" sz="2400" dirty="0" smtClean="0"/>
              <a:t>소극적 공격 유형 </a:t>
            </a:r>
            <a:r>
              <a:rPr lang="en-US" altLang="ko-KR" b="1" dirty="0" smtClean="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0927" y="1592385"/>
            <a:ext cx="4103715" cy="2536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66352" y="1629703"/>
            <a:ext cx="3969197" cy="2461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97683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1.3 </a:t>
            </a:r>
            <a:r>
              <a:rPr lang="ko-KR" altLang="en-US" dirty="0" smtClean="0"/>
              <a:t>보안 </a:t>
            </a:r>
            <a:r>
              <a:rPr lang="ko-KR" altLang="en-US" dirty="0" smtClean="0"/>
              <a:t>공격</a:t>
            </a:r>
            <a:r>
              <a:rPr lang="en-US" altLang="ko-KR" dirty="0" smtClean="0"/>
              <a:t>(Security Attack)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marL="342900" lvl="1" indent="-342900" latinLnBrk="0">
              <a:lnSpc>
                <a:spcPct val="120000"/>
              </a:lnSpc>
              <a:buFont typeface="Arial" pitchFamily="34" charset="0"/>
              <a:buChar char="•"/>
            </a:pPr>
            <a:r>
              <a:rPr lang="en-US" altLang="ko-KR" sz="2400" dirty="0" smtClean="0"/>
              <a:t> </a:t>
            </a:r>
            <a:r>
              <a:rPr lang="ko-KR" altLang="en-US" sz="2400" dirty="0" smtClean="0"/>
              <a:t>적극적 공격 유형 </a:t>
            </a:r>
            <a:endParaRPr lang="en-US" altLang="ko-KR" sz="2400" dirty="0"/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3809" y="1427104"/>
            <a:ext cx="3988191" cy="246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3513" y="1465194"/>
            <a:ext cx="3864718" cy="2384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3809" y="3962360"/>
            <a:ext cx="3826636" cy="2332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3513" y="3887759"/>
            <a:ext cx="3582663" cy="2478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31459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1.4 </a:t>
            </a:r>
            <a:r>
              <a:rPr lang="ko-KR" altLang="en-US" dirty="0" smtClean="0"/>
              <a:t>보안 </a:t>
            </a:r>
            <a:r>
              <a:rPr lang="ko-KR" altLang="en-US" dirty="0" smtClean="0"/>
              <a:t>서비스</a:t>
            </a:r>
            <a:r>
              <a:rPr lang="en-US" altLang="ko-KR" dirty="0" smtClean="0"/>
              <a:t>(Security Services)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617578"/>
          </a:xfrm>
        </p:spPr>
        <p:txBody>
          <a:bodyPr>
            <a:normAutofit fontScale="85000" lnSpcReduction="10000"/>
          </a:bodyPr>
          <a:lstStyle/>
          <a:p>
            <a:pPr latinLnBrk="0">
              <a:lnSpc>
                <a:spcPct val="120000"/>
              </a:lnSpc>
            </a:pPr>
            <a:r>
              <a:rPr lang="en-US" altLang="ko-KR" dirty="0" smtClean="0"/>
              <a:t>X.800</a:t>
            </a:r>
            <a:r>
              <a:rPr lang="ko-KR" altLang="en-US" dirty="0" smtClean="0"/>
              <a:t>은 통신 시스템의 프로토콜 계층에서 제공되는 하나의 서비스로서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보안 기능을 정의하고 있음 </a:t>
            </a:r>
            <a:endParaRPr lang="en-US" altLang="ko-KR" dirty="0" smtClean="0"/>
          </a:p>
          <a:p>
            <a:pPr latinLnBrk="0">
              <a:lnSpc>
                <a:spcPct val="120000"/>
              </a:lnSpc>
            </a:pPr>
            <a:r>
              <a:rPr lang="en-US" altLang="ko-KR" dirty="0" smtClean="0"/>
              <a:t>X.800</a:t>
            </a:r>
            <a:r>
              <a:rPr lang="ko-KR" altLang="en-US" dirty="0" smtClean="0"/>
              <a:t>에서는 보안 서비스를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개의 영역과 </a:t>
            </a:r>
            <a:r>
              <a:rPr lang="en-US" altLang="ko-KR" dirty="0" smtClean="0"/>
              <a:t>14</a:t>
            </a:r>
            <a:r>
              <a:rPr lang="ko-KR" altLang="en-US" dirty="0" smtClean="0"/>
              <a:t>개의 세부 서비스로 분류하고 있음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5</a:t>
            </a:r>
            <a:r>
              <a:rPr lang="ko-KR" altLang="en-US" b="1" dirty="0" smtClean="0">
                <a:solidFill>
                  <a:srgbClr val="0000CC"/>
                </a:solidFill>
              </a:rPr>
              <a:t>개 영역</a:t>
            </a:r>
            <a:r>
              <a:rPr lang="en-US" altLang="ko-KR" b="1" dirty="0" smtClean="0">
                <a:solidFill>
                  <a:srgbClr val="0000CC"/>
                </a:solidFill>
              </a:rPr>
              <a:t>: 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600" dirty="0"/>
              <a:t>인증</a:t>
            </a:r>
            <a:r>
              <a:rPr lang="en-US" altLang="ko-KR" sz="1600" dirty="0"/>
              <a:t>, </a:t>
            </a:r>
            <a:r>
              <a:rPr lang="ko-KR" altLang="en-US" sz="1600" dirty="0"/>
              <a:t>접근제어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기밀성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</a:t>
            </a:r>
            <a:r>
              <a:rPr lang="ko-KR" altLang="en-US" sz="1600" dirty="0" err="1"/>
              <a:t>무결성</a:t>
            </a:r>
            <a:r>
              <a:rPr lang="en-US" altLang="ko-KR" sz="1600" dirty="0"/>
              <a:t>, </a:t>
            </a:r>
            <a:r>
              <a:rPr lang="ko-KR" altLang="en-US" sz="1600" dirty="0"/>
              <a:t>부인방지</a:t>
            </a:r>
            <a:endParaRPr lang="en-US" altLang="ko-KR" sz="1600" dirty="0"/>
          </a:p>
          <a:p>
            <a:pPr lvl="1" latinLnBrk="0">
              <a:lnSpc>
                <a:spcPct val="120000"/>
              </a:lnSpc>
            </a:pPr>
            <a:r>
              <a:rPr lang="en-US" altLang="ko-KR" b="1" dirty="0" smtClean="0">
                <a:solidFill>
                  <a:srgbClr val="0000CC"/>
                </a:solidFill>
              </a:rPr>
              <a:t>14</a:t>
            </a:r>
            <a:r>
              <a:rPr lang="ko-KR" altLang="en-US" b="1" dirty="0" smtClean="0">
                <a:solidFill>
                  <a:srgbClr val="0000CC"/>
                </a:solidFill>
              </a:rPr>
              <a:t>개 세부 서비스</a:t>
            </a:r>
            <a:r>
              <a:rPr lang="en-US" altLang="ko-KR" b="1" dirty="0" smtClean="0">
                <a:solidFill>
                  <a:srgbClr val="0000CC"/>
                </a:solidFill>
              </a:rPr>
              <a:t>: 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600" dirty="0"/>
              <a:t>대등개체 인증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근원 </a:t>
            </a:r>
            <a:r>
              <a:rPr lang="ko-KR" altLang="en-US" sz="1600" dirty="0" smtClean="0"/>
              <a:t>인증</a:t>
            </a:r>
            <a:endParaRPr lang="en-US" altLang="ko-KR" sz="1600" dirty="0"/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접근 제어</a:t>
            </a:r>
            <a:endParaRPr lang="en-US" altLang="ko-KR" sz="1600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sz="1600" dirty="0" err="1" smtClean="0"/>
              <a:t>연결형</a:t>
            </a:r>
            <a:r>
              <a:rPr lang="ko-KR" altLang="en-US" sz="1600" dirty="0" smtClean="0"/>
              <a:t> 기밀성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비연결형</a:t>
            </a:r>
            <a:r>
              <a:rPr lang="ko-KR" altLang="en-US" sz="1600" dirty="0" smtClean="0"/>
              <a:t> 기밀성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선택 영역 기밀성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트래픽</a:t>
            </a:r>
            <a:r>
              <a:rPr lang="ko-KR" altLang="en-US" sz="1600" dirty="0" smtClean="0"/>
              <a:t> 흐름 기밀성</a:t>
            </a:r>
            <a:endParaRPr lang="en-US" altLang="ko-KR" sz="1600" dirty="0" smtClean="0"/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복구 기능이 있는 </a:t>
            </a:r>
            <a:r>
              <a:rPr lang="ko-KR" altLang="en-US" sz="1600" dirty="0" err="1" smtClean="0"/>
              <a:t>연결형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무결성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복구 기능이 없는 </a:t>
            </a:r>
            <a:r>
              <a:rPr lang="ko-KR" altLang="en-US" sz="1600" dirty="0" err="1" smtClean="0"/>
              <a:t>연결형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무결성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선택 영역 </a:t>
            </a:r>
            <a:r>
              <a:rPr lang="ko-KR" altLang="en-US" sz="1600" dirty="0" err="1" smtClean="0"/>
              <a:t>연결형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무결성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비연결형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무결성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선택 영역 </a:t>
            </a:r>
            <a:r>
              <a:rPr lang="ko-KR" altLang="en-US" sz="1600" dirty="0" err="1" smtClean="0"/>
              <a:t>비연결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무결성</a:t>
            </a:r>
            <a:endParaRPr lang="en-US" altLang="ko-KR" sz="1600" dirty="0"/>
          </a:p>
          <a:p>
            <a:pPr lvl="2" latinLnBrk="0">
              <a:lnSpc>
                <a:spcPct val="120000"/>
              </a:lnSpc>
            </a:pPr>
            <a:r>
              <a:rPr lang="ko-KR" altLang="en-US" sz="1600" dirty="0" smtClean="0"/>
              <a:t>출발지 부인 방지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목적지 부인 방지 </a:t>
            </a:r>
            <a:endParaRPr lang="en-US" altLang="ko-KR" sz="1600" dirty="0" smtClean="0"/>
          </a:p>
          <a:p>
            <a:pPr lvl="1" latinLnBrk="0">
              <a:lnSpc>
                <a:spcPct val="120000"/>
              </a:lnSpc>
            </a:pPr>
            <a:r>
              <a:rPr lang="en-US" altLang="ko-KR" sz="2100" b="1" dirty="0" smtClean="0">
                <a:solidFill>
                  <a:srgbClr val="0000CC"/>
                </a:solidFill>
              </a:rPr>
              <a:t>cf. </a:t>
            </a:r>
            <a:r>
              <a:rPr lang="ko-KR" altLang="en-US" sz="2100" b="1" dirty="0" smtClean="0">
                <a:solidFill>
                  <a:srgbClr val="0000CC"/>
                </a:solidFill>
              </a:rPr>
              <a:t>가용성</a:t>
            </a:r>
            <a:r>
              <a:rPr lang="en-US" altLang="ko-KR" sz="2100" b="1" dirty="0">
                <a:solidFill>
                  <a:srgbClr val="0000CC"/>
                </a:solidFill>
              </a:rPr>
              <a:t>: </a:t>
            </a:r>
            <a:endParaRPr lang="en-US" altLang="ko-KR" sz="2100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en-US" altLang="ko-KR" sz="1600" dirty="0" smtClean="0"/>
              <a:t> </a:t>
            </a:r>
            <a:r>
              <a:rPr lang="ko-KR" altLang="en-US" sz="1600" dirty="0" smtClean="0"/>
              <a:t>인가된 실체가 시스템 혹은 자원에 대한 접근 및  사용을 요구할 경우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성능 사양에 따라 이를 접근 및 사용할 수 있도록 하는 특성으로 정의됨</a:t>
            </a:r>
            <a:endParaRPr lang="en-US" altLang="ko-KR" sz="1600" dirty="0" smtClean="0"/>
          </a:p>
          <a:p>
            <a:pPr lvl="2" latinLnBrk="0">
              <a:lnSpc>
                <a:spcPct val="120000"/>
              </a:lnSpc>
            </a:pPr>
            <a:r>
              <a:rPr lang="en-US" altLang="ko-KR" sz="1600" dirty="0" smtClean="0"/>
              <a:t>X.800</a:t>
            </a:r>
            <a:r>
              <a:rPr lang="ko-KR" altLang="en-US" sz="1600" dirty="0" smtClean="0"/>
              <a:t>에서는 여러 보안 서비스와 관련 있는  하나의 특성으로 가용성을 정의하고 있음 </a:t>
            </a:r>
            <a:endParaRPr lang="en-US" altLang="ko-KR" sz="1600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3153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1.4 </a:t>
            </a:r>
            <a:r>
              <a:rPr lang="ko-KR" altLang="en-US" dirty="0" smtClean="0"/>
              <a:t>보안 </a:t>
            </a:r>
            <a:r>
              <a:rPr lang="ko-KR" altLang="en-US" dirty="0" smtClean="0"/>
              <a:t>서비스</a:t>
            </a:r>
            <a:r>
              <a:rPr lang="en-US" altLang="ko-KR" dirty="0" smtClean="0"/>
              <a:t>(Security Services)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 smtClean="0"/>
              <a:t> </a:t>
            </a:r>
            <a:endParaRPr lang="en-US" altLang="ko-KR" sz="1600" dirty="0" smtClean="0"/>
          </a:p>
          <a:p>
            <a:pPr lvl="2" latinLnBrk="0">
              <a:lnSpc>
                <a:spcPct val="120000"/>
              </a:lnSpc>
            </a:pPr>
            <a:endParaRPr lang="en-US" altLang="ko-KR" sz="16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85925" y="720205"/>
            <a:ext cx="5429249" cy="6009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852620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1.5 </a:t>
            </a:r>
            <a:r>
              <a:rPr lang="ko-KR" altLang="en-US" dirty="0" smtClean="0"/>
              <a:t>보안 </a:t>
            </a:r>
            <a:r>
              <a:rPr lang="ko-KR" altLang="en-US" dirty="0" smtClean="0"/>
              <a:t>메커니</a:t>
            </a:r>
            <a:r>
              <a:rPr lang="ko-KR" altLang="en-US" dirty="0"/>
              <a:t>즘</a:t>
            </a:r>
            <a:r>
              <a:rPr lang="en-US" altLang="ko-KR" dirty="0" smtClean="0"/>
              <a:t>(Security Mechanism)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 lnSpcReduction="10000"/>
          </a:bodyPr>
          <a:lstStyle/>
          <a:p>
            <a:pPr latinLnBrk="0">
              <a:lnSpc>
                <a:spcPct val="120000"/>
              </a:lnSpc>
            </a:pPr>
            <a:r>
              <a:rPr lang="ko-KR" altLang="en-US" dirty="0" smtClean="0"/>
              <a:t>보안 메커니즘</a:t>
            </a:r>
            <a:endParaRPr lang="en-US" altLang="ko-KR" dirty="0" smtClean="0"/>
          </a:p>
          <a:p>
            <a:pPr lvl="1" latinLnBrk="0">
              <a:lnSpc>
                <a:spcPct val="120000"/>
              </a:lnSpc>
            </a:pPr>
            <a:r>
              <a:rPr lang="ko-KR" altLang="en-US" b="1" dirty="0">
                <a:solidFill>
                  <a:srgbClr val="0000CC"/>
                </a:solidFill>
              </a:rPr>
              <a:t>특정 프로토콜에 구현되는 보안 </a:t>
            </a:r>
            <a:r>
              <a:rPr lang="ko-KR" altLang="en-US" b="1" dirty="0" smtClean="0">
                <a:solidFill>
                  <a:srgbClr val="0000CC"/>
                </a:solidFill>
              </a:rPr>
              <a:t>메커니즘</a:t>
            </a:r>
            <a:endParaRPr lang="en-US" altLang="ko-KR" b="1" dirty="0" smtClean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암호화</a:t>
            </a:r>
            <a:r>
              <a:rPr lang="en-US" altLang="ko-KR" sz="1500" dirty="0" smtClean="0"/>
              <a:t>(</a:t>
            </a:r>
            <a:r>
              <a:rPr lang="en-US" altLang="ko-KR" sz="1500" dirty="0" err="1" smtClean="0"/>
              <a:t>Encipherment</a:t>
            </a:r>
            <a:r>
              <a:rPr lang="en-US" altLang="ko-KR" sz="1500" dirty="0" smtClean="0"/>
              <a:t>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디지털 서명</a:t>
            </a:r>
            <a:r>
              <a:rPr lang="en-US" altLang="ko-KR" sz="1500" dirty="0" smtClean="0"/>
              <a:t>(Digital Signature)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접근 제어</a:t>
            </a:r>
            <a:r>
              <a:rPr lang="en-US" altLang="ko-KR" sz="1500" dirty="0" smtClean="0"/>
              <a:t>(Access Control)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데이터 </a:t>
            </a:r>
            <a:r>
              <a:rPr lang="ko-KR" altLang="en-US" sz="1500" dirty="0" err="1" smtClean="0"/>
              <a:t>무결성</a:t>
            </a:r>
            <a:r>
              <a:rPr lang="en-US" altLang="ko-KR" sz="1500" dirty="0" smtClean="0"/>
              <a:t>(Data Integrity)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인증 교환</a:t>
            </a:r>
            <a:r>
              <a:rPr lang="en-US" altLang="ko-KR" sz="1500" dirty="0" smtClean="0"/>
              <a:t>(Authentication Exchange)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err="1" smtClean="0"/>
              <a:t>트래픽</a:t>
            </a:r>
            <a:r>
              <a:rPr lang="ko-KR" altLang="en-US" sz="1500" dirty="0" smtClean="0"/>
              <a:t> </a:t>
            </a:r>
            <a:r>
              <a:rPr lang="ko-KR" altLang="en-US" sz="1500" dirty="0" err="1" smtClean="0"/>
              <a:t>패딩</a:t>
            </a:r>
            <a:r>
              <a:rPr lang="en-US" altLang="ko-KR" sz="1500" dirty="0" smtClean="0"/>
              <a:t>(Traffic Padding)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err="1" smtClean="0"/>
              <a:t>라우팅</a:t>
            </a:r>
            <a:r>
              <a:rPr lang="ko-KR" altLang="en-US" sz="1500" dirty="0" smtClean="0"/>
              <a:t> 제어</a:t>
            </a:r>
            <a:r>
              <a:rPr lang="en-US" altLang="ko-KR" sz="1500" dirty="0" smtClean="0"/>
              <a:t>(Routing Control)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공증</a:t>
            </a:r>
            <a:r>
              <a:rPr lang="en-US" altLang="ko-KR" sz="1500" dirty="0" smtClean="0"/>
              <a:t>(Notarization)</a:t>
            </a:r>
          </a:p>
          <a:p>
            <a:pPr lvl="1" latinLnBrk="0">
              <a:lnSpc>
                <a:spcPct val="120000"/>
              </a:lnSpc>
            </a:pPr>
            <a:r>
              <a:rPr lang="ko-KR" altLang="en-US" b="1" dirty="0" smtClean="0">
                <a:solidFill>
                  <a:srgbClr val="0000CC"/>
                </a:solidFill>
              </a:rPr>
              <a:t>특정한 </a:t>
            </a:r>
            <a:r>
              <a:rPr lang="ko-KR" altLang="en-US" b="1" dirty="0">
                <a:solidFill>
                  <a:srgbClr val="0000CC"/>
                </a:solidFill>
              </a:rPr>
              <a:t>프로토콜 계층이나 보안 서비스에 관련이 없는 메커니즘</a:t>
            </a:r>
            <a:endParaRPr lang="en-US" altLang="ko-KR" b="1" dirty="0">
              <a:solidFill>
                <a:srgbClr val="0000CC"/>
              </a:solidFill>
            </a:endParaRP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신뢰할 수 있는 기능</a:t>
            </a:r>
            <a:r>
              <a:rPr lang="en-US" altLang="ko-KR" sz="1500" dirty="0" smtClean="0"/>
              <a:t>(Trusted Functionality)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보안 레이블</a:t>
            </a:r>
            <a:r>
              <a:rPr lang="en-US" altLang="ko-KR" sz="1500" dirty="0" smtClean="0"/>
              <a:t>(Security Label)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이벤트 탐지</a:t>
            </a:r>
            <a:r>
              <a:rPr lang="en-US" altLang="ko-KR" sz="1500" dirty="0" smtClean="0"/>
              <a:t>(Event Detection)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보안 감사 추적</a:t>
            </a:r>
            <a:r>
              <a:rPr lang="en-US" altLang="ko-KR" sz="1500" dirty="0" smtClean="0"/>
              <a:t>(Security Audit Trail)</a:t>
            </a:r>
          </a:p>
          <a:p>
            <a:pPr lvl="2" latinLnBrk="0">
              <a:lnSpc>
                <a:spcPct val="120000"/>
              </a:lnSpc>
            </a:pPr>
            <a:r>
              <a:rPr lang="ko-KR" altLang="en-US" sz="1500" dirty="0" smtClean="0"/>
              <a:t>보안 복구</a:t>
            </a:r>
            <a:r>
              <a:rPr lang="en-US" altLang="ko-KR" sz="1500" dirty="0" smtClean="0"/>
              <a:t>(Security Recovery)</a:t>
            </a:r>
          </a:p>
          <a:p>
            <a:pPr lvl="1" latinLnBrk="0">
              <a:lnSpc>
                <a:spcPct val="120000"/>
              </a:lnSpc>
            </a:pP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7266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1.5 </a:t>
            </a:r>
            <a:r>
              <a:rPr lang="ko-KR" altLang="en-US" dirty="0" smtClean="0"/>
              <a:t>보안 메커니즘</a:t>
            </a:r>
            <a:r>
              <a:rPr lang="en-US" altLang="ko-KR" dirty="0" smtClean="0"/>
              <a:t>(Security Mechanism)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452478"/>
          </a:xfrm>
        </p:spPr>
        <p:txBody>
          <a:bodyPr>
            <a:normAutofit/>
          </a:bodyPr>
          <a:lstStyle/>
          <a:p>
            <a:pPr lvl="0" latinLnBrk="0">
              <a:lnSpc>
                <a:spcPct val="120000"/>
              </a:lnSpc>
            </a:pPr>
            <a:r>
              <a:rPr lang="ko-KR" altLang="en-US" dirty="0" smtClean="0"/>
              <a:t>보안 서비스와 보안 메커니즘의 </a:t>
            </a:r>
            <a:r>
              <a:rPr lang="ko-KR" altLang="en-US" dirty="0" smtClean="0"/>
              <a:t>관계</a:t>
            </a:r>
            <a:r>
              <a:rPr lang="en-US" altLang="ko-KR" dirty="0" smtClean="0"/>
              <a:t> </a:t>
            </a:r>
            <a:endParaRPr lang="en-US" altLang="ko-KR" b="1" dirty="0" smtClean="0">
              <a:solidFill>
                <a:srgbClr val="0000CC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506" y="1762125"/>
            <a:ext cx="8976987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07266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1.6 </a:t>
            </a:r>
            <a:r>
              <a:rPr lang="ko-KR" altLang="en-US" dirty="0" smtClean="0"/>
              <a:t>네트워크 </a:t>
            </a:r>
            <a:r>
              <a:rPr lang="ko-KR" altLang="en-US" dirty="0" smtClean="0"/>
              <a:t>보안 모델</a:t>
            </a:r>
            <a:endParaRPr lang="ko-KR" alt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57250" y="1195388"/>
            <a:ext cx="7466011" cy="4007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07266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S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70926BE6910EE541A5C8A9203B4061CC0400C52140320FE295488DD4381964E77F84" ma:contentTypeVersion="30" ma:contentTypeDescription="Create a new document." ma:contentTypeScope="" ma:versionID="2d9820c5088bac4600ebd6353969fdf2"/>
</file>

<file path=customXml/itemProps1.xml><?xml version="1.0" encoding="utf-8"?>
<ds:datastoreItem xmlns:ds="http://schemas.openxmlformats.org/officeDocument/2006/customXml" ds:itemID="{369416FF-ACAD-418F-B5CE-95627A3848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7EB264-03ED-4FEC-80E3-24FBC21862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7E2D74F-510D-4CF0-A325-EE1D62B28D4F}">
  <ds:schemaRefs>
    <ds:schemaRef ds:uri="http://schemas.microsoft.com/office/2006/metadata/contentType"/>
    <ds:schemaRef ds:uri="http://schemas.microsoft.com/office/2006/metadata/properties/metaAttribut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CSC</Template>
  <TotalTime>1720</TotalTime>
  <Words>806</Words>
  <Application>Microsoft Office PowerPoint</Application>
  <PresentationFormat>화면 슬라이드 쇼(4:3)</PresentationFormat>
  <Paragraphs>119</Paragraphs>
  <Slides>15</Slides>
  <Notes>15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CSC</vt:lpstr>
      <vt:lpstr>1장 개요  (Introduction)</vt:lpstr>
      <vt:lpstr>목차</vt:lpstr>
      <vt:lpstr>1.1 컴퓨터 보안 개념 </vt:lpstr>
      <vt:lpstr>1.1 컴퓨터 보안 개념 </vt:lpstr>
      <vt:lpstr>1.1 컴퓨터 보안 개념 </vt:lpstr>
      <vt:lpstr>1.1 컴퓨터 보안 개념 </vt:lpstr>
      <vt:lpstr>1.2 OSI 보안 구조 </vt:lpstr>
      <vt:lpstr>1.3 보안 공격(Security Attack)</vt:lpstr>
      <vt:lpstr>1.3 보안 공격(Security Attack)</vt:lpstr>
      <vt:lpstr>1.3 보안 공격(Security Attack)</vt:lpstr>
      <vt:lpstr>1.4 보안 서비스(Security Services)</vt:lpstr>
      <vt:lpstr>1.4 보안 서비스(Security Services)</vt:lpstr>
      <vt:lpstr>1.5 보안 메커니즘(Security Mechanism)</vt:lpstr>
      <vt:lpstr>1.5 보안 메커니즘(Security Mechanism)</vt:lpstr>
      <vt:lpstr>1.6 네트워크 보안 모델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com</dc:creator>
  <cp:lastModifiedBy>kastropolos</cp:lastModifiedBy>
  <cp:revision>199</cp:revision>
  <dcterms:created xsi:type="dcterms:W3CDTF">2011-03-23T07:23:15Z</dcterms:created>
  <dcterms:modified xsi:type="dcterms:W3CDTF">2011-08-08T07:53:13Z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TC300035039990</vt:lpwstr>
  </property>
</Properties>
</file>