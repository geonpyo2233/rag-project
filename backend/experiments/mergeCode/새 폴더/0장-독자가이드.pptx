
<file path=[Content_Types].xml><?xml version="1.0" encoding="utf-8"?>
<Types xmlns="http://schemas.openxmlformats.org/package/2006/content-types"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s/slide5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theme/theme2.xml" ContentType="application/vnd.openxmlformats-officedocument.theme+xml"/>
  <Override PartName="/ppt/theme/theme3.xml" ContentType="application/vnd.openxmlformats-officedocument.them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viewProps.xml" ContentType="application/vnd.openxmlformats-officedocument.presentationml.viewProps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8" r:id="rId4"/>
  </p:sldMasterIdLst>
  <p:notesMasterIdLst>
    <p:notesMasterId r:id="rId10"/>
  </p:notesMasterIdLst>
  <p:handoutMasterIdLst>
    <p:handoutMasterId r:id="rId11"/>
  </p:handoutMasterIdLst>
  <p:sldIdLst>
    <p:sldId id="329" r:id="rId5"/>
    <p:sldId id="330" r:id="rId6"/>
    <p:sldId id="275" r:id="rId7"/>
    <p:sldId id="299" r:id="rId8"/>
    <p:sldId id="296" r:id="rId9"/>
  </p:sldIdLst>
  <p:sldSz cx="9144000" cy="6858000" type="screen4x3"/>
  <p:notesSz cx="6788150" cy="9917113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 xmlns="">
          <a:srgbClr val="FF0000"/>
        </p14:laserClr>
      </p:ext>
      <p:ext uri="{2FDB2607-1784-4EEB-B798-7EB5836EED8A}">
        <p14:showMediaCtrls xmlns:p14="http://schemas.microsoft.com/office/powerpoint/2010/main" xmlns="" val="1"/>
      </p:ext>
    </p:extLst>
  </p:showPr>
  <p:clrMru>
    <a:srgbClr val="0000CC"/>
    <a:srgbClr val="006600"/>
    <a:srgbClr val="FFFFCC"/>
  </p:clrMru>
  <p:extLst>
    <p:ext uri="{E76CE94A-603C-4142-B9EB-6D1370010A27}">
      <p14:discardImageEditData xmlns:p14="http://schemas.microsoft.com/office/powerpoint/2010/main" xmlns="" val="0"/>
    </p:ext>
    <p:ext uri="{D31A062A-798A-4329-ABDD-BBA856620510}">
      <p14:defaultImageDpi xmlns:p14="http://schemas.microsoft.com/office/powerpoint/2010/main" xmlns="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aximized" horzBarState="maximized">
    <p:restoredLeft sz="15620"/>
    <p:restoredTop sz="94660"/>
  </p:normalViewPr>
  <p:slideViewPr>
    <p:cSldViewPr snapToGrid="0">
      <p:cViewPr varScale="1">
        <p:scale>
          <a:sx n="116" d="100"/>
          <a:sy n="116" d="100"/>
        </p:scale>
        <p:origin x="-149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67" d="100"/>
          <a:sy n="67" d="100"/>
        </p:scale>
        <p:origin x="-2052" y="-102"/>
      </p:cViewPr>
      <p:guideLst>
        <p:guide orient="horz" pos="3125"/>
        <p:guide pos="2139"/>
      </p:guideLst>
    </p:cSldViewPr>
  </p:notes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presProps" Target="presProps.xml"/><Relationship Id="rId2" Type="http://schemas.openxmlformats.org/officeDocument/2006/relationships/customXml" Target="../customXml/item2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handoutMaster" Target="handoutMasters/handoutMaster1.xml"/><Relationship Id="rId5" Type="http://schemas.openxmlformats.org/officeDocument/2006/relationships/slide" Target="slides/slide1.xml"/><Relationship Id="rId15" Type="http://schemas.openxmlformats.org/officeDocument/2006/relationships/tableStyles" Target="tableStyles.xml"/><Relationship Id="rId10" Type="http://schemas.openxmlformats.org/officeDocument/2006/relationships/notesMaster" Target="notesMasters/notesMaster1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45049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r">
              <a:defRPr sz="1200"/>
            </a:lvl1pPr>
          </a:lstStyle>
          <a:p>
            <a:fld id="{3D242011-AB3F-4860-BBD0-46C50B3228CD}" type="datetimeFigureOut">
              <a:rPr lang="ko-KR" altLang="en-US" smtClean="0"/>
              <a:pPr/>
              <a:t>08-08-Monday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1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45049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r">
              <a:defRPr sz="1200"/>
            </a:lvl1pPr>
          </a:lstStyle>
          <a:p>
            <a:fld id="{F8021D0A-0254-4728-98E1-160BE5C954CB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7805762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1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45049" y="1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/>
          <a:lstStyle>
            <a:lvl1pPr algn="r">
              <a:defRPr sz="1200"/>
            </a:lvl1pPr>
          </a:lstStyle>
          <a:p>
            <a:fld id="{995037A9-217D-4EBD-9590-DADA42C585E8}" type="datetimeFigureOut">
              <a:rPr lang="ko-KR" altLang="en-US" smtClean="0"/>
              <a:pPr/>
              <a:t>08-08-Monday</a:t>
            </a:fld>
            <a:endParaRPr lang="ko-KR" altLang="en-US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914400" y="742950"/>
            <a:ext cx="4959350" cy="37195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5444" tIns="47721" rIns="95444" bIns="47721" rtlCol="0" anchor="ctr"/>
          <a:lstStyle/>
          <a:p>
            <a:endParaRPr lang="ko-KR" altLang="en-US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78816" y="4710630"/>
            <a:ext cx="5430520" cy="4462702"/>
          </a:xfrm>
          <a:prstGeom prst="rect">
            <a:avLst/>
          </a:prstGeom>
        </p:spPr>
        <p:txBody>
          <a:bodyPr vert="horz" lIns="95444" tIns="47721" rIns="95444" bIns="47721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1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l">
              <a:defRPr sz="1200"/>
            </a:lvl1pPr>
          </a:lstStyle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45049" y="9419537"/>
            <a:ext cx="2941532" cy="495855"/>
          </a:xfrm>
          <a:prstGeom prst="rect">
            <a:avLst/>
          </a:prstGeom>
        </p:spPr>
        <p:txBody>
          <a:bodyPr vert="horz" lIns="95444" tIns="47721" rIns="95444" bIns="47721" rtlCol="0" anchor="b"/>
          <a:lstStyle>
            <a:lvl1pPr algn="r">
              <a:defRPr sz="1200"/>
            </a:lvl1pPr>
          </a:lstStyle>
          <a:p>
            <a:fld id="{C5240C13-67AB-475F-B267-02F62F990A5C}" type="slidenum">
              <a:rPr lang="ko-KR" altLang="en-US" smtClean="0"/>
              <a:pPr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04834713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1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420699691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2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292232294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3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39642727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4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171700690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C5240C13-67AB-475F-B267-02F62F990A5C}" type="slidenum">
              <a:rPr lang="ko-KR" altLang="en-US" smtClean="0"/>
              <a:pPr/>
              <a:t>5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xmlns="" val="57935310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그룹 24"/>
          <p:cNvGrpSpPr/>
          <p:nvPr userDrawn="1"/>
        </p:nvGrpSpPr>
        <p:grpSpPr>
          <a:xfrm>
            <a:off x="71406" y="71414"/>
            <a:ext cx="9001156" cy="3857652"/>
            <a:chOff x="71406" y="71414"/>
            <a:chExt cx="8858315" cy="3997931"/>
          </a:xfrm>
        </p:grpSpPr>
        <p:sp>
          <p:nvSpPr>
            <p:cNvPr id="7" name="직사각형 6"/>
            <p:cNvSpPr/>
            <p:nvPr userDrawn="1"/>
          </p:nvSpPr>
          <p:spPr>
            <a:xfrm>
              <a:off x="71406" y="71414"/>
              <a:ext cx="5715040" cy="3500462"/>
            </a:xfrm>
            <a:prstGeom prst="rect">
              <a:avLst/>
            </a:prstGeom>
            <a:solidFill>
              <a:schemeClr val="accent3">
                <a:lumMod val="50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 dirty="0"/>
            </a:p>
          </p:txBody>
        </p:sp>
        <p:sp>
          <p:nvSpPr>
            <p:cNvPr id="8" name="직사각형 7"/>
            <p:cNvSpPr/>
            <p:nvPr userDrawn="1"/>
          </p:nvSpPr>
          <p:spPr>
            <a:xfrm>
              <a:off x="5857884" y="71414"/>
              <a:ext cx="3071834" cy="3500462"/>
            </a:xfrm>
            <a:prstGeom prst="rect">
              <a:avLst/>
            </a:prstGeom>
            <a:gradFill flip="none" rotWithShape="1">
              <a:gsLst>
                <a:gs pos="42000">
                  <a:schemeClr val="bg1">
                    <a:lumMod val="75000"/>
                    <a:tint val="66000"/>
                    <a:satMod val="160000"/>
                    <a:alpha val="0"/>
                  </a:schemeClr>
                </a:gs>
                <a:gs pos="100000">
                  <a:schemeClr val="bg1">
                    <a:lumMod val="75000"/>
                    <a:tint val="66000"/>
                    <a:satMod val="160000"/>
                  </a:schemeClr>
                </a:gs>
                <a:gs pos="100000">
                  <a:schemeClr val="bg1">
                    <a:lumMod val="75000"/>
                    <a:tint val="66000"/>
                    <a:satMod val="160000"/>
                  </a:schemeClr>
                </a:gs>
                <a:gs pos="100000">
                  <a:schemeClr val="bg1">
                    <a:lumMod val="75000"/>
                    <a:tint val="44500"/>
                    <a:satMod val="160000"/>
                  </a:schemeClr>
                </a:gs>
                <a:gs pos="61000">
                  <a:schemeClr val="bg1">
                    <a:lumMod val="75000"/>
                    <a:tint val="23500"/>
                    <a:satMod val="16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ko-KR" altLang="en-US"/>
            </a:p>
          </p:txBody>
        </p:sp>
        <p:sp>
          <p:nvSpPr>
            <p:cNvPr id="24" name="직사각형 23"/>
            <p:cNvSpPr/>
            <p:nvPr userDrawn="1"/>
          </p:nvSpPr>
          <p:spPr>
            <a:xfrm>
              <a:off x="704145" y="3625130"/>
              <a:ext cx="8225576" cy="444215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r"/>
              <a:r>
                <a:rPr lang="ko-KR" altLang="en-US" b="1" smtClean="0">
                  <a:solidFill>
                    <a:schemeClr val="tx1">
                      <a:lumMod val="65000"/>
                      <a:lumOff val="35000"/>
                    </a:schemeClr>
                  </a:solidFill>
                </a:rPr>
                <a:t>컴퓨터 보안과 암호</a:t>
              </a:r>
              <a:endParaRPr lang="ko-KR" altLang="en-US" b="1">
                <a:solidFill>
                  <a:schemeClr val="tx1">
                    <a:lumMod val="65000"/>
                    <a:lumOff val="35000"/>
                  </a:schemeClr>
                </a:solidFill>
              </a:endParaRPr>
            </a:p>
          </p:txBody>
        </p:sp>
      </p:grpSp>
      <p:sp>
        <p:nvSpPr>
          <p:cNvPr id="26" name="직사각형 25"/>
          <p:cNvSpPr/>
          <p:nvPr userDrawn="1"/>
        </p:nvSpPr>
        <p:spPr>
          <a:xfrm>
            <a:off x="71406" y="3500438"/>
            <a:ext cx="571504" cy="428628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cxnSp>
        <p:nvCxnSpPr>
          <p:cNvPr id="28" name="직선 화살표 연결선 27"/>
          <p:cNvCxnSpPr/>
          <p:nvPr userDrawn="1"/>
        </p:nvCxnSpPr>
        <p:spPr>
          <a:xfrm>
            <a:off x="214282" y="3714752"/>
            <a:ext cx="285752" cy="1588"/>
          </a:xfrm>
          <a:prstGeom prst="straightConnector1">
            <a:avLst/>
          </a:prstGeom>
          <a:ln w="38100">
            <a:solidFill>
              <a:schemeClr val="bg1"/>
            </a:solidFill>
            <a:headEnd w="med" len="med"/>
            <a:tailEnd type="arrow" w="lg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 userDrawn="1"/>
        </p:nvCxnSpPr>
        <p:spPr>
          <a:xfrm>
            <a:off x="0" y="6572272"/>
            <a:ext cx="9144000" cy="1588"/>
          </a:xfrm>
          <a:prstGeom prst="line">
            <a:avLst/>
          </a:prstGeom>
          <a:ln>
            <a:solidFill>
              <a:schemeClr val="bg1">
                <a:lumMod val="7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제목 12"/>
          <p:cNvSpPr>
            <a:spLocks noGrp="1"/>
          </p:cNvSpPr>
          <p:nvPr>
            <p:ph type="title"/>
          </p:nvPr>
        </p:nvSpPr>
        <p:spPr>
          <a:xfrm>
            <a:off x="457200" y="775063"/>
            <a:ext cx="4898571" cy="2037805"/>
          </a:xfrm>
          <a:prstGeom prst="rect">
            <a:avLst/>
          </a:prstGeom>
        </p:spPr>
        <p:txBody>
          <a:bodyPr anchor="ctr" anchorCtr="0"/>
          <a:lstStyle>
            <a:lvl1pPr algn="l" defTabSz="914400" rtl="0" eaLnBrk="1" latinLnBrk="1" hangingPunct="1">
              <a:spcBef>
                <a:spcPct val="0"/>
              </a:spcBef>
              <a:buNone/>
              <a:defRPr lang="ko-KR" altLang="en-US" sz="2800" b="1" kern="1200" dirty="0">
                <a:solidFill>
                  <a:schemeClr val="accent3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15" name="텍스트 개체 틀 14"/>
          <p:cNvSpPr>
            <a:spLocks noGrp="1"/>
          </p:cNvSpPr>
          <p:nvPr>
            <p:ph type="body" sz="quarter" idx="10" hasCustomPrompt="1"/>
          </p:nvPr>
        </p:nvSpPr>
        <p:spPr>
          <a:xfrm>
            <a:off x="2673350" y="4737100"/>
            <a:ext cx="4494213" cy="879475"/>
          </a:xfrm>
        </p:spPr>
        <p:txBody>
          <a:bodyPr>
            <a:normAutofit/>
          </a:bodyPr>
          <a:lstStyle>
            <a:lvl1pPr algn="ctr">
              <a:buNone/>
              <a:defRPr sz="2400" b="1">
                <a:solidFill>
                  <a:schemeClr val="accent5">
                    <a:lumMod val="50000"/>
                  </a:schemeClr>
                </a:solidFill>
              </a:defRPr>
            </a:lvl1pPr>
          </a:lstStyle>
          <a:p>
            <a:pPr lvl="0"/>
            <a:r>
              <a:rPr lang="ko-KR" altLang="en-US" smtClean="0"/>
              <a:t>부제목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 anchor="ctr" anchorCtr="0"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1071546"/>
            <a:ext cx="8229600" cy="5054617"/>
          </a:xfrm>
        </p:spPr>
        <p:txBody>
          <a:bodyPr/>
          <a:lstStyle>
            <a:lvl1pPr>
              <a:defRPr sz="2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2pPr>
            <a:lvl3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3pPr>
            <a:lvl4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4pPr>
            <a:lvl5pPr>
              <a:defRPr sz="2000">
                <a:solidFill>
                  <a:schemeClr val="tx1">
                    <a:lumMod val="75000"/>
                    <a:lumOff val="25000"/>
                  </a:schemeClr>
                </a:solidFill>
              </a:defRPr>
            </a:lvl5pPr>
          </a:lstStyle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직사각형 8"/>
          <p:cNvSpPr/>
          <p:nvPr/>
        </p:nvSpPr>
        <p:spPr>
          <a:xfrm>
            <a:off x="-32" y="6500810"/>
            <a:ext cx="8572560" cy="357190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75000"/>
                  <a:shade val="30000"/>
                  <a:satMod val="115000"/>
                </a:schemeClr>
              </a:gs>
              <a:gs pos="50000">
                <a:schemeClr val="bg1">
                  <a:lumMod val="75000"/>
                  <a:shade val="67500"/>
                  <a:satMod val="115000"/>
                </a:schemeClr>
              </a:gs>
              <a:gs pos="100000">
                <a:schemeClr val="bg1">
                  <a:lumMod val="75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000108"/>
            <a:ext cx="8229600" cy="51260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dirty="0" smtClean="0"/>
              <a:t>마스터 텍스트 스타일을 편집합니다</a:t>
            </a:r>
          </a:p>
          <a:p>
            <a:pPr lvl="1"/>
            <a:r>
              <a:rPr lang="ko-KR" altLang="en-US" dirty="0" smtClean="0"/>
              <a:t>둘째 수준</a:t>
            </a:r>
          </a:p>
          <a:p>
            <a:pPr lvl="2"/>
            <a:r>
              <a:rPr lang="ko-KR" altLang="en-US" dirty="0" smtClean="0"/>
              <a:t>셋째 수준</a:t>
            </a:r>
          </a:p>
          <a:p>
            <a:pPr lvl="3"/>
            <a:r>
              <a:rPr lang="ko-KR" altLang="en-US" dirty="0" smtClean="0"/>
              <a:t>넷째 수준</a:t>
            </a:r>
          </a:p>
          <a:p>
            <a:pPr lvl="4"/>
            <a:r>
              <a:rPr lang="ko-KR" altLang="en-US" dirty="0" smtClean="0"/>
              <a:t>다섯째 수준</a:t>
            </a:r>
            <a:endParaRPr lang="ko-KR" altLang="en-US" dirty="0"/>
          </a:p>
        </p:txBody>
      </p:sp>
      <p:sp>
        <p:nvSpPr>
          <p:cNvPr id="7" name="직사각형 6"/>
          <p:cNvSpPr/>
          <p:nvPr/>
        </p:nvSpPr>
        <p:spPr>
          <a:xfrm>
            <a:off x="-32" y="-24"/>
            <a:ext cx="9144032" cy="785818"/>
          </a:xfrm>
          <a:prstGeom prst="rect">
            <a:avLst/>
          </a:prstGeom>
          <a:gradFill flip="none" rotWithShape="1">
            <a:gsLst>
              <a:gs pos="0">
                <a:schemeClr val="accent3">
                  <a:lumMod val="50000"/>
                  <a:shade val="30000"/>
                  <a:satMod val="115000"/>
                </a:schemeClr>
              </a:gs>
              <a:gs pos="50000">
                <a:schemeClr val="accent3">
                  <a:lumMod val="50000"/>
                  <a:shade val="67500"/>
                  <a:satMod val="115000"/>
                </a:schemeClr>
              </a:gs>
              <a:gs pos="100000">
                <a:schemeClr val="accent3">
                  <a:lumMod val="50000"/>
                  <a:shade val="100000"/>
                  <a:satMod val="115000"/>
                </a:schemeClr>
              </a:gs>
            </a:gsLst>
            <a:lin ang="189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2" name="직사각형 11"/>
          <p:cNvSpPr/>
          <p:nvPr/>
        </p:nvSpPr>
        <p:spPr>
          <a:xfrm>
            <a:off x="8572496" y="6500834"/>
            <a:ext cx="571504" cy="357166"/>
          </a:xfrm>
          <a:prstGeom prst="rect">
            <a:avLst/>
          </a:prstGeom>
          <a:solidFill>
            <a:schemeClr val="accent6">
              <a:lumMod val="5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0" name="슬라이드 번호 개체 틀 5"/>
          <p:cNvSpPr txBox="1">
            <a:spLocks/>
          </p:cNvSpPr>
          <p:nvPr/>
        </p:nvSpPr>
        <p:spPr>
          <a:xfrm>
            <a:off x="8572528" y="6572272"/>
            <a:ext cx="571504" cy="293687"/>
          </a:xfrm>
          <a:prstGeom prst="rect">
            <a:avLst/>
          </a:prstGeom>
        </p:spPr>
        <p:txBody>
          <a:bodyPr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04373BE6-7C45-4BD7-97F4-BFB0B357CDB9}" type="slidenum">
              <a:rPr kumimoji="0" lang="ko-KR" altLang="en-US" sz="1400" b="0" i="0" u="none" strike="noStrike" kern="1200" cap="none" spc="0" normalizeH="0" baseline="0" noProof="0" smtClean="0">
                <a:ln>
                  <a:noFill/>
                </a:ln>
                <a:solidFill>
                  <a:schemeClr val="bg1">
                    <a:lumMod val="95000"/>
                  </a:schemeClr>
                </a:solidFill>
                <a:effectLst/>
                <a:uLnTx/>
                <a:uFillTx/>
                <a:latin typeface="Times New Roman" pitchFamily="18" charset="0"/>
                <a:ea typeface="+mn-ea"/>
                <a:cs typeface="Times New Roman" pitchFamily="18" charset="0"/>
              </a:rPr>
              <a:pPr marL="0" marR="0" lvl="0" indent="0" algn="ctr" defTabSz="914400" rtl="0" eaLnBrk="1" fontAlgn="auto" latinLnBrk="1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ko-KR" altLang="en-US" sz="1400" b="0" i="0" u="none" strike="noStrike" kern="1200" cap="none" spc="0" normalizeH="0" baseline="0" noProof="0" dirty="0" smtClean="0">
              <a:ln>
                <a:noFill/>
              </a:ln>
              <a:solidFill>
                <a:schemeClr val="bg1">
                  <a:lumMod val="95000"/>
                </a:schemeClr>
              </a:solidFill>
              <a:effectLst/>
              <a:uLnTx/>
              <a:uFillTx/>
              <a:latin typeface="Times New Roman" pitchFamily="18" charset="0"/>
              <a:ea typeface="+mn-ea"/>
              <a:cs typeface="Times New Roman" pitchFamily="18" charset="0"/>
            </a:endParaRPr>
          </a:p>
        </p:txBody>
      </p:sp>
      <p:sp>
        <p:nvSpPr>
          <p:cNvPr id="8" name="제목 1"/>
          <p:cNvSpPr txBox="1">
            <a:spLocks/>
          </p:cNvSpPr>
          <p:nvPr userDrawn="1"/>
        </p:nvSpPr>
        <p:spPr>
          <a:xfrm>
            <a:off x="457200" y="142852"/>
            <a:ext cx="8229600" cy="642942"/>
          </a:xfrm>
          <a:prstGeom prst="rect">
            <a:avLst/>
          </a:prstGeom>
        </p:spPr>
        <p:txBody>
          <a:bodyPr/>
          <a:lstStyle>
            <a:lvl1pPr algn="l">
              <a:defRPr sz="3200">
                <a:solidFill>
                  <a:schemeClr val="accent3">
                    <a:lumMod val="40000"/>
                    <a:lumOff val="60000"/>
                  </a:schemeClr>
                </a:solidFill>
              </a:defRPr>
            </a:lvl1pPr>
          </a:lstStyle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3200" b="0" i="0" u="none" strike="noStrike" kern="1200" cap="none" spc="0" normalizeH="0" baseline="0" noProof="0" dirty="0">
              <a:ln>
                <a:noFill/>
              </a:ln>
              <a:solidFill>
                <a:schemeClr val="accent3">
                  <a:lumMod val="40000"/>
                  <a:lumOff val="60000"/>
                </a:schemeClr>
              </a:solidFill>
              <a:effectLst/>
              <a:uLnTx/>
              <a:uFillTx/>
              <a:latin typeface="+mj-lt"/>
              <a:ea typeface="+mj-ea"/>
              <a:cs typeface="+mj-cs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5" r:id="rId3"/>
  </p:sldLayoutIdLst>
  <p:hf hdr="0" dt="0"/>
  <p:txStyles>
    <p:titleStyle>
      <a:lvl1pPr algn="ctr" defTabSz="914400" rtl="0" eaLnBrk="1" latinLnBrk="1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1" hangingPunct="1">
        <a:spcBef>
          <a:spcPct val="20000"/>
        </a:spcBef>
        <a:buFont typeface="Arial" pitchFamily="34" charset="0"/>
        <a:buChar char="•"/>
        <a:defRPr sz="28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1pPr>
      <a:lvl2pPr marL="742950" indent="-285750" algn="l" defTabSz="914400" rtl="0" eaLnBrk="1" latinLnBrk="1" hangingPunct="1">
        <a:spcBef>
          <a:spcPct val="20000"/>
        </a:spcBef>
        <a:buFont typeface="Arial" pitchFamily="34" charset="0"/>
        <a:buChar char="–"/>
        <a:defRPr sz="24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2pPr>
      <a:lvl3pPr marL="1143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3pPr>
      <a:lvl4pPr marL="1600200" indent="-228600" algn="l" defTabSz="914400" rtl="0" eaLnBrk="1" latinLnBrk="1" hangingPunct="1">
        <a:spcBef>
          <a:spcPct val="20000"/>
        </a:spcBef>
        <a:buFont typeface="Arial" pitchFamily="34" charset="0"/>
        <a:buChar char="–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4pPr>
      <a:lvl5pPr marL="2057400" indent="-228600" algn="l" defTabSz="914400" rtl="0" eaLnBrk="1" latinLnBrk="1" hangingPunct="1">
        <a:spcBef>
          <a:spcPct val="20000"/>
        </a:spcBef>
        <a:buFont typeface="Arial" pitchFamily="34" charset="0"/>
        <a:buChar char="»"/>
        <a:defRPr sz="1800" kern="1200">
          <a:solidFill>
            <a:schemeClr val="tx1">
              <a:lumMod val="75000"/>
              <a:lumOff val="25000"/>
            </a:schemeClr>
          </a:solidFill>
          <a:latin typeface="Times New Roman" pitchFamily="18" charset="0"/>
          <a:ea typeface="+mn-ea"/>
          <a:cs typeface="Times New Roman" pitchFamily="18" charset="0"/>
        </a:defRPr>
      </a:lvl5pPr>
      <a:lvl6pPr marL="25146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://williamstallings.com/Cryptography/index.html" TargetMode="Externa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hyperlink" Target="http://williamstallings.com/Cryptography/Crypto5e-Student/index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ist.gov/" TargetMode="External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iso.org/" TargetMode="External"/><Relationship Id="rId5" Type="http://schemas.openxmlformats.org/officeDocument/2006/relationships/hyperlink" Target="http://www.itu.int/" TargetMode="External"/><Relationship Id="rId4" Type="http://schemas.openxmlformats.org/officeDocument/2006/relationships/hyperlink" Target="http://www.isoc.org/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제목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ko-KR" dirty="0"/>
              <a:t>0</a:t>
            </a:r>
            <a:r>
              <a:rPr lang="ko-KR" altLang="en-US" dirty="0" smtClean="0"/>
              <a:t>장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ko-KR" altLang="en-US" dirty="0" smtClean="0"/>
              <a:t>독자 가이드</a:t>
            </a:r>
            <a:r>
              <a:rPr lang="en-US" altLang="ko-KR" dirty="0" smtClean="0"/>
              <a:t/>
            </a:r>
            <a:br>
              <a:rPr lang="en-US" altLang="ko-KR" dirty="0" smtClean="0"/>
            </a:br>
            <a:r>
              <a:rPr lang="en-US" altLang="ko-KR" dirty="0" smtClean="0"/>
              <a:t>(Reader’s Guide)</a:t>
            </a:r>
            <a:endParaRPr lang="ko-KR" altLang="en-US" dirty="0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10"/>
          </p:nvPr>
        </p:nvSpPr>
        <p:spPr/>
        <p:txBody>
          <a:bodyPr>
            <a:normAutofit/>
          </a:bodyPr>
          <a:lstStyle/>
          <a:p>
            <a:endParaRPr lang="ko-KR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목차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/>
          <a:lstStyle/>
          <a:p>
            <a:pPr marL="914400" lvl="1" indent="-457200">
              <a:buNone/>
            </a:pPr>
            <a:r>
              <a:rPr lang="en-US" altLang="ko-KR" dirty="0" smtClean="0"/>
              <a:t>0.1 </a:t>
            </a:r>
            <a:r>
              <a:rPr lang="ko-KR" altLang="en-US" dirty="0" smtClean="0"/>
              <a:t>이 책의 구성 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en-US" altLang="ko-KR" dirty="0" smtClean="0"/>
              <a:t>0.2 </a:t>
            </a:r>
            <a:r>
              <a:rPr lang="ko-KR" altLang="en-US" dirty="0" smtClean="0"/>
              <a:t>관련 </a:t>
            </a:r>
            <a:r>
              <a:rPr lang="ko-KR" altLang="en-US" dirty="0" smtClean="0"/>
              <a:t>자료</a:t>
            </a:r>
            <a:endParaRPr lang="en-US" altLang="ko-KR" dirty="0" smtClean="0"/>
          </a:p>
          <a:p>
            <a:pPr marL="914400" lvl="1" indent="-457200">
              <a:buNone/>
            </a:pPr>
            <a:r>
              <a:rPr lang="en-US" altLang="ko-KR" dirty="0" smtClean="0"/>
              <a:t>0.3 </a:t>
            </a:r>
            <a:r>
              <a:rPr lang="ko-KR" altLang="en-US" dirty="0" smtClean="0"/>
              <a:t>표준 </a:t>
            </a:r>
            <a:endParaRPr lang="en-US" altLang="ko-KR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이 책의 구성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70703" y="935622"/>
            <a:ext cx="8229600" cy="5054617"/>
          </a:xfrm>
        </p:spPr>
        <p:txBody>
          <a:bodyPr/>
          <a:lstStyle/>
          <a:p>
            <a:r>
              <a:rPr lang="ko-KR" altLang="en-US" dirty="0" smtClean="0"/>
              <a:t>구성 </a:t>
            </a:r>
            <a:endParaRPr lang="en-US" altLang="ko-KR" dirty="0" smtClean="0"/>
          </a:p>
        </p:txBody>
      </p:sp>
      <p:sp>
        <p:nvSpPr>
          <p:cNvPr id="1026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1028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2" name="모서리가 둥근 직사각형 31"/>
          <p:cNvSpPr/>
          <p:nvPr/>
        </p:nvSpPr>
        <p:spPr>
          <a:xfrm>
            <a:off x="751031" y="1584580"/>
            <a:ext cx="7434832" cy="4300143"/>
          </a:xfrm>
          <a:prstGeom prst="roundRect">
            <a:avLst>
              <a:gd name="adj" fmla="val 11754"/>
            </a:avLst>
          </a:prstGeom>
          <a:solidFill>
            <a:schemeClr val="bg1">
              <a:lumMod val="85000"/>
            </a:schemeClr>
          </a:solidFill>
          <a:ln>
            <a:solidFill>
              <a:schemeClr val="bg1">
                <a:lumMod val="85000"/>
              </a:schemeClr>
            </a:solidFill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14" name="모서리가 둥근 직사각형 13"/>
          <p:cNvSpPr/>
          <p:nvPr/>
        </p:nvSpPr>
        <p:spPr>
          <a:xfrm>
            <a:off x="3187255" y="1745815"/>
            <a:ext cx="2544599" cy="450634"/>
          </a:xfrm>
          <a:prstGeom prst="roundRect">
            <a:avLst>
              <a:gd name="adj" fmla="val 34304"/>
            </a:avLst>
          </a:prstGeom>
        </p:spPr>
        <p:style>
          <a:lnRef idx="0">
            <a:schemeClr val="accent6"/>
          </a:lnRef>
          <a:fillRef idx="3">
            <a:schemeClr val="accent6"/>
          </a:fillRef>
          <a:effectRef idx="3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b="1" dirty="0" smtClean="0">
                <a:solidFill>
                  <a:schemeClr val="tx1"/>
                </a:solidFill>
              </a:rPr>
              <a:t>컴퓨터보안 및 암호</a:t>
            </a:r>
            <a:endParaRPr lang="ko-KR" altLang="en-US" sz="1400" b="1" dirty="0">
              <a:solidFill>
                <a:schemeClr val="tx1"/>
              </a:solidFill>
            </a:endParaRPr>
          </a:p>
        </p:txBody>
      </p:sp>
      <p:sp>
        <p:nvSpPr>
          <p:cNvPr id="16" name="모서리가 둥근 직사각형 15"/>
          <p:cNvSpPr/>
          <p:nvPr/>
        </p:nvSpPr>
        <p:spPr>
          <a:xfrm>
            <a:off x="1035186" y="2626862"/>
            <a:ext cx="1428339" cy="80213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400" b="1" dirty="0" smtClean="0">
                <a:solidFill>
                  <a:schemeClr val="bg1"/>
                </a:solidFill>
              </a:rPr>
              <a:t>1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부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: </a:t>
            </a:r>
            <a:r>
              <a:rPr lang="ko-KR" altLang="en-US" sz="1400" b="1" dirty="0" err="1" smtClean="0">
                <a:solidFill>
                  <a:schemeClr val="bg1"/>
                </a:solidFill>
              </a:rPr>
              <a:t>대칭키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 암호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23" name="TextBox 22"/>
          <p:cNvSpPr txBox="1"/>
          <p:nvPr/>
        </p:nvSpPr>
        <p:spPr>
          <a:xfrm>
            <a:off x="1062203" y="3421308"/>
            <a:ext cx="1402948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ko-KR" altLang="en-US" sz="1200" b="1" dirty="0" smtClean="0"/>
              <a:t>고전</a:t>
            </a:r>
            <a:r>
              <a:rPr lang="en-US" altLang="ko-KR" sz="1200" b="1" dirty="0" smtClean="0"/>
              <a:t>/</a:t>
            </a:r>
            <a:r>
              <a:rPr lang="ko-KR" altLang="en-US" sz="1200" b="1" dirty="0" smtClean="0"/>
              <a:t>현대 암호</a:t>
            </a:r>
            <a:endParaRPr lang="en-US" altLang="ko-KR" sz="1200" b="1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en-US" altLang="ko-KR" sz="1200" b="1" dirty="0" smtClean="0"/>
              <a:t>DES, AES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altLang="ko-KR" sz="1200" b="1" dirty="0" smtClean="0"/>
              <a:t>RC4, PRNG </a:t>
            </a:r>
            <a:endParaRPr lang="ko-KR" altLang="en-US" sz="1200" b="1" dirty="0"/>
          </a:p>
        </p:txBody>
      </p:sp>
      <p:cxnSp>
        <p:nvCxnSpPr>
          <p:cNvPr id="7" name="직선 연결선 6"/>
          <p:cNvCxnSpPr/>
          <p:nvPr/>
        </p:nvCxnSpPr>
        <p:spPr>
          <a:xfrm>
            <a:off x="1749355" y="2409825"/>
            <a:ext cx="5430293" cy="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직선 연결선 8"/>
          <p:cNvCxnSpPr/>
          <p:nvPr/>
        </p:nvCxnSpPr>
        <p:spPr>
          <a:xfrm>
            <a:off x="4459555" y="2196449"/>
            <a:ext cx="0" cy="2514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직선 연결선 37"/>
          <p:cNvCxnSpPr/>
          <p:nvPr/>
        </p:nvCxnSpPr>
        <p:spPr>
          <a:xfrm>
            <a:off x="1763677" y="2409825"/>
            <a:ext cx="0" cy="2514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직선 연결선 38"/>
          <p:cNvCxnSpPr>
            <a:endCxn id="41" idx="0"/>
          </p:cNvCxnSpPr>
          <p:nvPr/>
        </p:nvCxnSpPr>
        <p:spPr>
          <a:xfrm>
            <a:off x="2716177" y="2409825"/>
            <a:ext cx="0" cy="18750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모서리가 둥근 직사각형 40"/>
          <p:cNvSpPr/>
          <p:nvPr/>
        </p:nvSpPr>
        <p:spPr>
          <a:xfrm>
            <a:off x="2002007" y="4284845"/>
            <a:ext cx="1428339" cy="8295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400" b="1" dirty="0">
                <a:solidFill>
                  <a:schemeClr val="bg1"/>
                </a:solidFill>
              </a:rPr>
              <a:t>2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부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: </a:t>
            </a:r>
            <a:r>
              <a:rPr lang="ko-KR" altLang="en-US" sz="1400" b="1" dirty="0" err="1" smtClean="0">
                <a:solidFill>
                  <a:schemeClr val="bg1"/>
                </a:solidFill>
              </a:rPr>
              <a:t>비대칭키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 암호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42" name="모서리가 둥근 직사각형 41"/>
          <p:cNvSpPr/>
          <p:nvPr/>
        </p:nvSpPr>
        <p:spPr>
          <a:xfrm>
            <a:off x="2845284" y="2626862"/>
            <a:ext cx="1428339" cy="80213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400" b="1" dirty="0">
                <a:solidFill>
                  <a:schemeClr val="bg1"/>
                </a:solidFill>
              </a:rPr>
              <a:t>3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부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: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암호학적 데이터 </a:t>
            </a:r>
            <a:r>
              <a:rPr lang="ko-KR" altLang="en-US" sz="1400" b="1" dirty="0" err="1" smtClean="0">
                <a:solidFill>
                  <a:schemeClr val="bg1"/>
                </a:solidFill>
              </a:rPr>
              <a:t>무결성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 알고리즘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43" name="모서리가 둥근 직사각형 42"/>
          <p:cNvSpPr/>
          <p:nvPr/>
        </p:nvSpPr>
        <p:spPr>
          <a:xfrm>
            <a:off x="4655382" y="2626862"/>
            <a:ext cx="1428339" cy="80213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400" b="1" dirty="0" smtClean="0">
                <a:solidFill>
                  <a:schemeClr val="bg1"/>
                </a:solidFill>
              </a:rPr>
              <a:t>5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부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: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네트워크 보안 및 인터넷 보안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44" name="모서리가 둥근 직사각형 43"/>
          <p:cNvSpPr/>
          <p:nvPr/>
        </p:nvSpPr>
        <p:spPr>
          <a:xfrm>
            <a:off x="6465479" y="2626862"/>
            <a:ext cx="1428339" cy="802138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400" b="1" dirty="0">
                <a:solidFill>
                  <a:schemeClr val="bg1"/>
                </a:solidFill>
              </a:rPr>
              <a:t>7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부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: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법 및 윤리적인 이슈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45" name="모서리가 둥근 직사각형 44"/>
          <p:cNvSpPr/>
          <p:nvPr/>
        </p:nvSpPr>
        <p:spPr>
          <a:xfrm>
            <a:off x="3746304" y="4256770"/>
            <a:ext cx="1428339" cy="8295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400" b="1" dirty="0" smtClean="0">
                <a:solidFill>
                  <a:schemeClr val="bg1"/>
                </a:solidFill>
              </a:rPr>
              <a:t>4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부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: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상호 신뢰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sp>
        <p:nvSpPr>
          <p:cNvPr id="46" name="모서리가 둥근 직사각형 45"/>
          <p:cNvSpPr/>
          <p:nvPr/>
        </p:nvSpPr>
        <p:spPr>
          <a:xfrm>
            <a:off x="5583407" y="4256770"/>
            <a:ext cx="1428339" cy="829580"/>
          </a:xfrm>
          <a:prstGeom prst="roundRect">
            <a:avLst/>
          </a:prstGeom>
        </p:spPr>
        <p:style>
          <a:lnRef idx="0">
            <a:schemeClr val="accent1"/>
          </a:lnRef>
          <a:fillRef idx="3">
            <a:schemeClr val="accent1"/>
          </a:fillRef>
          <a:effectRef idx="3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latinLnBrk="0"/>
            <a:r>
              <a:rPr lang="en-US" altLang="ko-KR" sz="1400" b="1" dirty="0" smtClean="0">
                <a:solidFill>
                  <a:schemeClr val="bg1"/>
                </a:solidFill>
              </a:rPr>
              <a:t>6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부</a:t>
            </a:r>
            <a:r>
              <a:rPr lang="en-US" altLang="ko-KR" sz="1400" b="1" dirty="0" smtClean="0">
                <a:solidFill>
                  <a:schemeClr val="bg1"/>
                </a:solidFill>
              </a:rPr>
              <a:t>: </a:t>
            </a:r>
            <a:r>
              <a:rPr lang="ko-KR" altLang="en-US" sz="1400" b="1" dirty="0" smtClean="0">
                <a:solidFill>
                  <a:schemeClr val="bg1"/>
                </a:solidFill>
              </a:rPr>
              <a:t>시스템 보안</a:t>
            </a:r>
            <a:endParaRPr lang="ko-KR" altLang="en-US" sz="1400" b="1" dirty="0">
              <a:solidFill>
                <a:schemeClr val="bg1"/>
              </a:solidFill>
            </a:endParaRPr>
          </a:p>
        </p:txBody>
      </p:sp>
      <p:cxnSp>
        <p:nvCxnSpPr>
          <p:cNvPr id="48" name="직선 연결선 47"/>
          <p:cNvCxnSpPr/>
          <p:nvPr/>
        </p:nvCxnSpPr>
        <p:spPr>
          <a:xfrm>
            <a:off x="4460474" y="2396204"/>
            <a:ext cx="0" cy="18750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직선 연결선 48"/>
          <p:cNvCxnSpPr/>
          <p:nvPr/>
        </p:nvCxnSpPr>
        <p:spPr>
          <a:xfrm>
            <a:off x="6297577" y="2409825"/>
            <a:ext cx="0" cy="1875020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직선 연결선 49"/>
          <p:cNvCxnSpPr/>
          <p:nvPr/>
        </p:nvCxnSpPr>
        <p:spPr>
          <a:xfrm>
            <a:off x="7179648" y="2396204"/>
            <a:ext cx="0" cy="251476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직선 연결선 51"/>
          <p:cNvCxnSpPr/>
          <p:nvPr/>
        </p:nvCxnSpPr>
        <p:spPr>
          <a:xfrm>
            <a:off x="3559453" y="2396204"/>
            <a:ext cx="0" cy="23065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직선 연결선 53"/>
          <p:cNvCxnSpPr/>
          <p:nvPr/>
        </p:nvCxnSpPr>
        <p:spPr>
          <a:xfrm>
            <a:off x="5376179" y="2406613"/>
            <a:ext cx="0" cy="230658"/>
          </a:xfrm>
          <a:prstGeom prst="line">
            <a:avLst/>
          </a:prstGeom>
          <a:ln w="28575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/>
          <p:cNvSpPr txBox="1"/>
          <p:nvPr/>
        </p:nvSpPr>
        <p:spPr>
          <a:xfrm>
            <a:off x="2184333" y="5105042"/>
            <a:ext cx="686342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altLang="ko-KR" sz="1200" b="1" dirty="0" smtClean="0"/>
              <a:t>RSA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en-US" altLang="ko-KR" sz="1200" b="1" dirty="0" smtClean="0"/>
              <a:t>ECC </a:t>
            </a:r>
            <a:endParaRPr lang="ko-KR" altLang="en-US" sz="1200" b="1" dirty="0"/>
          </a:p>
        </p:txBody>
      </p:sp>
      <p:sp>
        <p:nvSpPr>
          <p:cNvPr id="56" name="TextBox 55"/>
          <p:cNvSpPr txBox="1"/>
          <p:nvPr/>
        </p:nvSpPr>
        <p:spPr>
          <a:xfrm>
            <a:off x="2870675" y="3440394"/>
            <a:ext cx="118173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ko-KR" altLang="en-US" sz="1200" b="1" dirty="0" err="1" smtClean="0"/>
              <a:t>해쉬</a:t>
            </a:r>
            <a:r>
              <a:rPr lang="ko-KR" altLang="en-US" sz="1200" b="1" dirty="0" smtClean="0"/>
              <a:t> 함수</a:t>
            </a:r>
            <a:endParaRPr lang="en-US" altLang="ko-KR" sz="1200" b="1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en-US" altLang="ko-KR" sz="1200" b="1" dirty="0" smtClean="0"/>
              <a:t>MAC</a:t>
            </a:r>
          </a:p>
          <a:p>
            <a:pPr marL="171450" indent="-171450">
              <a:buFont typeface="Arial" pitchFamily="34" charset="0"/>
              <a:buChar char="•"/>
            </a:pPr>
            <a:r>
              <a:rPr lang="ko-KR" altLang="en-US" sz="1200" b="1" dirty="0" smtClean="0"/>
              <a:t>디지털 서명</a:t>
            </a:r>
            <a:endParaRPr lang="ko-KR" altLang="en-US" sz="1200" b="1" dirty="0"/>
          </a:p>
        </p:txBody>
      </p:sp>
      <p:sp>
        <p:nvSpPr>
          <p:cNvPr id="57" name="TextBox 56"/>
          <p:cNvSpPr txBox="1"/>
          <p:nvPr/>
        </p:nvSpPr>
        <p:spPr>
          <a:xfrm>
            <a:off x="3773689" y="5086350"/>
            <a:ext cx="1444626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ko-KR" altLang="en-US" sz="1200" b="1" dirty="0" smtClean="0"/>
              <a:t>키 관리 및 분배</a:t>
            </a:r>
            <a:endParaRPr lang="en-US" altLang="ko-KR" sz="1200" b="1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ko-KR" altLang="en-US" sz="1200" b="1" dirty="0" smtClean="0"/>
              <a:t>사용자 인증</a:t>
            </a:r>
            <a:endParaRPr lang="ko-KR" altLang="en-US" sz="1200" b="1" dirty="0"/>
          </a:p>
        </p:txBody>
      </p:sp>
      <p:sp>
        <p:nvSpPr>
          <p:cNvPr id="58" name="TextBox 57"/>
          <p:cNvSpPr txBox="1"/>
          <p:nvPr/>
        </p:nvSpPr>
        <p:spPr>
          <a:xfrm>
            <a:off x="4404624" y="3417462"/>
            <a:ext cx="2005677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ko-KR" altLang="en-US" sz="1200" b="1" dirty="0" smtClean="0"/>
              <a:t>네트워크 보안 프로토콜</a:t>
            </a:r>
            <a:endParaRPr lang="en-US" altLang="ko-KR" sz="1200" b="1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ko-KR" altLang="en-US" sz="1200" b="1" dirty="0" smtClean="0"/>
              <a:t>전송계층 보안</a:t>
            </a:r>
            <a:endParaRPr lang="en-US" altLang="ko-KR" sz="1200" b="1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ko-KR" altLang="en-US" sz="1200" b="1" dirty="0" smtClean="0"/>
              <a:t>무선 네트워크 보안</a:t>
            </a:r>
            <a:endParaRPr lang="en-US" altLang="ko-KR" sz="1200" b="1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ko-KR" altLang="en-US" sz="1200" b="1" dirty="0" smtClean="0"/>
              <a:t>전자메일 보안 등</a:t>
            </a:r>
            <a:endParaRPr lang="ko-KR" altLang="en-US" sz="1200" b="1" dirty="0"/>
          </a:p>
        </p:txBody>
      </p:sp>
      <p:sp>
        <p:nvSpPr>
          <p:cNvPr id="59" name="TextBox 58"/>
          <p:cNvSpPr txBox="1"/>
          <p:nvPr/>
        </p:nvSpPr>
        <p:spPr>
          <a:xfrm>
            <a:off x="5627074" y="5090124"/>
            <a:ext cx="1566454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en-US" altLang="ko-KR" sz="1200" b="1" dirty="0" smtClean="0"/>
              <a:t>IDS, </a:t>
            </a:r>
            <a:r>
              <a:rPr lang="ko-KR" altLang="en-US" sz="1200" b="1" dirty="0" smtClean="0"/>
              <a:t>바이러스</a:t>
            </a:r>
            <a:r>
              <a:rPr lang="en-US" altLang="ko-KR" sz="1200" b="1" dirty="0" smtClean="0"/>
              <a:t>, </a:t>
            </a:r>
            <a:r>
              <a:rPr lang="ko-KR" altLang="en-US" sz="1200" b="1" dirty="0" err="1" smtClean="0"/>
              <a:t>웜</a:t>
            </a:r>
            <a:endParaRPr lang="en-US" altLang="ko-KR" sz="1200" b="1" dirty="0" smtClean="0"/>
          </a:p>
          <a:p>
            <a:pPr marL="171450" indent="-171450">
              <a:buFont typeface="Arial" pitchFamily="34" charset="0"/>
              <a:buChar char="•"/>
            </a:pPr>
            <a:r>
              <a:rPr lang="ko-KR" altLang="en-US" sz="1200" b="1" dirty="0" smtClean="0"/>
              <a:t>방화벽 </a:t>
            </a:r>
            <a:endParaRPr lang="ko-KR" altLang="en-US" sz="1200" b="1" dirty="0"/>
          </a:p>
        </p:txBody>
      </p:sp>
      <p:sp>
        <p:nvSpPr>
          <p:cNvPr id="60" name="TextBox 59"/>
          <p:cNvSpPr txBox="1"/>
          <p:nvPr/>
        </p:nvSpPr>
        <p:spPr>
          <a:xfrm>
            <a:off x="6502865" y="3444168"/>
            <a:ext cx="1390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171450" indent="-171450">
              <a:buFont typeface="Arial" pitchFamily="34" charset="0"/>
              <a:buChar char="•"/>
            </a:pPr>
            <a:r>
              <a:rPr lang="ko-KR" altLang="en-US" sz="1200" b="1" dirty="0" smtClean="0"/>
              <a:t>보안 관련 법 및 관련 이슈</a:t>
            </a:r>
            <a:endParaRPr lang="en-US" altLang="ko-KR" sz="1200" b="1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관련 자료 </a:t>
            </a:r>
            <a:r>
              <a:rPr lang="en-US" altLang="ko-KR" dirty="0" smtClean="0"/>
              <a:t>– </a:t>
            </a:r>
            <a:r>
              <a:rPr lang="ko-KR" altLang="en-US" dirty="0" smtClean="0"/>
              <a:t>인터넷 및 웹 자료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93487"/>
            <a:ext cx="8229600" cy="5361131"/>
          </a:xfrm>
        </p:spPr>
        <p:txBody>
          <a:bodyPr>
            <a:noAutofit/>
          </a:bodyPr>
          <a:lstStyle/>
          <a:p>
            <a:r>
              <a:rPr lang="ko-KR" altLang="en-US" sz="2400" dirty="0" smtClean="0"/>
              <a:t>책 관련 웹 사이트</a:t>
            </a:r>
            <a:endParaRPr lang="en-US" altLang="ko-KR" sz="2400" dirty="0" smtClean="0"/>
          </a:p>
          <a:p>
            <a:pPr lvl="1"/>
            <a:r>
              <a:rPr lang="en-US" altLang="ko-KR" dirty="0">
                <a:hlinkClick r:id="rId3"/>
              </a:rPr>
              <a:t>http://</a:t>
            </a:r>
            <a:r>
              <a:rPr lang="en-US" altLang="ko-KR" dirty="0" smtClean="0">
                <a:hlinkClick r:id="rId3"/>
              </a:rPr>
              <a:t>williamstallings.com/Cryptography/index.html</a:t>
            </a:r>
            <a:endParaRPr lang="en-US" altLang="ko-KR" dirty="0" smtClean="0"/>
          </a:p>
          <a:p>
            <a:pPr lvl="2"/>
            <a:r>
              <a:rPr lang="ko-KR" altLang="en-US" dirty="0" smtClean="0"/>
              <a:t>책의 각 </a:t>
            </a:r>
            <a:r>
              <a:rPr lang="en-US" altLang="ko-KR" dirty="0" smtClean="0"/>
              <a:t>chapter</a:t>
            </a:r>
            <a:r>
              <a:rPr lang="ko-KR" altLang="en-US" dirty="0" smtClean="0"/>
              <a:t>별  추가 정보 제공 </a:t>
            </a:r>
            <a:endParaRPr lang="en-US" altLang="ko-KR" dirty="0" smtClean="0"/>
          </a:p>
          <a:p>
            <a:pPr lvl="1"/>
            <a:r>
              <a:rPr lang="en-US" altLang="ko-KR" dirty="0">
                <a:hlinkClick r:id="rId4"/>
              </a:rPr>
              <a:t>http://</a:t>
            </a:r>
            <a:r>
              <a:rPr lang="en-US" altLang="ko-KR" dirty="0" smtClean="0">
                <a:hlinkClick r:id="rId4"/>
              </a:rPr>
              <a:t>williamstallings.com/Cryptography/Crypto5e-Student/index.htm</a:t>
            </a:r>
            <a:r>
              <a:rPr lang="en-US" altLang="ko-KR" u="sng" dirty="0" smtClean="0">
                <a:hlinkClick r:id="rId4"/>
              </a:rPr>
              <a:t>l</a:t>
            </a:r>
          </a:p>
          <a:p>
            <a:pPr lvl="2"/>
            <a:r>
              <a:rPr lang="ko-KR" altLang="en-US" dirty="0" smtClean="0"/>
              <a:t>학생들로 하여금 본 책을 공부하는데 도움이 될만한 참고 자료 제공</a:t>
            </a:r>
            <a:endParaRPr lang="en-US" altLang="ko-KR" dirty="0"/>
          </a:p>
          <a:p>
            <a:r>
              <a:rPr lang="en-US" altLang="ko-KR" dirty="0" smtClean="0"/>
              <a:t> </a:t>
            </a:r>
            <a:r>
              <a:rPr lang="ko-KR" altLang="en-US" dirty="0" smtClean="0"/>
              <a:t>기타 자료</a:t>
            </a:r>
            <a:endParaRPr lang="en-US" altLang="ko-KR" sz="2400" dirty="0"/>
          </a:p>
          <a:p>
            <a:pPr lvl="1"/>
            <a:r>
              <a:rPr lang="ko-KR" altLang="en-US" dirty="0" smtClean="0">
                <a:hlinkClick r:id="rId3"/>
              </a:rPr>
              <a:t>각 </a:t>
            </a:r>
            <a:r>
              <a:rPr lang="en-US" altLang="ko-KR" dirty="0" smtClean="0">
                <a:hlinkClick r:id="rId3"/>
              </a:rPr>
              <a:t>chapter</a:t>
            </a:r>
            <a:r>
              <a:rPr lang="ko-KR" altLang="en-US" dirty="0" smtClean="0">
                <a:hlinkClick r:id="rId3"/>
              </a:rPr>
              <a:t>별로 추천 웹사이트 정보 제공 </a:t>
            </a:r>
            <a:endParaRPr lang="en-US" altLang="ko-KR" dirty="0" smtClean="0">
              <a:hlinkClick r:id="rId3"/>
            </a:endParaRPr>
          </a:p>
          <a:p>
            <a:pPr lvl="1"/>
            <a:r>
              <a:rPr lang="en-US" altLang="ko-KR" dirty="0" smtClean="0">
                <a:hlinkClick r:id="rId3"/>
              </a:rPr>
              <a:t>USENET </a:t>
            </a:r>
            <a:r>
              <a:rPr lang="ko-KR" altLang="en-US" dirty="0" smtClean="0">
                <a:hlinkClick r:id="rId3"/>
              </a:rPr>
              <a:t>뉴스그룹</a:t>
            </a:r>
            <a:r>
              <a:rPr lang="en-US" altLang="ko-KR" dirty="0" smtClean="0"/>
              <a:t>(</a:t>
            </a:r>
            <a:r>
              <a:rPr lang="en-US" altLang="ko-KR" dirty="0" err="1" smtClean="0"/>
              <a:t>sci.crypt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sci.crypt.research</a:t>
            </a:r>
            <a:r>
              <a:rPr lang="en-US" altLang="ko-KR" dirty="0" smtClean="0"/>
              <a:t>, </a:t>
            </a:r>
            <a:r>
              <a:rPr lang="en-US" altLang="ko-KR" dirty="0" err="1" smtClean="0"/>
              <a:t>alt.security</a:t>
            </a:r>
            <a:r>
              <a:rPr lang="en-US" altLang="ko-KR" dirty="0" smtClean="0"/>
              <a:t> </a:t>
            </a:r>
            <a:r>
              <a:rPr lang="ko-KR" altLang="en-US" dirty="0" smtClean="0"/>
              <a:t>등</a:t>
            </a:r>
            <a:r>
              <a:rPr lang="en-US" altLang="ko-KR" dirty="0" smtClean="0"/>
              <a:t>)</a:t>
            </a:r>
          </a:p>
          <a:p>
            <a:pPr lvl="1"/>
            <a:r>
              <a:rPr lang="ko-KR" altLang="en-US" dirty="0" smtClean="0"/>
              <a:t>그 외 다양한 웹 사이트 참고 </a:t>
            </a:r>
            <a:endParaRPr lang="en-US" altLang="ko-KR" dirty="0" smtClean="0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dirty="0" smtClean="0"/>
              <a:t>표준 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457200" y="993487"/>
            <a:ext cx="8229600" cy="5361131"/>
          </a:xfrm>
        </p:spPr>
        <p:txBody>
          <a:bodyPr>
            <a:noAutofit/>
          </a:bodyPr>
          <a:lstStyle/>
          <a:p>
            <a:r>
              <a:rPr lang="ko-KR" altLang="en-US" sz="2400" dirty="0" smtClean="0"/>
              <a:t>보안 기법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암호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네트워크 보안 프로토콜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보안 관리 방법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보안 서비스 구조</a:t>
            </a:r>
            <a:r>
              <a:rPr lang="en-US" altLang="ko-KR" sz="2400" dirty="0" smtClean="0"/>
              <a:t>, </a:t>
            </a:r>
            <a:r>
              <a:rPr lang="ko-KR" altLang="en-US" sz="2400" dirty="0" err="1" smtClean="0"/>
              <a:t>매커니즘</a:t>
            </a:r>
            <a:r>
              <a:rPr lang="en-US" altLang="ko-KR" sz="2400" dirty="0"/>
              <a:t> </a:t>
            </a:r>
            <a:r>
              <a:rPr lang="ko-KR" altLang="en-US" sz="2400" dirty="0" smtClean="0"/>
              <a:t>등은 표준 대상이며</a:t>
            </a:r>
            <a:r>
              <a:rPr lang="en-US" altLang="ko-KR" sz="2400" dirty="0" smtClean="0"/>
              <a:t>, </a:t>
            </a:r>
            <a:r>
              <a:rPr lang="ko-KR" altLang="en-US" sz="2400" dirty="0" smtClean="0"/>
              <a:t>표준화 된 사례가 많음</a:t>
            </a:r>
            <a:endParaRPr lang="en-US" altLang="ko-KR" sz="2400" dirty="0" smtClean="0"/>
          </a:p>
          <a:p>
            <a:r>
              <a:rPr lang="ko-KR" altLang="en-US" sz="2400" dirty="0" smtClean="0"/>
              <a:t>대표적인 표준 기관 </a:t>
            </a:r>
            <a:endParaRPr lang="en-US" altLang="ko-KR" sz="2400" dirty="0" smtClean="0"/>
          </a:p>
          <a:p>
            <a:pPr lvl="1"/>
            <a:r>
              <a:rPr lang="en-US" altLang="ko-KR" dirty="0" smtClean="0"/>
              <a:t>NIST(National Institute of Standards and Technology) </a:t>
            </a:r>
            <a:r>
              <a:rPr lang="en-US" altLang="ko-KR" dirty="0" smtClean="0">
                <a:hlinkClick r:id="rId3"/>
              </a:rPr>
              <a:t>http://www.nist.gov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pPr lvl="1"/>
            <a:r>
              <a:rPr lang="en-US" altLang="ko-KR" dirty="0" smtClean="0"/>
              <a:t>ISOC(Internet Society) : </a:t>
            </a:r>
            <a:r>
              <a:rPr lang="en-US" altLang="ko-KR" dirty="0" smtClean="0">
                <a:hlinkClick r:id="rId4"/>
              </a:rPr>
              <a:t>http://www.isoc.org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pPr lvl="1"/>
            <a:r>
              <a:rPr lang="en-US" altLang="ko-KR" dirty="0" smtClean="0"/>
              <a:t>ITU-T(International Telecommunication Union-Telecommunication Standardization Sector) : </a:t>
            </a:r>
            <a:r>
              <a:rPr lang="en-US" altLang="ko-KR" dirty="0" smtClean="0">
                <a:hlinkClick r:id="rId5"/>
              </a:rPr>
              <a:t>http://www.itu.int</a:t>
            </a:r>
            <a:endParaRPr lang="en-US" altLang="ko-KR" dirty="0"/>
          </a:p>
          <a:p>
            <a:pPr lvl="1"/>
            <a:r>
              <a:rPr lang="en-US" altLang="ko-KR" dirty="0" smtClean="0"/>
              <a:t>ISO(International Organization for Standardization) : </a:t>
            </a:r>
            <a:r>
              <a:rPr lang="en-US" altLang="ko-KR" dirty="0" smtClean="0">
                <a:hlinkClick r:id="rId6"/>
              </a:rPr>
              <a:t>http://www.iso.org</a:t>
            </a:r>
            <a:r>
              <a:rPr lang="en-US" altLang="ko-KR" dirty="0" smtClean="0"/>
              <a:t> </a:t>
            </a:r>
            <a:endParaRPr lang="en-US" altLang="ko-KR" dirty="0"/>
          </a:p>
          <a:p>
            <a:endParaRPr lang="en-US" altLang="ko-KR" sz="2400" dirty="0" smtClean="0"/>
          </a:p>
          <a:p>
            <a:endParaRPr lang="en-US" altLang="ko-KR" sz="2400" dirty="0" smtClean="0"/>
          </a:p>
        </p:txBody>
      </p:sp>
      <p:sp>
        <p:nvSpPr>
          <p:cNvPr id="1945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578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580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24582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2770" name="Rectangle 2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2772" name="Rectangle 4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  <p:sp>
        <p:nvSpPr>
          <p:cNvPr id="32774" name="Rectangle 6"/>
          <p:cNvSpPr>
            <a:spLocks noChangeArrowheads="1"/>
          </p:cNvSpPr>
          <p:nvPr/>
        </p:nvSpPr>
        <p:spPr bwMode="auto">
          <a:xfrm>
            <a:off x="0" y="0"/>
            <a:ext cx="9144000" cy="4572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CSC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noFill/>
        <a:ln>
          <a:solidFill>
            <a:srgbClr val="FF0000"/>
          </a:solidFill>
        </a:ln>
      </a:spPr>
      <a:bodyPr rtlCol="0" anchor="ctr"/>
      <a:lstStyle>
        <a:defPPr algn="ctr">
          <a:defRPr/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</a:objectDefaults>
  <a:extraClrSchemeLst/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AssetEditForm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/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TemplateFile" ma:contentTypeID="0x01010070926BE6910EE541A5C8A9203B4061CC0400C52140320FE295488DD4381964E77F84" ma:contentTypeVersion="30" ma:contentTypeDescription="Create a new document." ma:contentTypeScope="" ma:versionID="2d9820c5088bac4600ebd6353969fdf2"/>
</file>

<file path=customXml/itemProps1.xml><?xml version="1.0" encoding="utf-8"?>
<ds:datastoreItem xmlns:ds="http://schemas.openxmlformats.org/officeDocument/2006/customXml" ds:itemID="{369416FF-ACAD-418F-B5CE-95627A38483C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757EB264-03ED-4FEC-80E3-24FBC2186248}">
  <ds:schemaRefs>
    <ds:schemaRef ds:uri="http://schemas.microsoft.com/office/2006/metadata/properties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37E2D74F-510D-4CF0-A325-EE1D62B28D4F}">
  <ds:schemaRefs>
    <ds:schemaRef ds:uri="http://schemas.microsoft.com/office/2006/metadata/contentType"/>
    <ds:schemaRef ds:uri="http://schemas.microsoft.com/office/2006/metadata/properties/metaAttribute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CSC</Template>
  <TotalTime>1453</TotalTime>
  <Words>238</Words>
  <Application>Microsoft Office PowerPoint</Application>
  <PresentationFormat>화면 슬라이드 쇼(4:3)</PresentationFormat>
  <Paragraphs>54</Paragraphs>
  <Slides>5</Slides>
  <Notes>5</Notes>
  <HiddenSlides>0</HiddenSlides>
  <MMClips>0</MMClips>
  <ScaleCrop>false</ScaleCrop>
  <HeadingPairs>
    <vt:vector size="4" baseType="variant">
      <vt:variant>
        <vt:lpstr>테마</vt:lpstr>
      </vt:variant>
      <vt:variant>
        <vt:i4>1</vt:i4>
      </vt:variant>
      <vt:variant>
        <vt:lpstr>슬라이드 제목</vt:lpstr>
      </vt:variant>
      <vt:variant>
        <vt:i4>5</vt:i4>
      </vt:variant>
    </vt:vector>
  </HeadingPairs>
  <TitlesOfParts>
    <vt:vector size="6" baseType="lpstr">
      <vt:lpstr>CSC</vt:lpstr>
      <vt:lpstr>0장 독자 가이드 (Reader’s Guide)</vt:lpstr>
      <vt:lpstr>목차</vt:lpstr>
      <vt:lpstr>이 책의 구성 </vt:lpstr>
      <vt:lpstr>관련 자료 – 인터넷 및 웹 자료 </vt:lpstr>
      <vt:lpstr>표준 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com</dc:creator>
  <cp:lastModifiedBy>kastropolos</cp:lastModifiedBy>
  <cp:revision>182</cp:revision>
  <dcterms:created xsi:type="dcterms:W3CDTF">2011-03-23T07:23:15Z</dcterms:created>
  <dcterms:modified xsi:type="dcterms:W3CDTF">2011-08-08T07:48:49Z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TC300035039990</vt:lpwstr>
  </property>
</Properties>
</file>